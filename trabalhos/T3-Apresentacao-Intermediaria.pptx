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Somos o Time 04. Nosso projeto é um app para gerenciamento de convites, com confirmação de presença e restrições alimentares. Vamos apresentar o problema e o escopo, a arquitetura implementada, o front-end, o back-end, uma demonstração e o planejamento até 17/11. Cada um responde pelo próprio bloco na arguição.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As personas foram levantadas pelo time na Sprint 1: a anfitriã e o convidado como usuários primários, e o buffet como interessado secundário, que é quem recebe 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São seis grupos com as doze histórias de usuário. No quadro do Azure Boards elas aparecem como H01 a H12: conta do anfitrião é a H01, criação do convite da H02 à H04, compartilhamento H05 e H06, confirmação da H07 à H09, restrições alimentares H10, e o painel H11 e H12.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No Grau A o projeto tinha doze histórias, o Guia da Arquitetura e um protótipo de telas. Na Sprint 4 foi feita a base: o repositório, o pacote de tipos compartilhado entre front e back, a integração contínua e o compose. Na Sprint 5 o front e o back foram integrados nessa base, e o que precisou mudar na arquitetura foi registrado com o motivo. As doze histórias estão implementadas. Passagem: o Tiago apresenta a arquitetura implementada.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Três tiers no compose: front em Next.js, API em NestJS e PostgreSQL. As três camadas lógicas ficam dentro da API: Apresentação, Domínio e Dados. O front segue MVC. O contract é o pacote de tipos compartilhado entre os dois lados. Camada é divisão lógica, tier é processo separado. As três camadas ficam no mesmo container da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Um PR que quebra a regra de camadas fica vermelho na integração contínua. Sobre o compose: no T1 apresentamos o Docker como forma de cada integrante subir o ambiente com um comando. É esse compose que roda na demonstração. Se perguntarem das migrations: elas rodam quando o volume do banco está vazio.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Fala final: a regra do teto de vagas o Gabriel mostra no bloco dele. Dificuldade do bloco: juntar o front e o back, que foram escritos em paralelo, fora da main. A integração foi em duas etapas. Primeiro o front, com um mock que responde às rotas com os tipos do contract. Depois o back. Em cada etapa, o que não cabia na arquitetura foi adequado, registrado com o motivo nos Ajustes da Sprint 5, e só entrou na main com a CI verde. O contract permitiu juntar as duas partes sem reescrever tudo. Ele deveria ter sido feito antes das telas. Passagem: o Guilherme apresenta o front-end, que partiu do protótipo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O protótipo foi meu: [o fluxo, as telas, os três templates e as cores; ajustar ao que for verdade]. Ele foi gerado numa ferramenta de prototipação, e por isso trazia muita coisa que a nossa stack não usa. Na integração, o Tiago adequou o protótipo à arquitetura: o visual ficou, reescrito em CSS puro, e o que era regra de negócio saiu da tela e foi para 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A tela ainda limita os campos, para ajudar quem preenche, mas a validação que vale é a da API. Dificuldade do bloco: o protótipo nasceu antes de a arquitetura estar no código, e algumas regras de negócio ficaram na tela. O que eu aprendi vendo a adequação: prototipar com ferramenta é rápido para validar o visual, mas o protótipo precisa ser lido contra o Guia antes de virar código. Se eu fizesse de novo, desenharia as telas em cima do contract desde o começo. Passagem: quem recebe essas chamadas é a API. A primeira versão das rotas e das regras dela foi escrita pelo Gabriel.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As regras que vou mostrar são as que estão hoje no código. A primeira versão das rotas e dessas regras foi minha, inclusive a transação com a trava na linha do convite. Na integração, algumas regras mudaram de camada, e eu conto isso no fim do bloco. Quando não cabe, a camada de Dados devolve a recusa ao Domínio, que dá nome ao erro, e a Apresentação responde. Fecho do slide: o Domínio calcula quantas vagas a resposta pede, e a camada de Dados confere o teto dentro da transação.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Os testes de hoje foram reescritos na integração, porque os meus testavam assinaturas antigas. O que vale citar: quatro respostas simultâneas, cada uma pedindo duas vagas, num convite com teto de cinco. Passam exatamente duas. Dificuldade do bloco: uma regra de negócio na camada errada. Na minha primeira versão, a regra de que só a confirmação ocupa vaga estava na consulta da camada de Dados, junto com a conferência do teto. Funcionava, mas a camada de Dados passava a saber o que é uma vaga, e o Guia diz que isso é do Domínio. Na integração, o Tiago subiu o cálculo das vagas que a resposta pede para o Domínio, e a camada de Dados ficou com a soma do que já está gravado e a conferência do teto. Passagem: agora 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fica na tela enquanto o Guilherme assume o compartilhamento. Abrir dizendo: a conta já está criada para poupar tempo; a tela de entrada está no apêndice. O Guilherme opera a tela em todos os passos, e o Gabriel narra os passos do convidado. Depois da demonstração, na mesma tela: o quadro do Azure Boards (Guilherme), o GitHub (Tiago) e a organização do trabalho (Andreas).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Planejamos em sprints de duas semanas e acompanhamos no quadro Kanban do Azure Boards, com cada história quebrada em tarefas de tela e de API. Conversamos pelo WhatsApp e discutimos o projeto no tempo de aula. O que decidimos fica registrado no repositório, no Guia, nos ADRs e nos Ajustes da Sprint 5. Integramos por PR, e a CI verde é a nossa definição de pronto.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Cada dificuldade foi contada por quem a viveu: a integração pelo Tiago, o protótipo pelo Guilherme e a regra de vagas pelo Gabriel. Este slide só as reúne, com as lições que o time tirou delas. Se perguntarem detalhes, passar para o dono de cada uma.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Dizer quais itens assumiu. Preencher Quem e Até antes do ensaio e criar os itens no quadro da Sprint 6, de 03/11 a 16/11.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Andreas, fechamento: as doze histórias estão implementadas, e as mudanças em relação à arquitetura do Grau A estão registradas com o motivo. Até 17/11 vamos revisar a documentação contra o código e preparar o Pitch. Para perguntas: requisitos e planejamento comigo, arquitetura e Docker com o Tiago, telas e quadro com o Guilherme, API e regras com o Gabriel.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7.jp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TRABALHO 3, APRESENTAÇÃO INTERMEDIÁRIA, TIME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App de gerenciamento</a:t>
            </a:r>
          </a:p>
          <a:p>
            <a:pPr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de convites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Convite por link, confirmação de presença e restrições alimentares. Evolução da implementação desde o Grau A.</a:t>
            </a:r>
          </a:p>
        </p:txBody>
      </p:sp>
      <p:pic>
        <p:nvPicPr>
          <p:cNvPr id="8" name="Picture 7" descr="c03-ca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0" y="1143000"/>
            <a:ext cx="2215006" cy="4572000"/>
          </a:xfrm>
          <a:prstGeom prst="rect">
            <a:avLst/>
          </a:prstGeom>
          <a:ln w="9525">
            <a:solidFill>
              <a:srgbClr val="6E59D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Grings, Gabriel Tomasi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Toebe,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2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2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9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9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27/10/2026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problema e os usuários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559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4701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Quem organiza uma festa costuma juntar as confirmações pelo WhatsApp e perde a conta de quantas pessoas vêm, quantos acompanhantes cada uma leva e o que cada uma não pode comer.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493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85972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Anfitriã: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cria o convite, compartilha o link e acompanha as respostas.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Convidado: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abre o link e responde sem criar conta.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71068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Buffet: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recebe a lista de restrições alimentares para planejar o cardápio.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Escopo do MVP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29519"/>
            <a:ext cx="3454400" cy="1775536"/>
          </a:xfrm>
          <a:prstGeom prst="roundRect">
            <a:avLst>
              <a:gd name="adj" fmla="val 429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019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1 HISTÓRIA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619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Conta do anfitrião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29619"/>
            <a:ext cx="2997200" cy="8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3A3A44"/>
                </a:solidFill>
                <a:latin typeface="Roboto"/>
              </a:rPr>
              <a:t>Criar conta e entrar.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800" y="1729519"/>
            <a:ext cx="3454400" cy="1775536"/>
          </a:xfrm>
          <a:prstGeom prst="roundRect">
            <a:avLst>
              <a:gd name="adj" fmla="val 429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7400" y="1920019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3 HISTÓRIAS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7400" y="2148619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Criação do convite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7400" y="2529619"/>
            <a:ext cx="2997200" cy="8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3A3A44"/>
                </a:solidFill>
                <a:latin typeface="Roboto"/>
              </a:rPr>
              <a:t>Criar o convite, escolher template e cores e ver a prévia.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800" y="1729519"/>
            <a:ext cx="3454400" cy="1775536"/>
          </a:xfrm>
          <a:prstGeom prst="roundRect">
            <a:avLst>
              <a:gd name="adj" fmla="val 429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400" y="1920019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2 HISTÓRIAS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0400" y="2148619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Compartilhamento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400" y="2529619"/>
            <a:ext cx="2997200" cy="8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3A3A44"/>
                </a:solidFill>
                <a:latin typeface="Roboto"/>
              </a:rPr>
              <a:t>Gerar o link, publicar e despublicar.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733655"/>
            <a:ext cx="3454400" cy="1775536"/>
          </a:xfrm>
          <a:prstGeom prst="roundRect">
            <a:avLst>
              <a:gd name="adj" fmla="val 429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92415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3 HISTÓRIAS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15275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Confirmação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33755"/>
            <a:ext cx="2997200" cy="8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3A3A44"/>
                </a:solidFill>
                <a:latin typeface="Roboto"/>
              </a:rPr>
              <a:t>Responder sem conta, informar acompanhantes e alterar pelo link pessoal.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68800" y="3733655"/>
            <a:ext cx="3454400" cy="1775536"/>
          </a:xfrm>
          <a:prstGeom prst="roundRect">
            <a:avLst>
              <a:gd name="adj" fmla="val 429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7400" y="392415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1 HISTÓRIA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7400" y="415275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Restrições alimentares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7400" y="4533755"/>
            <a:ext cx="2997200" cy="8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3A3A44"/>
                </a:solidFill>
                <a:latin typeface="Roboto"/>
              </a:rPr>
              <a:t>Informar a restrição. Alergia exige descrição.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51800" y="3733655"/>
            <a:ext cx="3454400" cy="1775536"/>
          </a:xfrm>
          <a:prstGeom prst="roundRect">
            <a:avLst>
              <a:gd name="adj" fmla="val 429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80400" y="392415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2 HISTÓRIAS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400" y="415275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Painel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0400" y="4533755"/>
            <a:ext cx="2997200" cy="8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3A3A44"/>
                </a:solidFill>
                <a:latin typeface="Roboto"/>
              </a:rPr>
              <a:t>Lista de presença e consolidação das restrições, com exportação em CSV.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As doze histórias estão implementadas, integradas e rodando pelo docker compose.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projeto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11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18/08 a 31/08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Requisitos e casos de uso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47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92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63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01/09 a 14/09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Arquitetura e decisões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81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26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7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15/09 a 28/09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Documento de arquitetura e protótipo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215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1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06/10 a 19/10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Base do projeto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249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94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65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20/10 a 02/11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Integração do front e do 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28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02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9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03/11 a 16/11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Consolidação e Pitch Final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Sprints 1 a 3, Grau A: documentação e protótipo. Sprints 4 a 6, Grau B: implementação.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Tiers e camadas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828925"/>
            <a:ext cx="1257300" cy="952500"/>
          </a:xfrm>
          <a:prstGeom prst="roundRect">
            <a:avLst>
              <a:gd name="adj" fmla="val 5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9425"/>
            <a:ext cx="12573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80" b="1" i="0">
                <a:solidFill>
                  <a:srgbClr val="FFFFFF"/>
                </a:solidFill>
                <a:latin typeface="Roboto"/>
              </a:rPr>
              <a:t>Navegador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" y="3286125"/>
            <a:ext cx="1143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FFFFFF"/>
                </a:solidFill>
                <a:latin typeface="Roboto"/>
              </a:rPr>
              <a:t>anfitrião e</a:t>
            </a:r>
          </a:p>
          <a:p>
            <a:pPr>
              <a:lnSpc>
                <a:spcPct val="120000"/>
              </a:lnSpc>
            </a:pPr>
            <a:r>
              <a:rPr sz="1050" b="0" i="0">
                <a:solidFill>
                  <a:srgbClr val="FFFFFF"/>
                </a:solidFill>
                <a:latin typeface="Roboto"/>
              </a:rPr>
              <a:t>convidado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57500" y="1952625"/>
            <a:ext cx="2228850" cy="2762250"/>
          </a:xfrm>
          <a:prstGeom prst="roundRect">
            <a:avLst>
              <a:gd name="adj" fmla="val 25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09900" y="2066925"/>
            <a:ext cx="192405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Front em Next.js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2314575"/>
            <a:ext cx="19240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container front, porta 3000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28950" y="2638425"/>
            <a:ext cx="1885950" cy="457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8950" y="2752725"/>
            <a:ext cx="18859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049A"/>
                </a:solidFill>
                <a:latin typeface="Roboto"/>
              </a:rPr>
              <a:t>Rotas de tela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28950" y="3228975"/>
            <a:ext cx="1885950" cy="457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8950" y="3343275"/>
            <a:ext cx="18859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049A"/>
                </a:solidFill>
                <a:latin typeface="Roboto"/>
              </a:rPr>
              <a:t>View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28950" y="3819525"/>
            <a:ext cx="1885950" cy="457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28950" y="3933825"/>
            <a:ext cx="18859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049A"/>
                </a:solidFill>
                <a:latin typeface="Roboto"/>
              </a:rPr>
              <a:t>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4486275"/>
            <a:ext cx="2228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 spc="120">
                <a:solidFill>
                  <a:srgbClr val="21049A"/>
                </a:solidFill>
                <a:latin typeface="Roboto"/>
              </a:rPr>
              <a:t>MVC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1952625"/>
            <a:ext cx="2381250" cy="2762250"/>
          </a:xfrm>
          <a:prstGeom prst="roundRect">
            <a:avLst>
              <a:gd name="adj" fmla="val 2400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2700" y="2066925"/>
            <a:ext cx="207645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API em NestJS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2314575"/>
            <a:ext cx="2076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container api, porta 3001 no host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81750" y="2638425"/>
            <a:ext cx="2038350" cy="457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2752725"/>
            <a:ext cx="20383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Apresentação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81750" y="3228975"/>
            <a:ext cx="2038350" cy="457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1750" y="3343275"/>
            <a:ext cx="20383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Domínio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400925" y="3095625"/>
            <a:ext cx="0" cy="133350"/>
          </a:xfrm>
          <a:prstGeom prst="line">
            <a:avLst/>
          </a:prstGeom>
          <a:ln w="19050">
            <a:solidFill>
              <a:srgbClr val="E94D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381750" y="3819525"/>
            <a:ext cx="2038350" cy="457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1750" y="3933825"/>
            <a:ext cx="20383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Dados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00925" y="3686175"/>
            <a:ext cx="0" cy="133350"/>
          </a:xfrm>
          <a:prstGeom prst="line">
            <a:avLst/>
          </a:prstGeom>
          <a:ln w="19050">
            <a:solidFill>
              <a:srgbClr val="E94D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210300" y="4486275"/>
            <a:ext cx="2381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 spc="120">
                <a:solidFill>
                  <a:srgbClr val="E94D1C"/>
                </a:solidFill>
                <a:latin typeface="Roboto"/>
              </a:rPr>
              <a:t>TRÊS CAMADAS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15500" y="2733675"/>
            <a:ext cx="1790700" cy="1181100"/>
          </a:xfrm>
          <a:prstGeom prst="roundRect">
            <a:avLst>
              <a:gd name="adj" fmla="val 4838"/>
            </a:avLst>
          </a:prstGeom>
          <a:solidFill>
            <a:srgbClr val="F2F2F5"/>
          </a:solidFill>
          <a:ln w="12700">
            <a:solidFill>
              <a:srgbClr val="6B6B7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15500" y="2905125"/>
            <a:ext cx="17907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PostgreSQL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91700" y="3190875"/>
            <a:ext cx="16383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container db,</a:t>
            </a:r>
          </a:p>
          <a:p>
            <a:pPr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sem porta publicada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81200" y="3305175"/>
            <a:ext cx="838200" cy="0"/>
          </a:xfrm>
          <a:prstGeom prst="line">
            <a:avLst/>
          </a:prstGeom>
          <a:ln w="25400">
            <a:solidFill>
              <a:srgbClr val="21049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943100" y="2867025"/>
            <a:ext cx="9144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21049A"/>
                </a:solidFill>
                <a:latin typeface="Roboto"/>
              </a:rPr>
              <a:t>página do</a:t>
            </a:r>
          </a:p>
          <a:p>
            <a:pPr>
              <a:lnSpc>
                <a:spcPct val="120000"/>
              </a:lnSpc>
            </a:pPr>
            <a:r>
              <a:rPr sz="1050" b="0" i="0">
                <a:solidFill>
                  <a:srgbClr val="21049A"/>
                </a:solidFill>
                <a:latin typeface="Roboto"/>
              </a:rPr>
              <a:t>convite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124450" y="3305175"/>
            <a:ext cx="1047750" cy="0"/>
          </a:xfrm>
          <a:prstGeom prst="line">
            <a:avLst/>
          </a:prstGeom>
          <a:ln w="25400">
            <a:solidFill>
              <a:srgbClr val="21049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086350" y="2867025"/>
            <a:ext cx="11239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21049A"/>
                </a:solidFill>
                <a:latin typeface="Roboto"/>
              </a:rPr>
              <a:t>leitura no</a:t>
            </a:r>
          </a:p>
          <a:p>
            <a:pPr>
              <a:lnSpc>
                <a:spcPct val="120000"/>
              </a:lnSpc>
            </a:pPr>
            <a:r>
              <a:rPr sz="1050" b="0" i="0">
                <a:solidFill>
                  <a:srgbClr val="21049A"/>
                </a:solidFill>
                <a:latin typeface="Roboto"/>
              </a:rPr>
              <a:t>servidor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629650" y="3305175"/>
            <a:ext cx="1047750" cy="0"/>
          </a:xfrm>
          <a:prstGeom prst="line">
            <a:avLst/>
          </a:prstGeom>
          <a:ln w="2540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591550" y="2867025"/>
            <a:ext cx="11239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SQL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314450" y="3781425"/>
            <a:ext cx="0" cy="1200150"/>
          </a:xfrm>
          <a:prstGeom prst="line">
            <a:avLst/>
          </a:prstGeom>
          <a:ln w="254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314450" y="4981575"/>
            <a:ext cx="6086475" cy="0"/>
          </a:xfrm>
          <a:prstGeom prst="line">
            <a:avLst/>
          </a:prstGeom>
          <a:ln w="254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400925" y="4714875"/>
            <a:ext cx="0" cy="266700"/>
          </a:xfrm>
          <a:prstGeom prst="line">
            <a:avLst/>
          </a:prstGeom>
          <a:ln w="25400">
            <a:solidFill>
              <a:srgbClr val="E94D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428750" y="5038725"/>
            <a:ext cx="495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94D1C"/>
                </a:solidFill>
                <a:latin typeface="Roboto"/>
              </a:rPr>
              <a:t>painel do anfitrião e envio das respostas, direto na API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57500" y="5381625"/>
            <a:ext cx="573405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09900" y="5495925"/>
            <a:ext cx="54292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1" i="0">
                <a:solidFill>
                  <a:srgbClr val="3A3A44"/>
                </a:solidFill>
                <a:latin typeface="Roboto"/>
              </a:rPr>
              <a:t>Pacote de tipos compartilhado (contract):</a:t>
            </a:r>
            <a:r>
              <a:rPr sz="1050" b="0" i="0">
                <a:solidFill>
                  <a:srgbClr val="3A3A44"/>
                </a:solidFill>
                <a:latin typeface="Roboto"/>
              </a:rPr>
              <a:t> pedidos e respostas usados pelo front e pela API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Base do projeto: lint, integração contínua e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LINT E INTEGRAÇÃO CONTÍNUA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lint recusa import que quebra a regra de camadas: o Domínio não importa da Apresentação, e os Dados não importam de nenhuma camada de cima.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894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Em todo PR, a integração contínua roda lint, formatação, tipos, testes contra um PostgreSQL e build.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7482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6442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mesma integração constrói as imagens da API, do front e do mock.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DOCKER COMPOSE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Três serviços: banco, API e front. O banco não publica porta.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17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front publica a 3000 e a API a 3001, porque o navegador chama a API direto no painel e no envio da resposta.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API só sobe depois que o banco responde ao healthcheck.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52789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51749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segundo arquivo troca a API por um mock, para trabalhar nas telas sem banco.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Regras da arquitetura no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83108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REGRA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0" y="2483108"/>
            <a:ext cx="6172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ONDE FICA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711708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864108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Quem não tem acesso não descobre se um convite existe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2864108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 e na Apresentação. Link inválido, convite despublicado e convite de outro anfitrião dão o mesmo 404, com o mesmo corpo e cabeçalho, conferido por um teste de ponta a ponta.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66121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785043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 em cookie assinado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3785043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Na Apresentação. O front não guarda token.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14649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270322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Link do convite gerado no Domínio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0" y="4270322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Domínio, com gerador seguro, na primeira publicação. Nunca no navegador.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63177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regra do teto de vagas está no bloco do back-end.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front-end</a:t>
            </a:r>
          </a:p>
        </p:txBody>
      </p:sp>
      <p:pic>
        <p:nvPicPr>
          <p:cNvPr id="4" name="Picture 3" descr="c02-ed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8497" y="1676400"/>
            <a:ext cx="5302593" cy="3314121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1417997" y="5085771"/>
            <a:ext cx="568359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Editor do convite, com a prévia</a:t>
            </a:r>
          </a:p>
        </p:txBody>
      </p:sp>
      <p:pic>
        <p:nvPicPr>
          <p:cNvPr id="6" name="Picture 5" descr="c03-conv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5890" y="1676400"/>
            <a:ext cx="1531407" cy="3314121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025390" y="5085771"/>
            <a:ext cx="191240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no celular</a:t>
            </a:r>
          </a:p>
        </p:txBody>
      </p:sp>
      <p:pic>
        <p:nvPicPr>
          <p:cNvPr id="8" name="Picture 7" descr="c04-respo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097" y="1676400"/>
            <a:ext cx="1531407" cy="3314121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861597" y="5085771"/>
            <a:ext cx="191240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enviada, com o link pessoal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5620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6300" y="55429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As telas partiram do protótipo e foram adequadas à arquitetura: o visual foi mantido, reescrito em CSS puro, e as regras de negócio saíram da tela.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Mudanças no front para seguir a 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18664"/>
            <a:ext cx="2286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PONTO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43250" y="2418664"/>
            <a:ext cx="3905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NO PROTÓTIPO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0" y="2418664"/>
            <a:ext cx="426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HOJE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647264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99664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Vagas na página pública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250" y="2799664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Mostrava quantas vagas restavam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0" y="2799664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Sem contagem. A lotação aparece só quando a resposta é recusada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723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49617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CSV para o buffet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3250" y="349617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Montado no navegador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0" y="349617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Gerado pela API, com proteção contra fórmula de planilha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06885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192676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3250" y="4192676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Token guardado no navegador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9000" y="4192676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Cookie de sessão. O front não guarda token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55413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677956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Limites do formulário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3250" y="4677956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Conferidos só na tela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9000" y="4677956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tela limita os campos, e a API valida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503941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Caminho de uma resposta na 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19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19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38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Apresentação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62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962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81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Domínio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105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4105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24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14550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0275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formato e o limite de tráfego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1657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382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Aplica as regras da resposta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8764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4489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Calcula as vagas pedidas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5871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1596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Trava o convite e soma as vagas ocupadas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02979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8704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teto e grava, ou devolve a recusa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0086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35811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Dá nome à recusa: convite lotado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7193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2918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Responde com o link pessoal ou com o erro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347357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404507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404507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694464" y="3495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41571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98721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098721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388679" y="4638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735786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92936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92936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082893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140043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140043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85800" y="55620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5429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“Sim” ocupa uma vaga para o convidado e uma para cada acompanhante. “Talvez” e “Não” não ocupam vaga. “Não” zera acompanhantes e observação. Alergia exige descrição.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482642"/>
            <a:ext cx="3454400" cy="2273427"/>
          </a:xfrm>
          <a:prstGeom prst="roundRect">
            <a:avLst>
              <a:gd name="adj" fmla="val 335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673142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DOMÍNIO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01742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Regras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82742"/>
            <a:ext cx="2997200" cy="1320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3A3A44"/>
                </a:solidFill>
                <a:latin typeface="Roboto"/>
              </a:rPr>
              <a:t>Vagas pedidas por resposta, o não vou zerando acompanhantes e observação, descrição da alergia, comparação por dia no fuso do projeto e publicação.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800" y="2482642"/>
            <a:ext cx="3454400" cy="2273427"/>
          </a:xfrm>
          <a:prstGeom prst="roundRect">
            <a:avLst>
              <a:gd name="adj" fmla="val 3351"/>
            </a:avLst>
          </a:prstGeom>
          <a:solidFill>
            <a:srgbClr val="F2F2F5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7400" y="2673142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BANCO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7400" y="2901742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E94D1C"/>
                </a:solidFill>
                <a:latin typeface="Roboto"/>
              </a:rPr>
              <a:t>Contra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7400" y="3282742"/>
            <a:ext cx="2997200" cy="1320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3A3A44"/>
                </a:solidFill>
                <a:latin typeface="Roboto"/>
              </a:rPr>
              <a:t>Gravação dentro do teto e concorrência: quatro respostas simultâneas pedindo duas vagas cada, num teto de cinco. Passam duas.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800" y="2482642"/>
            <a:ext cx="3454400" cy="2273427"/>
          </a:xfrm>
          <a:prstGeom prst="roundRect">
            <a:avLst>
              <a:gd name="adj" fmla="val 335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400" y="2673142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ROTAS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0400" y="2901742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Ponta a ponta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400" y="3282742"/>
            <a:ext cx="2997200" cy="1320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3A3A44"/>
                </a:solidFill>
                <a:latin typeface="Roboto"/>
              </a:rPr>
              <a:t>O fluxo completo pelas rotas, e o mesmo 404 para link inválido, convite despublicado e convite de outro anfitrião.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Os testes rodam na integração contínua em todo PR, com um PostgreSQL de serviço.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Roteiro da 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8998"/>
            <a:ext cx="3619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PASSO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76750" y="2038998"/>
            <a:ext cx="4476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2038998"/>
            <a:ext cx="2362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QUEM FALA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67598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19998"/>
            <a:ext cx="3448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Criar, personalizar e publicar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6750" y="2419998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Template, cores, prévia e o link gerado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419998"/>
            <a:ext cx="219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Guilherme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8145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05277"/>
            <a:ext cx="3448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Responder como convidado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6750" y="2905277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Resposta sem conta, com acompanhante e restrição alimentar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2905277"/>
            <a:ext cx="219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Gabriel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47795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601784"/>
            <a:ext cx="3448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Responder num convite lotado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6750" y="3601784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recusa pelo teto de vagas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601784"/>
            <a:ext cx="219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Gabriel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96323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087063"/>
            <a:ext cx="3448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Alterar pelo link pessoal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6750" y="4087063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troca da resposta para talvez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4087063"/>
            <a:ext cx="219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Gabriel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4851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572343"/>
            <a:ext cx="3448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Painel e 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76750" y="4572343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Lista de presença e restrições exportadas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4572343"/>
            <a:ext cx="219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Guilherme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93379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057623"/>
            <a:ext cx="3448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Despublicar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6750" y="5057623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link do convite deixa de abrir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057623"/>
            <a:ext cx="219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Guilherme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541907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Demonstração, Guilherme e Gabriel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Organização do trabalho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988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89885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Sprints de duas semanas, acompanhadas no quadro Kanban do Azure Boards. Cada história é quebrada em tarefas de tela e de API, com responsável.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28847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Conversas pelo WhatsApp e no tempo de aula. As decisões ficam registradas na documentação do repositório.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767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67809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Integração por PR no GitHub. Um PR só entra na main com a integração contínua aprovada.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Organização, Andreas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Dificuldades encontradas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428585"/>
            <a:ext cx="3454400" cy="21336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61908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INTEGRAÇÃO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4768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Trabalho feito em paralelo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28685"/>
            <a:ext cx="2997200" cy="1181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3A3A44"/>
                </a:solidFill>
                <a:latin typeface="Roboto"/>
              </a:rPr>
              <a:t>O front e o back foram escritos fora da main e precisaram ser adequados ao pacote de tipos e às camadas para entrar.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800" y="2428585"/>
            <a:ext cx="3454400" cy="21336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7400" y="261908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FRONT-END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7400" y="284768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Regras no protótipo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7400" y="3228685"/>
            <a:ext cx="2997200" cy="1181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3A3A44"/>
                </a:solidFill>
                <a:latin typeface="Roboto"/>
              </a:rPr>
              <a:t>O protótipo nasceu antes de a arquitetura estar no código. Contagem de vagas, CSV e token ficavam na tela.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800" y="2428585"/>
            <a:ext cx="3454400" cy="21336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400" y="261908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BACK-END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0400" y="284768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Regra na camada errada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400" y="3228685"/>
            <a:ext cx="2997200" cy="1181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3A3A44"/>
                </a:solidFill>
                <a:latin typeface="Roboto"/>
              </a:rPr>
              <a:t>A regra das vagas estava na consulta da camada de Dados. O cálculo passou para o Domínio.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5620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55429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Lições: definir os tipos compartilhados antes das telas, integrar front e back antes do fim da sprint, e manter as regras de negócio no Domínio desde a primeira versão.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Dificuldades, Andreas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Planejamento até a apresentação final, em 17/11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25796"/>
            <a:ext cx="6667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0" y="2025796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QUEM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0250" y="2025796"/>
            <a:ext cx="18859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ATÉ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54396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06796"/>
            <a:ext cx="6496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Revisar os artefatos das Sprints 1 a 3 contra o código, ligando cada história ao caso de uso, à rota, à tela e ao teste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0" y="2406796"/>
            <a:ext cx="1733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20250" y="2406796"/>
            <a:ext cx="1714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00588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129705"/>
            <a:ext cx="6496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Diagrama de sequência da lista de presença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0" y="3129705"/>
            <a:ext cx="1733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20250" y="3129705"/>
            <a:ext cx="1714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49116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614985"/>
            <a:ext cx="6496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Completar o protótipo de baixa fidelidade da Sprint 3 a partir das telas reais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0" y="3614985"/>
            <a:ext cx="1733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20250" y="3614985"/>
            <a:ext cx="1714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97644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100265"/>
            <a:ext cx="6496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Aval do time às decisões novas da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0" y="4100265"/>
            <a:ext cx="1733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20250" y="4100265"/>
            <a:ext cx="1714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6172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585545"/>
            <a:ext cx="6496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Fechar o Team Charter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0" y="4585545"/>
            <a:ext cx="1733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20250" y="4585545"/>
            <a:ext cx="1714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94699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070824"/>
            <a:ext cx="6496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Deck e ensaio do Pitch Final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0" y="5070824"/>
            <a:ext cx="1733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0250" y="5070824"/>
            <a:ext cx="1714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543227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Planejamento, Andreas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TIME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Roboto"/>
              </a:rPr>
              <a:t>Perguntas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622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Andreas Grings: problema, requisitos e planejamento</a:t>
            </a:r>
          </a:p>
          <a:p>
            <a:pPr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Tiago Passos: arquitetura, Docker e GitHub</a:t>
            </a:r>
          </a:p>
          <a:p>
            <a:pPr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Guilherme Toebe: front-end e Azure Boards</a:t>
            </a:r>
          </a:p>
          <a:p>
            <a:pPr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Gabriel Tomasi: back-end, regras e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Perguntas, Andreas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anfitrião</a:t>
            </a:r>
          </a:p>
        </p:txBody>
      </p:sp>
      <p:pic>
        <p:nvPicPr>
          <p:cNvPr id="4" name="Picture 3" descr="c01-entr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Tela de entrada, com o acesso ao cadastro</a:t>
            </a:r>
          </a:p>
        </p:txBody>
      </p:sp>
      <p:pic>
        <p:nvPicPr>
          <p:cNvPr id="6" name="Picture 5" descr="c08-li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0579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Lista de convites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da aplicação rodando localmente em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convidado</a:t>
            </a:r>
          </a:p>
        </p:txBody>
      </p:sp>
      <p:pic>
        <p:nvPicPr>
          <p:cNvPr id="4" name="Picture 3" descr="c03-conv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6848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156348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</a:t>
            </a:r>
          </a:p>
        </p:txBody>
      </p:sp>
      <p:pic>
        <p:nvPicPr>
          <p:cNvPr id="6" name="Picture 5" descr="c04-respo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24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07124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pic>
        <p:nvPicPr>
          <p:cNvPr id="8" name="Picture 7" descr="c05-lota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840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05790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lotado</a:t>
            </a:r>
          </a:p>
        </p:txBody>
      </p:sp>
      <p:pic>
        <p:nvPicPr>
          <p:cNvPr id="10" name="Picture 9" descr="c06-link-pesso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176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008676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Link pessoal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da aplicação rodando localmente em 26/10/2026.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Painel e convite despublicado</a:t>
            </a:r>
          </a:p>
        </p:txBody>
      </p:sp>
      <p:pic>
        <p:nvPicPr>
          <p:cNvPr id="4" name="Picture 3" descr="c07-pai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964" y="1676400"/>
            <a:ext cx="5699297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080464" y="5333710"/>
            <a:ext cx="608029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Painel de respostas</a:t>
            </a:r>
          </a:p>
        </p:txBody>
      </p:sp>
      <p:pic>
        <p:nvPicPr>
          <p:cNvPr id="6" name="Picture 5" descr="c09-nao-encontr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06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08456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Link do convite depois de despublicar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da aplicação rodando localmente em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Quadro Kanban e integração no GitHub</a:t>
            </a:r>
          </a:p>
        </p:txBody>
      </p:sp>
      <p:pic>
        <p:nvPicPr>
          <p:cNvPr id="4" name="Picture 3" descr="c10-kan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08599"/>
            <a:ext cx="3164333" cy="3297662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201511"/>
            <a:ext cx="354533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Quadro Kanban no Azure Boards</a:t>
            </a:r>
          </a:p>
        </p:txBody>
      </p:sp>
      <p:pic>
        <p:nvPicPr>
          <p:cNvPr id="6" name="Picture 5" descr="c11-c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4933" y="1808599"/>
            <a:ext cx="7351267" cy="3297662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964433" y="5201511"/>
            <a:ext cx="773226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Integração contínua aprovada no PR do back-end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do Azure Boards e do GitHub em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 de gerenciamento de convites, apresentação intermediária</dc:title>
  <dc:creator>Time 04: Andreas Grings, Gabriel Tomasi, Guilherme Toebe, Tiago Passos</dc:creator>
  <cp:lastModifiedBy>Time 04: Andreas Grings, Gabriel Tomasi, Guilherme Toebe, Tiago Passos</cp:lastModifiedBy>
  <cp:revision>15</cp:revision>
  <dcterms:created xsi:type="dcterms:W3CDTF">2012-07-30T23:50:35Z</dcterms:created>
  <dcterms:modified xsi:type="dcterms:W3CDTF">2026-03-06T20:44:32Z</dcterms:modified>
  <dc:subject>Arquitetura de Software, Trabalho 3</dc:subject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