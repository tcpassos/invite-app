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Somos o Time 04. O nosso projeto é um app para gerenciar convites de festa: o anfitrião cria o convite e acompanha quem vai, e o convidado responde pelo link. Vamos mostrar o problema, a arquitetura implementada, o front-end, o back-end, a aplicação funcionando e o que falta até 17/11.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As personas foram levantadas na Sprint 1: a anfitriã e o convidado, que usam o app, e o buffet, que recebe a 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São doze histórias de usuário nesses seis grupos, e as doze estão implementadas. No quadro do Azure Boards elas aparecem como H01 a H12: conta é a H01, criação do convite da H02 à H04, compartilhamento H05 e H06, confirmação da H07 à H09, restrições H10, e o painel H11 e H12.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No Grau A o projeto tinha as doze histórias, o Guia da Arquitetura, os ADRs e o documento de arquitetura. O protótipo de baixa fidelidade ficou incompleto e está no plano da Sprint 6. Na Sprint 4 o Tiago montou a base do código, sobre o repositório e o compose que já existiam: o pacote de tipos compartilhado entre front-end e back-end, o lint de camadas, a integração contínua e os esqueletos da API e do front-end. O plano era fechar o fluxo central nessa sprint, mas ele só fechou na Sprint 5. Na Sprint 5 o Guilherme fez o protótipo das telas, o front-end e o back-end foram integrados nessa base, e o que precisou mudar na arquitetura foi registrado com o motivo nos Ajustes da Sprint 5. Passagem: o Tiago mostra os diagramas da arquitetura.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É o diagrama de camadas do documento de arquitetura do Grau A. Três tiers no compose: front-end em Next.js, API em NestJS e PostgreSQL. As três camadas lógicas ficam dentro da API: Apresentação, Domínio e Dados. O front-end segue MVC. O navegador fala com a API direto no painel e no envio da resposta, e a página do convite é lida pelo servidor do front-end. Camada é divisão lógica, tier é processo separado: as três camadas ficam no mesmo container da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É o diagrama de componentes do Grau A, dividido em duas metades para caber no slide. Os componentes da API existem no código com o mesmo nome: os quatro controllers, a guarda de sessão, o limite de tráfego, o filtro de erro, os cinco services, o catálogo de templates e os três repositórios. O limite de tráfego virou um serviço chamado pelo controller, e não uma guarda do Nest. No front-end, o ApiClient e as duas páginas, com o painel montado pelo layout das telas do anfitrião. O TemplateSet virou arquivos: um CSS com uma classe por template e uma imagem de prévia por template, como o documento de arquitetura registra. O código tem peças que o diagrama não detalha, como a guarda que só aceita JSON e o cookie de sessão.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O diagrama de implantação do Grau A. O docker-compose.yml é a forma executável dele: os três containers, o banco sem porta publicada, o front-end na 3000 e a API na 3001, porque o navegador chama a API direto. A API só sobe depois que o banco responde ao healthcheck, e as migrations rodam com o volume do banco vazio. No T1 apresentamos o Docker como forma de cada integrante subir o ambiente com um comando. Se a demonstração for local, é esse compose que roda nela. Publicar fora da máquina local é uma decisão nova, que revisa o ADR do ambiente de execução.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Um PR que quebra a regra de camadas fica vermelho na integração contínua. Dificuldade do bloco: juntar o front-end e o back-end, que foram escritos em paralelo, fora da main. A integração foi em duas etapas. Primeiro o front-end, com um mock que responde às rotas com os tipos do contract. Depois o back-end. Em cada etapa, o que não cabia na arquitetura foi adequado, registrado com o motivo nos Ajustes da Sprint 5, e só entrou na main com a CI verde. O contract, criado no começo da Sprint 4, permitiu juntar as duas partes sem reescrever tudo. O protótipo do front-end foi feito sem usar ele, e foi isso que exigiu a maior parte da adequação. Passagem: o Gabriel mostra o back-end.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As regras que vou mostrar são as que estão hoje no código. A primeira versão das rotas e dessas regras foi minha. Na integração, algumas mudaram de camada, e eu conto isso no fim do bloco. Três regras: quem não tem acesso não descobre se um convite existe, porque link inválido, convite despublicado e convite de outro anfitrião dão o mesmo 404, porque o Domínio distingue os casos e a Apresentação junta todos na mesma resposta; a sessão do anfitrião é um cookie assinado; e o link do convite nasce no Domínio, na primeira publicação. A regra do teto de vagas está no próximo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O caminho de uma resposta do convidado pelas três camadas. A Apresentação confere, nesta ordem, o limite por endereço de origem, o formato do corpo e se o link existe, e só então o limite por link, para que o erro de excesso de tentativas não revele que o link existe. O Domínio aplica as regras e calcula quantas vagas a resposta pede. A camada de Dados trava o convite, soma as vagas já ocupadas e confere o teto. Se cabe, grava e a Apresentação responde com o link pessoal. Se não cabe, a camada de Dados devolve a recusa ao Domínio, que dá nome ao erro. Fecho do slide: o Domínio calcula quantas vagas a resposta pede, e a camada de Dados confere o teto dentro da transação.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Os testes de hoje foram reescritos na integração, porque os meus testavam assinaturas antigas. O que vale citar: quatro respostas simultâneas, cada uma pedindo duas vagas, num convite com teto de cinco. Duas são gravadas e duas recusadas. Dificuldade do bloco: regra de negócio na camada errada. Na minha primeira versão, a consulta da camada de Dados decidia quanto cada resposta ocupava, e o Guia diz que isso é regra do Domínio. Na integração, o Tiago levou para o Domínio o cálculo das vagas que a resposta nova pede. A camada de Dados continua somando as vagas das respostas já gravadas, dentro da transação, como o documento de arquitetura define, e confere o teto. Outras mudanças do mesmo tipo estão nos Ajustes da Sprint 5: o "Não" zerando acompanhantes também saiu dos Dados, o Domínio deixou de receber os tipos HTTP do pacote de tipos e passou a receber comandos, e a data do evento passou a usar o fuso pelo nome, como manda o ADR do tempo do evento. Passagem: o Guilherme mostra o front-end, que partiu do protótipo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O protótipo foi meu: [o fluxo, as telas, os três templates e as cores; ajustar ao que for verdade]. Ele foi gerado numa ferramenta de prototipação, e por isso trazia muita coisa que a nossa stack não usa. Na integração, o Tiago adequou o protótipo à arquitetura: o visual ficou, reescrito em CSS puro, e o que era regra de negócio saiu da tela e foi para a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O teto saiu do convite porque é dado do anfitrião, e quem só tem o link não precisa saber quantas pessoas cabem. O link e o CSV saíram do navegador porque são regras do servidor no Guia. A tela ainda limita os campos, para ajudar quem preenche, mas a validação que vale é a da API. Dificuldade do bloco: o protótipo foi feito numa ferramenta de prototipação, fora da base do projeto e sem o pacote de tipos, e algumas regras de negócio ficaram na tela. O que eu aprendi vendo a adequação: prototipar com ferramenta é rápido para validar o visual, mas o protótipo precisa ser lido contra o Guia antes de virar código. Se eu fizesse de novo, desenharia as telas em cima do pacote de tipos desde o começo.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Cada dificuldade já foi contada por quem passou por ela: a integração pelo Tiago, a regra de vagas pelo Gabriel e o protótipo por mim. Aqui elas aparecem juntas. Se perguntarem detalhes, passar para quem passou por cada uma. O pacote de tipos existia desde 07/10, mas o protótipo do front-end foi feito sem ele, e por isso precisou de adequação. E front-end e back-end só foram juntados na Sprint 5, quando o plano era fechar o fluxo central já na Sprint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Planejamos em sprints de duas semanas e acompanhamos no quadro Kanban do Azure Boards, com cada história dividida em tarefas de tela e de API. Não usamos o Teams: conversamos pelo WhatsApp e nas aulas, e o que decidimos fica registrado no repositório, no Guia, nos ADRs e nos Ajustes da Sprint 5. Cada mudança entra na main por PR, depois que a integração contínua passa. Planejamento até a apresentação final, em 17/11, na Sprint 6: revisar os artefatos das Sprints 1 a 3 contra o código, desenhar o diagrama de sequência da lista de presença, completar o protótipo de baixa fidelidade com as telas reais, dar o aval do time às decisões novas da arquitetura, e preparar e ensaiar o Pitch Final. Passagem: agora a demonstração.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 aplicação estiver publicada, o Guilherme conduz, compartilhando a tela dele. Se não, o Tiago conduz na máquina dele. Abrir dizendo: a conta já está criada para poupar tempo; a tela de entrada está no apêndice. Passos: criar, personalizar e publicar o convite; responder como convidado, com acompanhante e alergia; tentar responder no convite lotado; alterar a resposta pelo link pessoal; mostrar o painel e baixar o CSV; despublicar e abrir de novo o link do convite. Depois, na mesma tela e com a mesma pessoa falando: o quadro Kanban no Azure Boards e o GitHub, com os PRs e os checks. Fechamento, por quem conduziu a demo: as doze histórias estão implementadas, e as mudanças em relação à arquitetura do Grau A estão registradas com o motivo. Até 17/11 vamos revisar a documentação contra o código e preparar o Pitch. Ficamos à disposição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8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33.jpg"/><Relationship Id="rId3" Type="http://schemas.openxmlformats.org/officeDocument/2006/relationships/image" Target="../media/image3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cap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lockup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TRABALHO 3, APRESENTAÇÃO INTERMEDIÁRIA, TIME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FFF"/>
                </a:solidFill>
                <a:latin typeface="Roboto"/>
              </a:rPr>
              <a:t>App de gerenciamento</a:t>
            </a:r>
          </a:p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FFF"/>
                </a:solidFill>
                <a:latin typeface="Roboto"/>
              </a:rPr>
              <a:t>de convites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Convite por link, confirmação de presença e restrições alimentares. Evolução da implementação desde o Grau A.</a:t>
            </a:r>
          </a:p>
        </p:txBody>
      </p:sp>
      <p:pic>
        <p:nvPicPr>
          <p:cNvPr id="8" name="Picture 7" descr="c03-cap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8250" y="1143000"/>
            <a:ext cx="2215006" cy="4572000"/>
          </a:xfrm>
          <a:prstGeom prst="rect">
            <a:avLst/>
          </a:prstGeom>
          <a:ln w="9525">
            <a:solidFill>
              <a:srgbClr val="6E59D2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Grings, Gabriel Tomasi</a:t>
            </a:r>
          </a:p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Guilherme Toebe, Tiago Passos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2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2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19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9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27/10/2026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problema e os usuários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559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47010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Quem organiza uma festa costuma juntar as confirmações pelo WhatsApp e perde a conta de quantas pessoas vêm, quantos acompanhantes cada uma leva e o que cada uma não pode comer.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493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85972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anfitriã cria o convite, envia o link e acompanha as respostas.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convidado abre o link e responde sem criar conta.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8196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710684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buffet recebe a lista de restrições alimentares.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Escopo do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67403"/>
            <a:ext cx="3143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FUNCIONALIDADE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0500" y="1867403"/>
            <a:ext cx="7505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 QUE PERMITE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96003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248403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Conta do anfitrião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0" y="2248403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Criar conta e entrar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60985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733683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Criação do convite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500" y="2733683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Preencher os dados da festa e o teto de pessoas, escolher template e cores e ver a prévia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09513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218962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Compartilhamento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0" y="3218962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Publicar, copiar o link e despublicar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58041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704242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Confirmação de presença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0500" y="3704242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Responder sem conta, com acompanhantes até o limite do convite, e alterar depois pelo link pessoal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276923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400748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Restrições alimentares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00500" y="4400748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Informar a restrição. Alergia pede descrição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762203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886028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Painel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0500" y="4886028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Ver a lista de presença e exportar as restrições em CSV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5247483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As doze histórias de usuário desses grupos estão implementadas.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projeto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113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18/08 a 31/08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Requisitos e casos de uso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47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92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63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01/09 a 14/09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Arquitetura e decisões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81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26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7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15/09 a 28/09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Documento de arquitetura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215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31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06/10 a 19/10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Base do projeto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249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94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65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20/10 a 02/11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Protótipo e integração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283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028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99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03/11 a 16/11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Consolidação e Pitch Final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Sprints 1 a 3, Grau A: requisitos e documentação. Sprints 4 a 6, Grau B: implementação.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Diagrama de camadas</a:t>
            </a:r>
          </a:p>
        </p:txBody>
      </p:sp>
      <p:pic>
        <p:nvPicPr>
          <p:cNvPr id="4" name="Picture 3" descr="diagrama-de-camadas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08455"/>
            <a:ext cx="10820400" cy="190784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Diagrama de componentes</a:t>
            </a:r>
          </a:p>
        </p:txBody>
      </p:sp>
      <p:pic>
        <p:nvPicPr>
          <p:cNvPr id="4" name="Picture 3" descr="diagrama-de-componentes-slid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85875"/>
            <a:ext cx="5242105" cy="362915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95300" y="5510275"/>
            <a:ext cx="562310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Front-end e camada de Apresentação</a:t>
            </a:r>
          </a:p>
        </p:txBody>
      </p:sp>
      <p:pic>
        <p:nvPicPr>
          <p:cNvPr id="6" name="Picture 5" descr="diagrama-de-componentes-slide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2705" y="1785875"/>
            <a:ext cx="5273495" cy="362915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042205" y="5510275"/>
            <a:ext cx="565449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Camadas de Domínio e de Dados, e o banco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Diagrama de implantação</a:t>
            </a:r>
          </a:p>
        </p:txBody>
      </p:sp>
      <p:pic>
        <p:nvPicPr>
          <p:cNvPr id="4" name="Picture 3" descr="diagrama-de-implantacao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2885" y="1428750"/>
            <a:ext cx="7966229" cy="466725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Lint e integração contínua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279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175510"/>
            <a:ext cx="53340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lint recusa import que quebra a regra de camadas: o Domínio não importa da Apresentação, os Dados não importam de nenhuma camada de cima, e a Apresentação não chama os Dados direto.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58330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479292"/>
            <a:ext cx="53340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Em todo PR, a integração contínua roda lint, formatação, tipos, testes contra um PostgreSQL e build.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35902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255008"/>
            <a:ext cx="53340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mesma integração constrói as imagens do front-end, da API e do mock.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13473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5030724"/>
            <a:ext cx="53340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segundo arquivo do compose troca a API por um mock, para trabalhar nas telas sem banco.</a:t>
            </a:r>
          </a:p>
        </p:txBody>
      </p:sp>
      <p:pic>
        <p:nvPicPr>
          <p:cNvPr id="12" name="Picture 11" descr="c11-ci-job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6550" y="2731027"/>
            <a:ext cx="4819650" cy="2005545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496050" y="4812773"/>
            <a:ext cx="52006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Checks de um PR no GitHub, capturados em 26/10/2026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Regras da arquitetura no código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54703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REGRA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0" y="2654703"/>
            <a:ext cx="6172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ONDE FICA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883303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35703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Quem não tem acesso não descobre se um convite existe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0" y="3035703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Domínio distingue os casos, e a Apresentação responde a todos com o mesmo 404: link inválido, convite despublicado e convite de outro anfitrião. Um teste de ponta a ponta confere o status e o corpo.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83281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956637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Sessão do anfitrião em cookie assinado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0" y="3956637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Na Apresentação. O front-end não guarda token.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31809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441917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Link do convite gerado no Domínio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0" y="4441917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No Domínio, com gerador seguro, na primeira publicação. Nunca no navegador.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80337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Caminho de uma resposta na API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19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19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38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Apresentação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962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962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381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Domínio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105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4105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524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14550" y="1914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0275" y="1971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Confere o formato e o limite de tráfego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1657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382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Aplica as regras da resposta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08764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94489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Calcula as vagas pedidas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55871" y="4200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1596" y="4257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Trava o convite e soma as vagas ocupadas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02979" y="4200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8704" y="4257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Confere o teto e grava, ou devolve a recusa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50086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35811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Se não cabe, dá nome à recusa: convite lotado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7193" y="1914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2918" y="1971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Responde com o link pessoal ou com o erro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347357" y="2352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404507" y="2352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404507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694464" y="3495675"/>
            <a:ext cx="11430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041571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098721" y="3495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098721" y="4638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388679" y="4638675"/>
            <a:ext cx="11430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735786" y="4638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792936" y="3495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792936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082893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0140043" y="2352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140043" y="2352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8119382" y="2159889"/>
            <a:ext cx="0" cy="2040636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119382" y="2159889"/>
            <a:ext cx="2077811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176532" y="3390900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0" i="0">
                <a:solidFill>
                  <a:srgbClr val="3A3A44"/>
                </a:solidFill>
                <a:latin typeface="Roboto"/>
              </a:rPr>
              <a:t>se cabe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5800" y="55620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6300" y="55429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“Sim” ocupa uma vaga para o convidado e uma para cada acompanhante. “Talvez” e “Não” não ocupam vaga. “Não” zera acompanhantes e observação. Alergia exige descrição.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84096"/>
            <a:ext cx="3143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TESTES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0500" y="2384096"/>
            <a:ext cx="7505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 QUE COBREM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612696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765096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Regras do Domínio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0" y="2765096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Vagas pedidas por resposta, “Não” zerando acompanhantes e observação, descrição da alergia, data comparada por dia no fuso do projeto e publicação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33777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461602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Consultas no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500" y="3461602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Gravação dentro do teto e concorrência: quatro respostas simultâneas pedindo duas vagas cada, num teto de cinco. Duas são gravadas e duas recusadas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034283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158108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Rotas de ponta a ponta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0" y="4158108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fluxo completo, e o mesmo 404 para link inválido, convite despublicado e convite de outro anfitrião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730789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Todos rodam na integração contínua, a cada PR, com um PostgreSQL de serviço.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front-end</a:t>
            </a:r>
          </a:p>
        </p:txBody>
      </p:sp>
      <p:pic>
        <p:nvPicPr>
          <p:cNvPr id="4" name="Picture 3" descr="c02-edi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655" y="1819275"/>
            <a:ext cx="6096000" cy="381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792155" y="5724525"/>
            <a:ext cx="647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Editor do convite, com a prévia</a:t>
            </a:r>
          </a:p>
        </p:txBody>
      </p:sp>
      <p:pic>
        <p:nvPicPr>
          <p:cNvPr id="6" name="Picture 5" descr="c03-conv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3455" y="1819275"/>
            <a:ext cx="1760545" cy="381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192955" y="5724525"/>
            <a:ext cx="214154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no celular</a:t>
            </a:r>
          </a:p>
        </p:txBody>
      </p:sp>
      <p:pic>
        <p:nvPicPr>
          <p:cNvPr id="8" name="Picture 7" descr="c04-respos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8800" y="1819275"/>
            <a:ext cx="1760545" cy="381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9258300" y="5724525"/>
            <a:ext cx="214154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Resposta enviada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Front-end, Guilherme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Mudanças no front-end para seguir a 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57210"/>
            <a:ext cx="2000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PONTO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57500" y="2057210"/>
            <a:ext cx="3143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NO PROTÓTIPO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0" y="2057210"/>
            <a:ext cx="5410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NA VERSÃO ATUAL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285810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38210"/>
            <a:ext cx="1828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Teto do evento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0" y="2438210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convite mostrava o teto e avisava de lotado antes da resposta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0" y="2438210"/>
            <a:ext cx="5238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convite não mostra teto nem contagem. O aviso de lotado só aparece para quem tenta responder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01089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134716"/>
            <a:ext cx="1828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Link do convite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7500" y="3134716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Gerado no navegador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3134716"/>
            <a:ext cx="5238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Gerado pela API, na primeira publicação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49617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619995"/>
            <a:ext cx="1828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Lista para o buffet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500" y="3619995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CSV era montado no navegador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3619995"/>
            <a:ext cx="5238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CSV é gerado pela API, que protege a planilha contra fórmulas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9814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105275"/>
            <a:ext cx="1828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Login do anfitrião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57500" y="4105275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Um token ficava guardado no navegador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0" y="4105275"/>
            <a:ext cx="5238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sessão fica num cookie controlado pela API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67795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801781"/>
            <a:ext cx="1828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Limite de acompanhantes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57500" y="4801781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Conferido na tela. A parte de servidor do protótipo não chegava a rodar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0" y="4801781"/>
            <a:ext cx="5238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tela limita o campo, mas quem aceita ou recusa a resposta é a API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540086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Front-end, Guilherme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Dificuldades encontradas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44106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332101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front-end e o back-end foram feitos em paralelo, fora da main, e precisaram ser adaptados ao pacote de tipos e às camadas para entrar.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28002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71063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protótipo do front-end foi feito numa ferramenta de prototipação, fora da base do projeto, e gerava o link, montava o CSV e guardava o token na própria tela.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010025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Na primeira versão do back-end, a consulta SQL da camada de Dados decidia quantas vagas cada resposta ocupava. O cálculo das vagas pedidas foi para o Domínio.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95795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848987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Faríamos diferente: fazer as telas já sobre o pacote de tipos, que existia desde o início da Sprint 4, e juntar front-end e back-end nessa mesma sprint.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Dificuldades, Guilherme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Organização do trabalho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411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307526"/>
            <a:ext cx="6381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Sprints de duas semanas, acompanhadas no quadro Kanban do Azure Boards. Cada história foi dividida em tarefas de tela e de API.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187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083242"/>
            <a:ext cx="6381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Conversamos pelo WhatsApp e nas aulas. As decisões ficam na documentação do repositório.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9629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858958"/>
            <a:ext cx="6381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Cada mudança entra na main por PR, depois que a integração contínua passa.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73868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634674"/>
            <a:ext cx="6381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Até 17/11, data da apresentação final: revisar a documentação contra o código, completar o protótipo de baixa fidelidade e o diagrama que faltaram, e preparar o Pitch Final.</a:t>
            </a:r>
          </a:p>
        </p:txBody>
      </p:sp>
      <p:pic>
        <p:nvPicPr>
          <p:cNvPr id="12" name="Picture 11" descr="c10-kanban-d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4862" y="1676400"/>
            <a:ext cx="2010776" cy="4191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8424362" y="5943600"/>
            <a:ext cx="2391776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Histórias concluídas no quadro Kanban do Azure Boards, em 26/10/2026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Organização, Guilherme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900" b="1" i="0">
                <a:solidFill>
                  <a:srgbClr val="FFFFFF"/>
                </a:solidFill>
                <a:latin typeface="Roboto"/>
              </a:rPr>
              <a:t>Demonstração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Demonstração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anfitrião</a:t>
            </a:r>
          </a:p>
        </p:txBody>
      </p:sp>
      <p:pic>
        <p:nvPicPr>
          <p:cNvPr id="4" name="Picture 3" descr="c01-entr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14368"/>
            <a:ext cx="5257800" cy="3286125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95300" y="5195743"/>
            <a:ext cx="563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Tela de entrada, com o acesso ao cadastro</a:t>
            </a:r>
          </a:p>
        </p:txBody>
      </p:sp>
      <p:pic>
        <p:nvPicPr>
          <p:cNvPr id="6" name="Picture 5" descr="c08-li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1814368"/>
            <a:ext cx="5257800" cy="3286125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057900" y="5195743"/>
            <a:ext cx="563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Lista de convites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convidado</a:t>
            </a:r>
          </a:p>
        </p:txBody>
      </p:sp>
      <p:pic>
        <p:nvPicPr>
          <p:cNvPr id="4" name="Picture 3" descr="c03-conv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6848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2156348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</a:t>
            </a:r>
          </a:p>
        </p:txBody>
      </p:sp>
      <p:pic>
        <p:nvPicPr>
          <p:cNvPr id="6" name="Picture 5" descr="c04-respo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24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07124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Resposta enviada</a:t>
            </a:r>
          </a:p>
        </p:txBody>
      </p:sp>
      <p:pic>
        <p:nvPicPr>
          <p:cNvPr id="8" name="Picture 7" descr="c05-lotad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8400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057900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lotado</a:t>
            </a:r>
          </a:p>
        </p:txBody>
      </p:sp>
      <p:pic>
        <p:nvPicPr>
          <p:cNvPr id="10" name="Picture 9" descr="c06-link-pesso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176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8008676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Link pessoal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Painel e convite despublicado</a:t>
            </a:r>
          </a:p>
        </p:txBody>
      </p:sp>
      <p:pic>
        <p:nvPicPr>
          <p:cNvPr id="4" name="Picture 3" descr="c07-pai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0964" y="1676400"/>
            <a:ext cx="5699297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2080464" y="5333710"/>
            <a:ext cx="608029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Painel de respostas</a:t>
            </a:r>
          </a:p>
        </p:txBody>
      </p:sp>
      <p:pic>
        <p:nvPicPr>
          <p:cNvPr id="6" name="Picture 5" descr="c09-nao-encontra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060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084560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despublicado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 de gerenciamento de convites, apresentação intermediária</dc:title>
  <dc:creator>Time 04: Andreas Grings, Gabriel Tomasi, Guilherme Toebe, Tiago Passos</dc:creator>
  <cp:lastModifiedBy>Time 04: Andreas Grings, Gabriel Tomasi, Guilherme Toebe, Tiago Passos</cp:lastModifiedBy>
  <cp:revision>15</cp:revision>
  <dcterms:created xsi:type="dcterms:W3CDTF">2012-07-30T23:50:35Z</dcterms:created>
  <dcterms:modified xsi:type="dcterms:W3CDTF">2026-03-06T20:44:32Z</dcterms:modified>
  <dc:subject>Arquitetura de Software, Trabalho 3</dc:subject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