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Nosso projeto é um app para gerenciamento de convites, com confirmação de presença e restrições alimentares. Vamos apresentar o problema e o escopo, a arquitetura implementada, o front-end, o back-end, uma demonstração e o planejamento até 17/11. Cada um responde pelo próprio bloco na arguição.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pelo time na Sprint 1: a anfitriã e o convidado como usuários primários, e o buffet como interessado secundário, que é quem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seis grupos com as doze histórias de usuário. No quadro do Azure Boards elas aparecem como H01 a H12: conta do anfitrião é a H01, criação do convite da H02 à H04, compartilhamento H05 e H06, confirmação da H07 à H09, restrições alimentares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doze histórias, o Guia da Arquitetura e um protótipo de telas. Na Sprint 4 foi feita a base: o repositório, o pacote de tipos compartilhado entre front e back, a integração contínua e o compose. Na Sprint 5 o front e o back foram integrados nessa base, e o que precisou mudar na arquitetura foi registrado com o motivo. As doze histórias estão implementadas. Passagem: o Tiago apresenta a arquitetura implementada.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Três tiers no compose: front em Next.js, API em NestJS e PostgreSQL. As três camadas lógicas ficam dentro da API: Apresentação, Domínio e Dados. O front segue MVC. O contract é o pacote de tipos compartilhado entre os dois lados. Camada é divisão lógica, tier é processo separado.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Sobre o compose: no T1 apresentamos o Docker como forma de cada integrante subir o ambiente com um comando. É esse compose que roda na demonstração. Se perguntarem das migrations: elas rodam quando o volume do banco está vazio.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Fala final: a regra do teto de vagas o Gabriel mostra no bloco dele. Dificuldade do bloco: juntar o front e o back, que foram escritos em paralelo, fora da main. A integração foi em duas etapas. Primeiro o front, com um mock que responde às rotas com os tipos do contract. Depois o back. Em cada etapa, o que não cabia na arquitetura foi adequado, registrado com o motivo nos Ajustes da Sprint 5, e só entrou na main com a CI verde. O contract permitiu juntar as duas partes sem reescrever tudo. Ele deveria ter sido feito antes das telas.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nasceu antes de a arquitetura estar no código,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API. A primeira versão das rotas e das regras dela foi escrita pelo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minha, inclusive a transação com a trava na linha do convite. Na integração, algumas regras mudaram de camada, e eu conto isso no fim do bloco.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fica na tela enquanto o Guilherme assume o compartilhamento. Abrir dizendo: a conta já está criada para poupar tempo; a tela de entrada está no apêndice. O Guilherme opera a tela em todos os passos, e o Gabriel narra os passos do convidado. Depois da demonstração, na mesma tela: o quadro do Azure Boards (Guilherme), o GitHub (Tiago) e a organização do trabalho (Andreas).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Planejamos em sprints de duas semanas e acompanhamos no quadro Kanban do Azure Boards, com cada história quebrada em tarefas de tela e de API. Conversamos pelo WhatsApp e discutimos o projeto no tempo de aula. O que decidimos fica registrado no repositório, no Guia, nos ADRs e nos Ajustes da Sprint 5. Integramos por PR, e a CI verde é a nossa definição de pronto.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Cada dificuldade foi contada por quem a viveu: a integração pelo Tiago, o protótipo pelo Guilherme e a regra de vagas pelo Gabriel. Este slide só as reúne, com as lições que o time tirou delas. Se perguntarem detalhes, passar para o dono de cada 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Estes são os itens da Sprint 6, de 03/11 a 16/11, até a apresentação final em 17/11. Se tiver assumido algum deles, dizer 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Andreas, fechamento: as doze histórias estão implementadas, e as mudanças em relação à arquitetura do Grau A estão registradas com o motivo. Até 17/11 vamos revisar a documentação contra o código e preparar o Pitch. Para perguntas: requisitos e planejamento comigo, arquitetura e Docker com o Tiago, telas e quadro com o Guilherme, API e regras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Anfitriã: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cria o convite, compartilha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Convidado: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Buffet: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recebe a lista de restrições alimentares para planejar o cardápio.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29519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019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1 HISTÓRIA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619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29619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Criar conta e entrar.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1729519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1920019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3 HISTÓRIAS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148619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2529619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Criar o convite, escolher template e cores e ver a prévia.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1729519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1920019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2 HISTÓRIAS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148619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2529619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Gerar o link, publicar e despublicar.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33655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3 HISTÓRIAS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Confirmação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33755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Responder sem conta, informar acompanhantes e alterar pelo link pessoal.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800" y="3733655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7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1 HISTÓRIA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7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400" y="4533755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Informar a restrição. Alergia exige descrição.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51800" y="3733655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0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2 HISTÓRIAS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400" y="4533755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Lista de presença e consolidação das restrições, com exportação em CSV.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As doze histórias estão implementadas, integradas e rodando pelo docker compose.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do front e do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Tiers e camadas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828925"/>
            <a:ext cx="1257300" cy="952500"/>
          </a:xfrm>
          <a:prstGeom prst="roundRect">
            <a:avLst>
              <a:gd name="adj" fmla="val 5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9425"/>
            <a:ext cx="12573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80" b="1" i="0">
                <a:solidFill>
                  <a:srgbClr val="FFFFFF"/>
                </a:solidFill>
                <a:latin typeface="Roboto"/>
              </a:rPr>
              <a:t>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" y="3286125"/>
            <a:ext cx="1143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Roboto"/>
              </a:rPr>
              <a:t>anfitrião e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Roboto"/>
              </a:rPr>
              <a:t>convidado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57500" y="1952625"/>
            <a:ext cx="2228850" cy="2762250"/>
          </a:xfrm>
          <a:prstGeom prst="roundRect">
            <a:avLst>
              <a:gd name="adj" fmla="val 25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09900" y="2066925"/>
            <a:ext cx="192405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Front em Next.js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2314575"/>
            <a:ext cx="19240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front, porta 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28950" y="263842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8950" y="275272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Rotas de tela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28950" y="322897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8950" y="334327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28950" y="381952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8950" y="393382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4486275"/>
            <a:ext cx="2228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 spc="120">
                <a:solidFill>
                  <a:srgbClr val="21049A"/>
                </a:solidFill>
                <a:latin typeface="Roboto"/>
              </a:rPr>
              <a:t>MVC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952625"/>
            <a:ext cx="2381250" cy="2762250"/>
          </a:xfrm>
          <a:prstGeom prst="roundRect">
            <a:avLst>
              <a:gd name="adj" fmla="val 2400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2700" y="2066925"/>
            <a:ext cx="207645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API em NestJS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314575"/>
            <a:ext cx="2076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api, porta 3001 no host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1750" y="263842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275272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Apresentação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1750" y="322897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1750" y="334327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Domínio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00925" y="3095625"/>
            <a:ext cx="0" cy="13335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381750" y="381952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1750" y="393382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Dados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0925" y="3686175"/>
            <a:ext cx="0" cy="13335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10300" y="4486275"/>
            <a:ext cx="2381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 spc="120">
                <a:solidFill>
                  <a:srgbClr val="E94D1C"/>
                </a:solidFill>
                <a:latin typeface="Roboto"/>
              </a:rPr>
              <a:t>TRÊS CAMADAS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15500" y="2733675"/>
            <a:ext cx="1790700" cy="1181100"/>
          </a:xfrm>
          <a:prstGeom prst="roundRect">
            <a:avLst>
              <a:gd name="adj" fmla="val 4838"/>
            </a:avLst>
          </a:prstGeom>
          <a:solidFill>
            <a:srgbClr val="F2F2F5"/>
          </a:solidFill>
          <a:ln w="12700">
            <a:solidFill>
              <a:srgbClr val="6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5500" y="2905125"/>
            <a:ext cx="17907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PostgreSQL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1700" y="3190875"/>
            <a:ext cx="16383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db,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sem porta publicada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81200" y="3305175"/>
            <a:ext cx="83820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943100" y="2867025"/>
            <a:ext cx="9144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página do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convite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24450" y="3305175"/>
            <a:ext cx="104775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86350" y="2867025"/>
            <a:ext cx="11239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leitura no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servidor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29650" y="3305175"/>
            <a:ext cx="1047750" cy="0"/>
          </a:xfrm>
          <a:prstGeom prst="line">
            <a:avLst/>
          </a:prstGeom>
          <a:ln w="2540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91550" y="2867025"/>
            <a:ext cx="11239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SQL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14450" y="3781425"/>
            <a:ext cx="0" cy="120015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314450" y="4981575"/>
            <a:ext cx="6086475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400925" y="4714875"/>
            <a:ext cx="0" cy="266700"/>
          </a:xfrm>
          <a:prstGeom prst="line">
            <a:avLst/>
          </a:prstGeom>
          <a:ln w="2540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428750" y="5038725"/>
            <a:ext cx="495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94D1C"/>
                </a:solidFill>
                <a:latin typeface="Roboto"/>
              </a:rPr>
              <a:t>painel do anfitrião e envio das respostas, direto na API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57500" y="5381625"/>
            <a:ext cx="573405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09900" y="5495925"/>
            <a:ext cx="5429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1" i="0">
                <a:solidFill>
                  <a:srgbClr val="3A3A44"/>
                </a:solidFill>
                <a:latin typeface="Roboto"/>
              </a:rPr>
              <a:t>Pacote de tipos compartilhado (contract):</a:t>
            </a:r>
            <a:r>
              <a:rPr sz="1050" b="0" i="0">
                <a:solidFill>
                  <a:srgbClr val="3A3A44"/>
                </a:solidFill>
                <a:latin typeface="Roboto"/>
              </a:rPr>
              <a:t> pedidos e respostas usados pelo front e pela 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Base do projeto: lint, integração contínua e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7482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644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da API, do front e do mock.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DOCKER COMPOSE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Três serviços: banco, API e front. O banco não publica porta.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front publica a 3000 e a API a 3001, porque o navegador chama a API direto no painel e no envio da resposta.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API só sobe depois que o banco responde ao healthcheck.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troca a API por um mock, para trabalhar nas telas sem banco.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83108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483108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11708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64108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2864108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6121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8504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78504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4649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70322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270322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631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regra do teto de vagas está no bloco do back-end.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497" y="1676400"/>
            <a:ext cx="5302593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1417997" y="5085771"/>
            <a:ext cx="56835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890" y="1676400"/>
            <a:ext cx="1531407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025390" y="5085771"/>
            <a:ext cx="19124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097" y="1676400"/>
            <a:ext cx="1531407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861597" y="5085771"/>
            <a:ext cx="19124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enviada, com o link pessoal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As telas partiram do protótipo e foram adequadas à arquitetura: o visual foi mantido, reescrito em CSS puro, e as regras de negócio saíram da tela.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18664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418664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418664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64726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99664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2799664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2799664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aparece só quando a resposta é recusada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 de planilha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6885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92676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4192676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4192676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55413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677956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677956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677956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03941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482642"/>
            <a:ext cx="3454400" cy="2273427"/>
          </a:xfrm>
          <a:prstGeom prst="roundRect">
            <a:avLst>
              <a:gd name="adj" fmla="val 335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673142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DOMÍNIO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01742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Regras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82742"/>
            <a:ext cx="2997200" cy="1320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Vagas pedidas por resposta, o não vou zerando acompanhantes e observação, descrição da alergia, comparação por dia no fuso do projeto e publicação.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2482642"/>
            <a:ext cx="3454400" cy="2273427"/>
          </a:xfrm>
          <a:prstGeom prst="roundRect">
            <a:avLst>
              <a:gd name="adj" fmla="val 3351"/>
            </a:avLst>
          </a:prstGeom>
          <a:solidFill>
            <a:srgbClr val="F2F2F5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2673142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BANCO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901742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E94D1C"/>
                </a:solidFill>
                <a:latin typeface="Roboto"/>
              </a:rPr>
              <a:t>Contra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3282742"/>
            <a:ext cx="2997200" cy="1320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Gravação dentro do teto e concorrência: quatro respostas simultâneas pedindo duas vagas cada, num teto de cinco. Passam duas.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2482642"/>
            <a:ext cx="3454400" cy="2273427"/>
          </a:xfrm>
          <a:prstGeom prst="roundRect">
            <a:avLst>
              <a:gd name="adj" fmla="val 335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2673142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ROTAS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901742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Ponta a ponta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3282742"/>
            <a:ext cx="2997200" cy="1320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O fluxo completo pelas rotas, e o mesmo 404 para link inválido, convite despublicado e convite de outro anfitrião.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Os testes rodam na integração contínua em todo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Roteiro da 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998"/>
            <a:ext cx="3619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PASSO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6750" y="2038998"/>
            <a:ext cx="447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2038998"/>
            <a:ext cx="236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QUEM FALA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67598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19998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Criar, personalizar e publicar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6750" y="2419998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Template, cores, prévia e o link gerado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419998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8145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05277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Responder como convidado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6750" y="2905277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Resposta sem conta, com acompanhante e restrição alimentar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905277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7795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01784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Responder num convite lotado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750" y="3601784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recusa pelo teto de vagas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601784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96323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8706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Alterar pelo link pessoal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6750" y="408706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troca da resposta para talvez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08706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4851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7234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 e 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6750" y="457234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Lista de presença e restrições exportadas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57234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93379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05762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Despublicar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6750" y="505762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link do convite deixa de abrir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05762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4190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Demonstração, Guilherme e Gabriel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é quebrada em tarefas de tela e de API, com responsável.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Conversas pelo WhatsApp e no tempo de aula. As decisões ficam registradas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Integração por PR no GitHub. Um PR só entra na main com a integração contínua aprovada.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Andreas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42858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61908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INTEGRAÇÃO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4768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Trabalho feito em paralelo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2868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O front e o back foram escritos fora da main e precisaram ser adequados ao pacote de tipos e às camadas para entrar.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242858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261908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FRONT-END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84768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Regras no protótipo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322868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O protótipo nasceu antes de a arquitetura estar no código. Contagem de vagas, CSV e token ficavam na tela.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242858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261908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BACK-END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84768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Regra na camada errada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322868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A regra das vagas estava na consulta da camada de Dados. O cálculo passou para o Domínio.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Lições: definir os tipos compartilhados antes das telas, integrar front e back antes do fim da sprint, e manter as regras de negócio no Domínio desde a primeira versão.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Andreas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a apresentação final, em 17/11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47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6583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Revisar os artefatos das Sprints 1 a 3 contra o código, ligando cada história ao caso de uso, à rota, à tela e ao teste.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37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479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Desenhar o diagrama de sequência da lista de presença, que faltou no Grau 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97611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86715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Completar o protótipo de baixa fidelidade da Sprint 3 a partir das telas reais.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42950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Dar o aval do time às decisões novas da arquitetura.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9186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Preparar e ensaiar o Pitch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Andreas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22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problema, requisitos e planejamento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 e GitHub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 e Azure Boards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back-end, regras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Perguntas, Andreas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do convite depois de despublicar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Quadro Kanban e integração no GitHub</a:t>
            </a:r>
          </a:p>
        </p:txBody>
      </p:sp>
      <p:pic>
        <p:nvPicPr>
          <p:cNvPr id="4" name="Picture 3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08599"/>
            <a:ext cx="3164333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201511"/>
            <a:ext cx="354533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Quadro Kanban no Azure Boards</a:t>
            </a:r>
          </a:p>
        </p:txBody>
      </p:sp>
      <p:pic>
        <p:nvPicPr>
          <p:cNvPr id="6" name="Picture 5" descr="c11-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4933" y="1808599"/>
            <a:ext cx="7351267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964433" y="5201511"/>
            <a:ext cx="77322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Integração contínua aprovada no PR do back-end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do Azure Boards e do GitHub em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