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4.svg" ContentType="image/svg+xml"/>
  <Override PartName="/ppt/media/image19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10"/>
    <p:sldId id="266" r:id="rId9"/>
    <p:sldId id="267" r:id="rId8"/>
    <p:sldId id="268" r:id="rId7"/>
    <p:sldId id="269" r:id="rId6"/>
    <p:sldId id="270" r:id="rId5"/>
    <p:sldId id="271" r:id="rId26"/>
    <p:sldId id="272" r:id="rId27"/>
    <p:sldId id="273" r:id="rId28"/>
    <p:sldId id="274" r:id="rId29"/>
    <p:sldId id="275" r:id="rId30"/>
    <p:sldId id="276" r:id="rId3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04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9716C1-5024-8CCE-3203-86B75C2C8617}" v="3" dt="2026-03-04T18:26:21.527"/>
    <p1510:client id="{15EE4E26-2F7C-A8A7-F640-351793DF4648}" v="51" dt="2026-03-04T14:37:16.632"/>
    <p1510:client id="{1A042CCA-B3F5-4F3A-A55B-20F5A0164B7D}" v="24" dt="2026-03-04T14:05:53.570"/>
    <p1510:client id="{474E71F2-6943-508A-29C8-0B58041B59EA}" v="24" dt="2026-03-04T13:40:41.656"/>
    <p1510:client id="{610FBFFC-C927-4559-84E4-21F8025EFCC9}" v="4" dt="2026-03-04T18:41:12.929"/>
    <p1510:client id="{6B13FC13-F49B-3BCF-DC56-120CE7AD128B}" v="3" dt="2026-03-04T14:27:44.521"/>
    <p1510:client id="{6B418F69-DA30-9EA3-9484-1B1B7022BB9A}" v="26" dt="2026-03-04T18:46:59.600"/>
    <p1510:client id="{A6C34AF3-2CB0-9917-C57B-32A817E4D2F0}" v="15" dt="2026-03-04T19:28:10.596"/>
    <p1510:client id="{B4BCC3D1-ADA6-AE73-AB10-F1FD9D46F8AE}" v="1" dt="2026-03-04T18:45:27.9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5.xml"/><Relationship Id="rId6" Type="http://schemas.openxmlformats.org/officeDocument/2006/relationships/slide" Target="slides/slide14.xml"/><Relationship Id="rId7" Type="http://schemas.openxmlformats.org/officeDocument/2006/relationships/slide" Target="slides/slide13.xml"/><Relationship Id="rId8" Type="http://schemas.openxmlformats.org/officeDocument/2006/relationships/slide" Target="slides/slide12.xml"/><Relationship Id="rId9" Type="http://schemas.openxmlformats.org/officeDocument/2006/relationships/slide" Target="slides/slide11.xml"/><Relationship Id="rId10" Type="http://schemas.openxmlformats.org/officeDocument/2006/relationships/slide" Target="slides/slide10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FFF79-EEE3-444A-9BA1-1453A65B916B}" type="datetimeFigureOut">
              <a:t>06/03/2026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DD6EE-BF3C-42FE-A967-089A0F35743B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119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Andreas. Somos o Time 04. O nosso projeto é um app para gerenciar convites de festa: o anfitrião cria o convite e acompanha quem vai, e o convidado responde pelo link. Vamos mostrar o problema, a arquitetura implementada, o front-end, o back-end, a aplicação funcionando e o que falta até 17/11.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Andreas. As personas foram levantadas na Sprint 1: a anfitriã e o convidado, que usam o app, e o buffet, que recebe a 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Andreas. São doze histórias de usuário nesses seis grupos, e as doze estão implementadas. No quadro do Azure Boards elas aparecem como H01 a H12: conta é a H01, criação do convite da H02 à H04, compartilhamento H05 e H06, confirmação da H07 à H09, restrições H10, e o painel H11 e H12.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Andreas. No Grau A o projeto tinha as doze histórias, o Guia da Arquitetura e um protótipo de telas. Na Sprint 4 o Tiago montou a base: o repositório, o pacote de tipos compartilhado entre front e back, a integração contínua e o compose. Na Sprint 5 o front e o back foram integrados nessa base, e o que precisou mudar na arquitetura foi registrado com o motivo. Passagem: o Tiago mostra os diagramas da arquitetura.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Tiago. É o diagrama de camadas do documento de arquitetura do Grau A. Três tiers no compose: front em Next.js, API em NestJS e PostgreSQL. As três camadas lógicas ficam dentro da API: Apresentação, Domínio e Dados. O front segue MVC. O navegador fala com a API direto no painel e no envio da resposta, e a página do convite é lida pelo servidor do front. Camada é divisão lógica, tier é processo separado: as três camadas ficam no mesmo container da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Tiago. É o diagrama de componentes do Grau A, dividido em duas metades para caber no slide. Cada componente da API existe no código com o mesmo nome: os quatro controllers, os guards de sessão e de limite de tráfego, o filtro de erro, os cinco services, o catálogo de templates e os três repositórios. No front, o ApiClient e as duas páginas também. A única diferença é o TemplateSet, que virou dois arquivos por template, o CSS e a imagem de prévia, como o documento de arquitetura já registra.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Tiago. O diagrama de implantação do Grau A. O docker-compose.yml é a forma executável dele: os três containers, o banco sem porta publicada, o front na 3000 e a API na 3001, porque o navegador chama a API direto. A API só sobe depois que o banco responde ao healthcheck, e as migrations rodam com o volume do banco vazio. No T1 apresentamos o Docker como forma de cada integrante subir o ambiente com um comando. É esse compose que roda na 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Tiago. Um PR que quebra a regra de camadas fica vermelho na integração contínua. Dificuldade do bloco: juntar o front e o back, que foram escritos em paralelo, fora da main. A integração foi em duas etapas. Primeiro o front, com um mock que responde às rotas com os tipos do contract. Depois o back. Em cada etapa, o que não cabia na arquitetura foi adequado, registrado com o motivo nos Ajustes da Sprint 5, e só entrou na main com a CI verde. O contract, criado no começo da Sprint 4, permitiu juntar as duas partes sem reescrever tudo. O protótipo do front foi feito sem usar ele, e foi isso que exigiu a maior parte da adequação. Passagem: o Guilherme apresenta o front-end, que partiu do protótipo dele.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Guilherme. O protótipo foi meu: [o fluxo, as telas, os três templates e as cores; ajustar ao que for verdade]. Ele foi gerado numa ferramenta de prototipação, e por isso trazia muita coisa que a nossa stack não usa. Na integração, o Tiago adequou o protótipo à arquitetura: o visual ficou, reescrito em CSS puro, e o que era regra de negócio saiu da tela e foi para a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Guilherme. A tela ainda limita os campos, para ajudar quem preenche, mas a validação que vale é a da API. Dificuldade do bloco: o protótipo foi feito numa ferramenta de prototipação, fora da base do projeto e sem o pacote de tipos, e algumas regras de negócio ficaram na tela. O que eu aprendi vendo a adequação: prototipar com ferramenta é rápido para validar o visual, mas o protótipo precisa ser lido contra o Guia antes de virar código. Se eu fizesse de novo, desenharia as telas em cima do contract desde o começo. Passagem: quem recebe essas chamadas é a API, e o Gabriel mostra as regras dela.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Gabriel. As regras que vou mostrar são as que estão hoje no código. A primeira versão das rotas e dessas regras foi minha. Na integração, algumas mudaram de camada, e eu conto isso no fim do bloco. Três regras: quem não tem acesso não descobre se um convite existe, porque link inválido, convite despublicado e convite de outro anfitrião dão o mesmo 404; a sessão do anfitrião é um cookie assinado; e o link do convite nasce no Domínio, na primeira publicação. A regra do teto de vagas está no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Gabriel. O caminho de uma resposta do convidado pelas três camadas: a Apresentação confere o formato e o limite de tráfego; o Domínio aplica as regras e calcula quantas vagas a resposta pede; a camada de Dados trava o convite, soma as vagas ocupadas e confere o teto. Quando não cabe, a camada de Dados devolve a recusa ao Domínio, que dá nome ao erro, e a Apresentação responde. Fecho do slide: o Domínio calcula quantas vagas a resposta pede, e a camada de Dados confere o teto dentro da transação.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Gabriel. Os testes de hoje foram reescritos na integração, porque os meus testavam assinaturas antigas. O que vale citar: quatro respostas simultâneas, cada uma pedindo duas vagas, num convite com teto de cinco. Passam exatamente duas. Dificuldade do bloco: uma regra de negócio na camada errada. Na minha primeira versão, a regra de que só a confirmação ocupa vaga estava na consulta da camada de Dados, junto com a conferência do teto. Funcionava, mas a camada de Dados passava a saber o que é uma vaga, e o Guia diz que isso é do Domínio. Na integração, o Tiago subiu o cálculo das vagas que a resposta pede para o Domínio, e a camada de Dados ficou com a soma do que já está gravado e a conferência do teto.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Gabriel. Cada dificuldade já foi contada por quem passou por ela: a integração pelo Tiago, o protótipo pelo Guilherme e a regra de vagas por mim. Aqui elas aparecem juntas. Se perguntarem detalhes, passar para quem passou por cada uma. O pacote de tipos existia desde 07/10, mas o protótipo do front foi feito sem ele, e por isso precisou de adequação. E front e back só foram juntados na Sprint 5, quando o plano era fechar o fluxo central já na Sprint 4. Passagem: agora a 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a aplicação estiver publicada, o Guilherme conduz, compartilhando a tela dele. Se não, o Tiago conduz na máquina dele. Abrir dizendo: a conta já está criada para poupar tempo; a tela de entrada está no apêndice. Passos: criar, personalizar e publicar o convite; responder como convidado, com acompanhante e alergia; tentar responder no convite lotado; alterar a resposta pelo link pessoal; mostrar o painel e baixar o CSV; despublicar e abrir de novo o link do convite. Depois, na mesma tela e com a mesma pessoa falando: o quadro Kanban no Azure Boards e o GitHub, com os PRs e os checks. Passagem: o Guilherme mostra como o time se organizou e o que falta.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Guilherme. Planejamos em sprints de duas semanas e acompanhamos no quadro Kanban do Azure Boards, com cada história dividida em tarefas de tela e de API. Não usamos o Teams: conversamos pelo WhatsApp e nas aulas, e o que decidimos fica registrado no repositório, no Guia, nos ADRs e nos Ajustes da Sprint 5. Cada mudança entra na main por PR, depois que a integração contínua passa.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Guilherme. Estes são os itens da Sprint 6, de 03/11 a 16/11, até a apresentação final em 17/11.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Guilherme, fechamento: as doze histórias estão implementadas, e as mudanças em relação à arquitetura do Grau A estão registradas com o motivo. Até 17/11 vamos revisar a documentação contra o código e preparar o Pitch. Para perguntas: problema e requisitos com o Andreas, arquitetura, Docker e GitHub com o Tiago, telas, organização e planejamento comigo, e API, regras e testes com o Gabriel.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13.png"/><Relationship Id="rId4" Type="http://schemas.openxmlformats.org/officeDocument/2006/relationships/image" Target="../media/image14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13.png"/><Relationship Id="rId4" Type="http://schemas.openxmlformats.org/officeDocument/2006/relationships/image" Target="../media/image1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Relationship Id="rId3" Type="http://schemas.openxmlformats.org/officeDocument/2006/relationships/image" Target="../media/image18.png"/><Relationship Id="rId4" Type="http://schemas.openxmlformats.org/officeDocument/2006/relationships/image" Target="../media/image19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B12703BC-BA0D-49E1-5856-8172DFCF2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Espaço Reservado para Conteúdo 4">
            <a:extLst>
              <a:ext uri="{FF2B5EF4-FFF2-40B4-BE49-F238E27FC236}">
                <a16:creationId xmlns:a16="http://schemas.microsoft.com/office/drawing/2014/main" id="{9BA904D1-772F-4932-8EC4-AC8ABD79784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198963" y="854211"/>
            <a:ext cx="9794071" cy="291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CARTOLA </a:t>
            </a:r>
            <a:r>
              <a:rPr lang="pt-BR" dirty="0" err="1"/>
              <a:t>CARTOLA</a:t>
            </a:r>
            <a:endParaRPr lang="pt-BR" dirty="0"/>
          </a:p>
        </p:txBody>
      </p:sp>
      <p:sp>
        <p:nvSpPr>
          <p:cNvPr id="11" name="Espaço Reservado para Conteúdo 4">
            <a:extLst>
              <a:ext uri="{FF2B5EF4-FFF2-40B4-BE49-F238E27FC236}">
                <a16:creationId xmlns:a16="http://schemas.microsoft.com/office/drawing/2014/main" id="{798E2A19-B017-4014-9BCE-0EDA90228A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98962" y="2685167"/>
            <a:ext cx="9794071" cy="291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COMPLEMENTO </a:t>
            </a:r>
            <a:r>
              <a:rPr lang="pt-BR" err="1"/>
              <a:t>COMPLEMENTO</a:t>
            </a:r>
            <a:endParaRPr lang="pt-BR"/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0FAFA1B5-CB3C-4B76-9115-38A3CFEBBED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98962" y="1376961"/>
            <a:ext cx="9794071" cy="11180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DA CAPA</a:t>
            </a:r>
          </a:p>
          <a:p>
            <a:pPr lvl="0"/>
            <a:r>
              <a:rPr lang="pt-BR" dirty="0"/>
              <a:t>TÍTULO DA CAPA</a:t>
            </a:r>
          </a:p>
        </p:txBody>
      </p:sp>
    </p:spTree>
    <p:extLst>
      <p:ext uri="{BB962C8B-B14F-4D97-AF65-F5344CB8AC3E}">
        <p14:creationId xmlns:p14="http://schemas.microsoft.com/office/powerpoint/2010/main" val="743268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ntendo pessoa, segurando, raquete, homem&#10;&#10;O conteúdo gerado por IA pode estar incorreto.">
            <a:extLst>
              <a:ext uri="{FF2B5EF4-FFF2-40B4-BE49-F238E27FC236}">
                <a16:creationId xmlns:a16="http://schemas.microsoft.com/office/drawing/2014/main" id="{68201F9E-9442-51CA-D606-ADE185D215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641F0451-2034-4B4C-B5BB-323C5B96055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99028" y="1721616"/>
            <a:ext cx="3848744" cy="7667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br>
              <a:rPr lang="pt-BR" dirty="0"/>
            </a:br>
            <a:r>
              <a:rPr lang="pt-BR" dirty="0"/>
              <a:t>DE SEÇÃO</a:t>
            </a:r>
          </a:p>
        </p:txBody>
      </p:sp>
      <p:sp>
        <p:nvSpPr>
          <p:cNvPr id="13" name="Espaço Reservado para Conteúdo 4">
            <a:extLst>
              <a:ext uri="{FF2B5EF4-FFF2-40B4-BE49-F238E27FC236}">
                <a16:creationId xmlns:a16="http://schemas.microsoft.com/office/drawing/2014/main" id="{271D91BB-59F7-42EE-91A0-E9E7DAE29B4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99026" y="2655324"/>
            <a:ext cx="3848743" cy="3288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  <a:p>
            <a:pPr lvl="0"/>
            <a:endParaRPr lang="pt-BR" dirty="0"/>
          </a:p>
          <a:p>
            <a:pPr lvl="0"/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, </a:t>
            </a:r>
            <a:r>
              <a:rPr lang="pt-BR" dirty="0" err="1"/>
              <a:t>diam</a:t>
            </a:r>
            <a:r>
              <a:rPr lang="pt-BR" dirty="0"/>
              <a:t> vitae gravida </a:t>
            </a:r>
            <a:r>
              <a:rPr lang="pt-BR" dirty="0" err="1"/>
              <a:t>congue</a:t>
            </a:r>
            <a:r>
              <a:rPr lang="pt-BR" dirty="0"/>
              <a:t>, est sem </a:t>
            </a:r>
            <a:r>
              <a:rPr lang="pt-BR" dirty="0" err="1"/>
              <a:t>auctor</a:t>
            </a:r>
            <a:r>
              <a:rPr lang="pt-BR" dirty="0"/>
              <a:t> </a:t>
            </a:r>
            <a:r>
              <a:rPr lang="pt-BR" dirty="0" err="1"/>
              <a:t>orci</a:t>
            </a:r>
            <a:r>
              <a:rPr lang="pt-BR" dirty="0"/>
              <a:t>,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sem </a:t>
            </a:r>
            <a:r>
              <a:rPr lang="pt-BR" dirty="0" err="1"/>
              <a:t>orci</a:t>
            </a:r>
            <a:r>
              <a:rPr lang="pt-BR" dirty="0"/>
              <a:t> in </a:t>
            </a:r>
            <a:r>
              <a:rPr lang="pt-BR" dirty="0" err="1"/>
              <a:t>tellus</a:t>
            </a:r>
            <a:r>
              <a:rPr lang="pt-BR" dirty="0"/>
              <a:t>. </a:t>
            </a:r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habitant</a:t>
            </a:r>
            <a:r>
              <a:rPr lang="pt-BR" dirty="0"/>
              <a:t>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tristique</a:t>
            </a:r>
            <a:r>
              <a:rPr lang="pt-BR" dirty="0"/>
              <a:t> </a:t>
            </a:r>
            <a:r>
              <a:rPr lang="pt-BR" dirty="0" err="1"/>
              <a:t>senectus</a:t>
            </a:r>
            <a:r>
              <a:rPr lang="pt-BR" dirty="0"/>
              <a:t> et </a:t>
            </a:r>
            <a:r>
              <a:rPr lang="pt-BR" dirty="0" err="1"/>
              <a:t>netus</a:t>
            </a:r>
            <a:r>
              <a:rPr lang="pt-BR" dirty="0"/>
              <a:t> et </a:t>
            </a:r>
            <a:r>
              <a:rPr lang="pt-BR" dirty="0" err="1"/>
              <a:t>malesuada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8615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Forma&#10;&#10;O conteúdo gerado por IA pode estar incorreto.">
            <a:extLst>
              <a:ext uri="{FF2B5EF4-FFF2-40B4-BE49-F238E27FC236}">
                <a16:creationId xmlns:a16="http://schemas.microsoft.com/office/drawing/2014/main" id="{9D5AB3BD-B97C-7B52-83A2-3E5D5CD519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883A4AD6-7C2F-6DE8-E4EB-27627E6153B2}"/>
              </a:ext>
            </a:extLst>
          </p:cNvPr>
          <p:cNvCxnSpPr>
            <a:cxnSpLocks/>
          </p:cNvCxnSpPr>
          <p:nvPr userDrawn="1"/>
        </p:nvCxnSpPr>
        <p:spPr>
          <a:xfrm>
            <a:off x="5161560" y="3216203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D832A813-B17C-DC29-723C-8DADDB8A2DE0}"/>
              </a:ext>
            </a:extLst>
          </p:cNvPr>
          <p:cNvCxnSpPr>
            <a:cxnSpLocks/>
          </p:cNvCxnSpPr>
          <p:nvPr userDrawn="1"/>
        </p:nvCxnSpPr>
        <p:spPr>
          <a:xfrm>
            <a:off x="5161560" y="3666615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7950EE94-C4C8-17C8-8A38-D10AC5A0870E}"/>
              </a:ext>
            </a:extLst>
          </p:cNvPr>
          <p:cNvCxnSpPr>
            <a:cxnSpLocks/>
          </p:cNvCxnSpPr>
          <p:nvPr userDrawn="1"/>
        </p:nvCxnSpPr>
        <p:spPr>
          <a:xfrm>
            <a:off x="5161560" y="4078129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8422CA4-13D9-5447-94BF-81DFA61CFA8C}"/>
              </a:ext>
            </a:extLst>
          </p:cNvPr>
          <p:cNvSpPr/>
          <p:nvPr userDrawn="1"/>
        </p:nvSpPr>
        <p:spPr>
          <a:xfrm>
            <a:off x="5057617" y="2922847"/>
            <a:ext cx="5277795" cy="537509"/>
          </a:xfrm>
          <a:prstGeom prst="roundRect">
            <a:avLst>
              <a:gd name="adj" fmla="val 50000"/>
            </a:avLst>
          </a:prstGeom>
          <a:solidFill>
            <a:srgbClr val="432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F33C47C-7543-6136-48FE-FFD7D5569582}"/>
              </a:ext>
            </a:extLst>
          </p:cNvPr>
          <p:cNvSpPr/>
          <p:nvPr userDrawn="1"/>
        </p:nvSpPr>
        <p:spPr>
          <a:xfrm>
            <a:off x="6067590" y="3387232"/>
            <a:ext cx="4267822" cy="537511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00FC918-C448-6DF0-E954-B06797063FAB}"/>
              </a:ext>
            </a:extLst>
          </p:cNvPr>
          <p:cNvSpPr/>
          <p:nvPr userDrawn="1"/>
        </p:nvSpPr>
        <p:spPr>
          <a:xfrm>
            <a:off x="7000073" y="3784591"/>
            <a:ext cx="3335340" cy="537512"/>
          </a:xfrm>
          <a:prstGeom prst="roundRect">
            <a:avLst>
              <a:gd name="adj" fmla="val 50000"/>
            </a:avLst>
          </a:prstGeom>
          <a:solidFill>
            <a:srgbClr val="2652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756E2B9B-2FC7-4B61-8475-1E6F5501EE2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27463" y="1164272"/>
            <a:ext cx="10345783" cy="494711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r>
              <a:rPr lang="pt-BR" dirty="0" err="1"/>
              <a:t>TÍTULO</a:t>
            </a:r>
            <a:r>
              <a:rPr lang="pt-BR" dirty="0"/>
              <a:t> </a:t>
            </a:r>
            <a:r>
              <a:rPr lang="pt-BR" dirty="0" err="1"/>
              <a:t>TÍTULO</a:t>
            </a:r>
            <a:endParaRPr lang="pt-BR" dirty="0"/>
          </a:p>
        </p:txBody>
      </p:sp>
      <p:sp>
        <p:nvSpPr>
          <p:cNvPr id="21" name="Espaço Reservado para Conteúdo 4">
            <a:extLst>
              <a:ext uri="{FF2B5EF4-FFF2-40B4-BE49-F238E27FC236}">
                <a16:creationId xmlns:a16="http://schemas.microsoft.com/office/drawing/2014/main" id="{3B400B1A-A24E-4444-BD47-E24B33C087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2141" y="2178956"/>
            <a:ext cx="3050460" cy="28756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  <a:p>
            <a:pPr lvl="0"/>
            <a:endParaRPr lang="pt-BR" dirty="0"/>
          </a:p>
          <a:p>
            <a:pPr lvl="0"/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, </a:t>
            </a:r>
            <a:r>
              <a:rPr lang="pt-BR" dirty="0" err="1"/>
              <a:t>diam</a:t>
            </a:r>
            <a:r>
              <a:rPr lang="pt-BR" dirty="0"/>
              <a:t> vitae gravida </a:t>
            </a:r>
            <a:r>
              <a:rPr lang="pt-BR" dirty="0" err="1"/>
              <a:t>congue</a:t>
            </a:r>
            <a:r>
              <a:rPr lang="pt-BR" dirty="0"/>
              <a:t>, est sem </a:t>
            </a:r>
            <a:r>
              <a:rPr lang="pt-BR" dirty="0" err="1"/>
              <a:t>auctor</a:t>
            </a:r>
            <a:r>
              <a:rPr lang="pt-BR" dirty="0"/>
              <a:t> </a:t>
            </a:r>
            <a:r>
              <a:rPr lang="pt-BR" dirty="0" err="1"/>
              <a:t>orci</a:t>
            </a:r>
            <a:r>
              <a:rPr lang="pt-BR" dirty="0"/>
              <a:t>,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sem </a:t>
            </a:r>
            <a:r>
              <a:rPr lang="pt-BR" dirty="0" err="1"/>
              <a:t>orci</a:t>
            </a:r>
            <a:r>
              <a:rPr lang="pt-BR" dirty="0"/>
              <a:t> in </a:t>
            </a:r>
            <a:r>
              <a:rPr lang="pt-BR" dirty="0" err="1"/>
              <a:t>tellus</a:t>
            </a:r>
            <a:r>
              <a:rPr lang="pt-BR" dirty="0"/>
              <a:t>. </a:t>
            </a:r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habitant</a:t>
            </a:r>
            <a:r>
              <a:rPr lang="pt-BR" dirty="0"/>
              <a:t>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tristique</a:t>
            </a:r>
            <a:r>
              <a:rPr lang="pt-BR" dirty="0"/>
              <a:t> </a:t>
            </a:r>
            <a:r>
              <a:rPr lang="pt-BR" dirty="0" err="1"/>
              <a:t>senectus</a:t>
            </a:r>
            <a:r>
              <a:rPr lang="pt-BR" dirty="0"/>
              <a:t> et </a:t>
            </a:r>
            <a:r>
              <a:rPr lang="pt-BR" dirty="0" err="1"/>
              <a:t>netus</a:t>
            </a:r>
            <a:r>
              <a:rPr lang="pt-BR" dirty="0"/>
              <a:t> et </a:t>
            </a:r>
            <a:r>
              <a:rPr lang="pt-BR" dirty="0" err="1"/>
              <a:t>malesuada</a:t>
            </a:r>
            <a:r>
              <a:rPr lang="pt-BR" dirty="0"/>
              <a:t>.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9DA28D68-018D-419D-A736-E64ACB9206E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208200" y="3032630"/>
            <a:ext cx="4850199" cy="3073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  <p:sp>
        <p:nvSpPr>
          <p:cNvPr id="26" name="Espaço Reservado para Conteúdo 4">
            <a:extLst>
              <a:ext uri="{FF2B5EF4-FFF2-40B4-BE49-F238E27FC236}">
                <a16:creationId xmlns:a16="http://schemas.microsoft.com/office/drawing/2014/main" id="{431D2614-3827-4A58-A31E-D9102D6BE68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2644" y="3500419"/>
            <a:ext cx="3815756" cy="3361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  <p:sp>
        <p:nvSpPr>
          <p:cNvPr id="27" name="Espaço Reservado para Conteúdo 4">
            <a:extLst>
              <a:ext uri="{FF2B5EF4-FFF2-40B4-BE49-F238E27FC236}">
                <a16:creationId xmlns:a16="http://schemas.microsoft.com/office/drawing/2014/main" id="{5E3BB5D0-837A-4037-AC95-AB1D4F64986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20214" y="3902767"/>
            <a:ext cx="2938185" cy="3361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</p:spTree>
    <p:extLst>
      <p:ext uri="{BB962C8B-B14F-4D97-AF65-F5344CB8AC3E}">
        <p14:creationId xmlns:p14="http://schemas.microsoft.com/office/powerpoint/2010/main" val="1923941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8F673DBA-CB69-50BD-F973-A9E3A3FE15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Espaço Reservado para Conteúdo 4">
            <a:extLst>
              <a:ext uri="{FF2B5EF4-FFF2-40B4-BE49-F238E27FC236}">
                <a16:creationId xmlns:a16="http://schemas.microsoft.com/office/drawing/2014/main" id="{6BE41F8E-4F22-46F6-B0AE-D58832BE3FC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637006" y="780986"/>
            <a:ext cx="4391941" cy="111804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>
                <a:solidFill>
                  <a:schemeClr val="bg1">
                    <a:lumMod val="8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NOME </a:t>
            </a:r>
            <a:br>
              <a:rPr lang="pt-BR" dirty="0"/>
            </a:br>
            <a:r>
              <a:rPr lang="pt-BR" dirty="0"/>
              <a:t>DA SEÇÃO</a:t>
            </a:r>
          </a:p>
        </p:txBody>
      </p:sp>
      <p:sp>
        <p:nvSpPr>
          <p:cNvPr id="18" name="Espaço Reservado para Conteúdo 4">
            <a:extLst>
              <a:ext uri="{FF2B5EF4-FFF2-40B4-BE49-F238E27FC236}">
                <a16:creationId xmlns:a16="http://schemas.microsoft.com/office/drawing/2014/main" id="{180BB7B2-EE70-4E52-A5A7-0F7F00EFB29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37006" y="2245217"/>
            <a:ext cx="3848744" cy="31619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INTERTÍTULO 1</a:t>
            </a:r>
          </a:p>
        </p:txBody>
      </p:sp>
      <p:sp>
        <p:nvSpPr>
          <p:cNvPr id="19" name="Espaço Reservado para Conteúdo 4">
            <a:extLst>
              <a:ext uri="{FF2B5EF4-FFF2-40B4-BE49-F238E27FC236}">
                <a16:creationId xmlns:a16="http://schemas.microsoft.com/office/drawing/2014/main" id="{664A7BCC-13C8-4944-BAC9-E32ACD6D1E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37006" y="2589090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2" name="Espaço Reservado para Conteúdo 4">
            <a:extLst>
              <a:ext uri="{FF2B5EF4-FFF2-40B4-BE49-F238E27FC236}">
                <a16:creationId xmlns:a16="http://schemas.microsoft.com/office/drawing/2014/main" id="{D2F372CA-7A81-4DC0-9C08-38BBC4518D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37006" y="4362546"/>
            <a:ext cx="3848744" cy="31619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INTERTÍTULO 2</a:t>
            </a:r>
          </a:p>
        </p:txBody>
      </p:sp>
      <p:sp>
        <p:nvSpPr>
          <p:cNvPr id="23" name="Espaço Reservado para Conteúdo 4">
            <a:extLst>
              <a:ext uri="{FF2B5EF4-FFF2-40B4-BE49-F238E27FC236}">
                <a16:creationId xmlns:a16="http://schemas.microsoft.com/office/drawing/2014/main" id="{99641B3D-FFEC-4170-9DE3-5965CE430DC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637006" y="4706419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82311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Forma&#10;&#10;O conteúdo gerado por IA pode estar incorreto.">
            <a:extLst>
              <a:ext uri="{FF2B5EF4-FFF2-40B4-BE49-F238E27FC236}">
                <a16:creationId xmlns:a16="http://schemas.microsoft.com/office/drawing/2014/main" id="{3C9A769A-63A3-DE23-592B-55245BC352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750"/>
            <a:ext cx="12192000" cy="6866749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1E1C6F54-8EED-6A4A-951E-8F53058EBB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7" name="Espaço Reservado para Conteúdo 4">
            <a:extLst>
              <a:ext uri="{FF2B5EF4-FFF2-40B4-BE49-F238E27FC236}">
                <a16:creationId xmlns:a16="http://schemas.microsoft.com/office/drawing/2014/main" id="{39251BE9-618E-42E3-99D7-A7567BEAC4F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92701" y="2865601"/>
            <a:ext cx="3927494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4">
            <a:extLst>
              <a:ext uri="{FF2B5EF4-FFF2-40B4-BE49-F238E27FC236}">
                <a16:creationId xmlns:a16="http://schemas.microsoft.com/office/drawing/2014/main" id="{37BB87C6-3A52-4563-8FED-B6B3781BF21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2701" y="794269"/>
            <a:ext cx="3927494" cy="11180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000">
                <a:solidFill>
                  <a:schemeClr val="bg1">
                    <a:lumMod val="8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16" name="Espaço Reservado para Conteúdo 4">
            <a:extLst>
              <a:ext uri="{FF2B5EF4-FFF2-40B4-BE49-F238E27FC236}">
                <a16:creationId xmlns:a16="http://schemas.microsoft.com/office/drawing/2014/main" id="{74A45D75-7A9C-404D-BDF7-39D938D9204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31687" y="2271833"/>
            <a:ext cx="3927494" cy="111804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Tx/>
              <a:buChar char="•"/>
              <a:defRPr sz="1600">
                <a:solidFill>
                  <a:schemeClr val="bg1">
                    <a:lumMod val="85000"/>
                  </a:schemeClr>
                </a:solidFill>
                <a:latin typeface="Roboto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  <a:p>
            <a:pPr lvl="0"/>
            <a:r>
              <a:rPr lang="pt-BR" dirty="0"/>
              <a:t>ITEM 2</a:t>
            </a:r>
          </a:p>
          <a:p>
            <a:pPr lvl="0"/>
            <a:r>
              <a:rPr lang="pt-BR" dirty="0"/>
              <a:t>ITEM 3</a:t>
            </a:r>
          </a:p>
          <a:p>
            <a:pPr lvl="0"/>
            <a:r>
              <a:rPr lang="pt-BR" dirty="0"/>
              <a:t>ITEM 4</a:t>
            </a:r>
          </a:p>
          <a:p>
            <a:pPr lvl="0"/>
            <a:r>
              <a:rPr lang="pt-BR" dirty="0"/>
              <a:t>ITEM 5</a:t>
            </a:r>
          </a:p>
          <a:p>
            <a:pPr lvl="0"/>
            <a:r>
              <a:rPr lang="pt-BR" dirty="0"/>
              <a:t>ITEM 6</a:t>
            </a:r>
          </a:p>
          <a:p>
            <a:pPr lvl="0"/>
            <a:r>
              <a:rPr lang="pt-BR" dirty="0"/>
              <a:t>ITEM 7</a:t>
            </a:r>
          </a:p>
        </p:txBody>
      </p:sp>
    </p:spTree>
    <p:extLst>
      <p:ext uri="{BB962C8B-B14F-4D97-AF65-F5344CB8AC3E}">
        <p14:creationId xmlns:p14="http://schemas.microsoft.com/office/powerpoint/2010/main" val="3467792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A036B0A-933A-2985-8269-6345DAD892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45D534F8-C499-4401-B371-2922E2FC60F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815738" y="2608895"/>
            <a:ext cx="9013371" cy="82010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BB3FE49F-E596-4FC6-AC93-7944FFF7244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971518" y="3526859"/>
            <a:ext cx="6851751" cy="23514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Roboto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6226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id="{AF2EB98D-EF35-397E-FA18-F906466EB5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2B6F4DD1-33F3-4B49-95ED-C95B61876CA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76376" y="3916012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1" name="Espaço Reservado para Conteúdo 4">
            <a:extLst>
              <a:ext uri="{FF2B5EF4-FFF2-40B4-BE49-F238E27FC236}">
                <a16:creationId xmlns:a16="http://schemas.microsoft.com/office/drawing/2014/main" id="{141E17BE-679D-4780-A50B-95ABDEA8341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76375" y="3083044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  <a:br>
              <a:rPr lang="pt-BR" dirty="0"/>
            </a:br>
            <a:r>
              <a:rPr lang="pt-BR" dirty="0" err="1"/>
              <a:t>INTERTÍTULO</a:t>
            </a:r>
            <a:endParaRPr lang="pt-BR" dirty="0"/>
          </a:p>
        </p:txBody>
      </p:sp>
      <p:sp>
        <p:nvSpPr>
          <p:cNvPr id="24" name="Espaço Reservado para Conteúdo 4">
            <a:extLst>
              <a:ext uri="{FF2B5EF4-FFF2-40B4-BE49-F238E27FC236}">
                <a16:creationId xmlns:a16="http://schemas.microsoft.com/office/drawing/2014/main" id="{BB3C5678-B5DE-4BCA-900A-F36CE17308F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800601" y="482395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063FB4E0-9626-4EF4-806F-71DFF51C651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00600" y="3990985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</a:p>
        </p:txBody>
      </p:sp>
      <p:sp>
        <p:nvSpPr>
          <p:cNvPr id="26" name="Espaço Reservado para Conteúdo 4">
            <a:extLst>
              <a:ext uri="{FF2B5EF4-FFF2-40B4-BE49-F238E27FC236}">
                <a16:creationId xmlns:a16="http://schemas.microsoft.com/office/drawing/2014/main" id="{188B0BB6-CE3D-4850-B5D3-213A7B0CB1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4825" y="3122148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7" name="Espaço Reservado para Conteúdo 4">
            <a:extLst>
              <a:ext uri="{FF2B5EF4-FFF2-40B4-BE49-F238E27FC236}">
                <a16:creationId xmlns:a16="http://schemas.microsoft.com/office/drawing/2014/main" id="{07A0879C-E9A3-4A48-A4AC-1DE60387F7C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24824" y="2289180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  <a:br>
              <a:rPr lang="pt-BR" dirty="0"/>
            </a:br>
            <a:r>
              <a:rPr lang="pt-BR" dirty="0" err="1"/>
              <a:t>INTERTÍTULO</a:t>
            </a:r>
            <a:endParaRPr lang="pt-BR" dirty="0"/>
          </a:p>
        </p:txBody>
      </p:sp>
      <p:sp>
        <p:nvSpPr>
          <p:cNvPr id="28" name="Espaço Reservado para Conteúdo 4">
            <a:extLst>
              <a:ext uri="{FF2B5EF4-FFF2-40B4-BE49-F238E27FC236}">
                <a16:creationId xmlns:a16="http://schemas.microsoft.com/office/drawing/2014/main" id="{C93AF59E-0B59-41F7-8D76-870509D7AAF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85455" y="1040475"/>
            <a:ext cx="6734546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DO SLIDE</a:t>
            </a:r>
          </a:p>
          <a:p>
            <a:pPr lvl="0"/>
            <a:r>
              <a:rPr lang="pt-BR" dirty="0"/>
              <a:t>TÍTULO DO SLIDE</a:t>
            </a:r>
          </a:p>
        </p:txBody>
      </p:sp>
    </p:spTree>
    <p:extLst>
      <p:ext uri="{BB962C8B-B14F-4D97-AF65-F5344CB8AC3E}">
        <p14:creationId xmlns:p14="http://schemas.microsoft.com/office/powerpoint/2010/main" val="335595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 descr="Forma&#10;&#10;O conteúdo gerado por IA pode estar incorreto.">
            <a:extLst>
              <a:ext uri="{FF2B5EF4-FFF2-40B4-BE49-F238E27FC236}">
                <a16:creationId xmlns:a16="http://schemas.microsoft.com/office/drawing/2014/main" id="{412108E6-D36D-1E5D-A463-5DB8DA6A1B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82B24A9D-A588-4551-9139-9C6E041076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91887" y="378824"/>
            <a:ext cx="4602014" cy="612648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  <a:br>
              <a:rPr lang="pt-BR" dirty="0"/>
            </a:br>
            <a:r>
              <a:rPr lang="pt-BR" dirty="0" err="1"/>
              <a:t>TÍTULO</a:t>
            </a:r>
            <a:endParaRPr lang="pt-BR" dirty="0"/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24" name="Espaço Reservado para Conteúdo 4">
            <a:extLst>
              <a:ext uri="{FF2B5EF4-FFF2-40B4-BE49-F238E27FC236}">
                <a16:creationId xmlns:a16="http://schemas.microsoft.com/office/drawing/2014/main" id="{A21AE171-2175-4DAD-8189-61FFCBDB02B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92643" y="616721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56D3D759-453E-442D-AEC3-0FFF411B48A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788311" y="1023583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48" name="Espaço Reservado para Conteúdo 4">
            <a:extLst>
              <a:ext uri="{FF2B5EF4-FFF2-40B4-BE49-F238E27FC236}">
                <a16:creationId xmlns:a16="http://schemas.microsoft.com/office/drawing/2014/main" id="{8C3073B7-3423-46D9-8011-B23D48EB961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96653" y="616721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2</a:t>
            </a:r>
          </a:p>
        </p:txBody>
      </p:sp>
      <p:sp>
        <p:nvSpPr>
          <p:cNvPr id="49" name="Espaço Reservado para Conteúdo 4">
            <a:extLst>
              <a:ext uri="{FF2B5EF4-FFF2-40B4-BE49-F238E27FC236}">
                <a16:creationId xmlns:a16="http://schemas.microsoft.com/office/drawing/2014/main" id="{79C9CBE2-F540-4408-8EB3-A373311F163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792321" y="1023583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0" name="Espaço Reservado para Conteúdo 4">
            <a:extLst>
              <a:ext uri="{FF2B5EF4-FFF2-40B4-BE49-F238E27FC236}">
                <a16:creationId xmlns:a16="http://schemas.microsoft.com/office/drawing/2014/main" id="{7534DFE6-358C-4FF5-B3B9-6C34B07817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88289" y="2066007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3</a:t>
            </a:r>
          </a:p>
        </p:txBody>
      </p:sp>
      <p:sp>
        <p:nvSpPr>
          <p:cNvPr id="51" name="Espaço Reservado para Conteúdo 4">
            <a:extLst>
              <a:ext uri="{FF2B5EF4-FFF2-40B4-BE49-F238E27FC236}">
                <a16:creationId xmlns:a16="http://schemas.microsoft.com/office/drawing/2014/main" id="{2D4FC50B-1040-4A33-9D53-F74DFB48C83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783957" y="2472869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2" name="Espaço Reservado para Conteúdo 4">
            <a:extLst>
              <a:ext uri="{FF2B5EF4-FFF2-40B4-BE49-F238E27FC236}">
                <a16:creationId xmlns:a16="http://schemas.microsoft.com/office/drawing/2014/main" id="{F847EBBC-8153-4D80-BBEA-981CCB037D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392299" y="2066007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4</a:t>
            </a:r>
          </a:p>
        </p:txBody>
      </p:sp>
      <p:sp>
        <p:nvSpPr>
          <p:cNvPr id="53" name="Espaço Reservado para Conteúdo 4">
            <a:extLst>
              <a:ext uri="{FF2B5EF4-FFF2-40B4-BE49-F238E27FC236}">
                <a16:creationId xmlns:a16="http://schemas.microsoft.com/office/drawing/2014/main" id="{170C864E-D912-46D5-B580-C79231F833A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787967" y="2472869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4" name="Espaço Reservado para Conteúdo 4">
            <a:extLst>
              <a:ext uri="{FF2B5EF4-FFF2-40B4-BE49-F238E27FC236}">
                <a16:creationId xmlns:a16="http://schemas.microsoft.com/office/drawing/2014/main" id="{C4786A3E-B372-4DCC-B4F6-D10391BC6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392643" y="351529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5</a:t>
            </a:r>
          </a:p>
        </p:txBody>
      </p:sp>
      <p:sp>
        <p:nvSpPr>
          <p:cNvPr id="55" name="Espaço Reservado para Conteúdo 4">
            <a:extLst>
              <a:ext uri="{FF2B5EF4-FFF2-40B4-BE49-F238E27FC236}">
                <a16:creationId xmlns:a16="http://schemas.microsoft.com/office/drawing/2014/main" id="{B330D9FC-3804-478B-8B2F-BD1D550EB72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788311" y="3922155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6" name="Espaço Reservado para Conteúdo 4">
            <a:extLst>
              <a:ext uri="{FF2B5EF4-FFF2-40B4-BE49-F238E27FC236}">
                <a16:creationId xmlns:a16="http://schemas.microsoft.com/office/drawing/2014/main" id="{AADC77ED-B602-4D58-BF71-D63985E8F86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396653" y="351529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6</a:t>
            </a:r>
          </a:p>
        </p:txBody>
      </p:sp>
      <p:sp>
        <p:nvSpPr>
          <p:cNvPr id="57" name="Espaço Reservado para Conteúdo 4">
            <a:extLst>
              <a:ext uri="{FF2B5EF4-FFF2-40B4-BE49-F238E27FC236}">
                <a16:creationId xmlns:a16="http://schemas.microsoft.com/office/drawing/2014/main" id="{E912F27E-5DAD-40E4-A876-B9139A7C4862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792321" y="3922155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8" name="Espaço Reservado para Conteúdo 4">
            <a:extLst>
              <a:ext uri="{FF2B5EF4-FFF2-40B4-BE49-F238E27FC236}">
                <a16:creationId xmlns:a16="http://schemas.microsoft.com/office/drawing/2014/main" id="{70F43E27-89B9-4AFE-9DB9-4B4A0555AED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388289" y="4964579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7</a:t>
            </a:r>
          </a:p>
        </p:txBody>
      </p:sp>
      <p:sp>
        <p:nvSpPr>
          <p:cNvPr id="59" name="Espaço Reservado para Conteúdo 4">
            <a:extLst>
              <a:ext uri="{FF2B5EF4-FFF2-40B4-BE49-F238E27FC236}">
                <a16:creationId xmlns:a16="http://schemas.microsoft.com/office/drawing/2014/main" id="{7891A22C-0D7C-4E4E-B231-0A73D868DAF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783957" y="5371441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60" name="Espaço Reservado para Conteúdo 4">
            <a:extLst>
              <a:ext uri="{FF2B5EF4-FFF2-40B4-BE49-F238E27FC236}">
                <a16:creationId xmlns:a16="http://schemas.microsoft.com/office/drawing/2014/main" id="{9AA294D8-A530-4C47-987A-7D029688897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392299" y="4964579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8</a:t>
            </a:r>
          </a:p>
        </p:txBody>
      </p:sp>
      <p:sp>
        <p:nvSpPr>
          <p:cNvPr id="61" name="Espaço Reservado para Conteúdo 4">
            <a:extLst>
              <a:ext uri="{FF2B5EF4-FFF2-40B4-BE49-F238E27FC236}">
                <a16:creationId xmlns:a16="http://schemas.microsoft.com/office/drawing/2014/main" id="{14C76703-4040-4320-BD4F-1DD7CBE8C56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787967" y="5371441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63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C8A2A5EB-55E9-818C-5100-8E3EC4E96C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F3DFFE69-5EB8-470E-B99B-54A3FB6EE3A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49074" y="633344"/>
            <a:ext cx="2529556" cy="4616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spc="600">
                <a:solidFill>
                  <a:srgbClr val="21049A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NOME DA SEÇÃO</a:t>
            </a:r>
            <a:br>
              <a:rPr lang="pt-BR" dirty="0"/>
            </a:br>
            <a:r>
              <a:rPr lang="pt-BR" dirty="0"/>
              <a:t>NOME DA SEÇÃO</a:t>
            </a:r>
          </a:p>
        </p:txBody>
      </p:sp>
      <p:sp>
        <p:nvSpPr>
          <p:cNvPr id="29" name="Espaço Reservado para Conteúdo 4">
            <a:extLst>
              <a:ext uri="{FF2B5EF4-FFF2-40B4-BE49-F238E27FC236}">
                <a16:creationId xmlns:a16="http://schemas.microsoft.com/office/drawing/2014/main" id="{2F7B3AF4-B738-4398-B67B-6BBE8A527D5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7669" y="1789450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30" name="Espaço Reservado para Conteúdo 4">
            <a:extLst>
              <a:ext uri="{FF2B5EF4-FFF2-40B4-BE49-F238E27FC236}">
                <a16:creationId xmlns:a16="http://schemas.microsoft.com/office/drawing/2014/main" id="{5D35BA6E-193D-4880-99D4-D6E40313A35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386076" y="1789450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1" name="Espaço Reservado para Conteúdo 4">
            <a:extLst>
              <a:ext uri="{FF2B5EF4-FFF2-40B4-BE49-F238E27FC236}">
                <a16:creationId xmlns:a16="http://schemas.microsoft.com/office/drawing/2014/main" id="{58CA9FBA-C6F6-48B4-8054-37886D57B89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902119" y="1789450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2" name="Espaço Reservado para Conteúdo 4">
            <a:extLst>
              <a:ext uri="{FF2B5EF4-FFF2-40B4-BE49-F238E27FC236}">
                <a16:creationId xmlns:a16="http://schemas.microsoft.com/office/drawing/2014/main" id="{3B524203-EAD3-4477-9209-B4351264128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7421" y="1789450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2</a:t>
            </a:r>
          </a:p>
        </p:txBody>
      </p:sp>
      <p:sp>
        <p:nvSpPr>
          <p:cNvPr id="33" name="Espaço Reservado para Conteúdo 4">
            <a:extLst>
              <a:ext uri="{FF2B5EF4-FFF2-40B4-BE49-F238E27FC236}">
                <a16:creationId xmlns:a16="http://schemas.microsoft.com/office/drawing/2014/main" id="{01D447D5-A389-49AB-9939-1EC12515C6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025828" y="1789450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4" name="Espaço Reservado para Conteúdo 4">
            <a:extLst>
              <a:ext uri="{FF2B5EF4-FFF2-40B4-BE49-F238E27FC236}">
                <a16:creationId xmlns:a16="http://schemas.microsoft.com/office/drawing/2014/main" id="{B8D809D7-F1D1-4A2C-BB27-83433994B16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541871" y="1789450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5" name="Espaço Reservado para Conteúdo 4">
            <a:extLst>
              <a:ext uri="{FF2B5EF4-FFF2-40B4-BE49-F238E27FC236}">
                <a16:creationId xmlns:a16="http://schemas.microsoft.com/office/drawing/2014/main" id="{4705D9C3-A995-459D-AADF-DFDD6934707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77669" y="387656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3</a:t>
            </a:r>
          </a:p>
        </p:txBody>
      </p:sp>
      <p:sp>
        <p:nvSpPr>
          <p:cNvPr id="36" name="Espaço Reservado para Conteúdo 4">
            <a:extLst>
              <a:ext uri="{FF2B5EF4-FFF2-40B4-BE49-F238E27FC236}">
                <a16:creationId xmlns:a16="http://schemas.microsoft.com/office/drawing/2014/main" id="{48370BE8-A043-4995-BDFE-BDB113D9F98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1386076" y="3876563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7" name="Espaço Reservado para Conteúdo 4">
            <a:extLst>
              <a:ext uri="{FF2B5EF4-FFF2-40B4-BE49-F238E27FC236}">
                <a16:creationId xmlns:a16="http://schemas.microsoft.com/office/drawing/2014/main" id="{EF334FA5-EFEC-4880-AB74-FDA39A9CF32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902119" y="387656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8" name="Espaço Reservado para Conteúdo 4">
            <a:extLst>
              <a:ext uri="{FF2B5EF4-FFF2-40B4-BE49-F238E27FC236}">
                <a16:creationId xmlns:a16="http://schemas.microsoft.com/office/drawing/2014/main" id="{C62A379B-D566-4D7A-B047-927E5BA2A08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317421" y="387656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4</a:t>
            </a:r>
          </a:p>
        </p:txBody>
      </p:sp>
      <p:sp>
        <p:nvSpPr>
          <p:cNvPr id="39" name="Espaço Reservado para Conteúdo 4">
            <a:extLst>
              <a:ext uri="{FF2B5EF4-FFF2-40B4-BE49-F238E27FC236}">
                <a16:creationId xmlns:a16="http://schemas.microsoft.com/office/drawing/2014/main" id="{265B2327-F611-4CB3-B79A-22014E2BDC2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025828" y="3876563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40" name="Espaço Reservado para Conteúdo 4">
            <a:extLst>
              <a:ext uri="{FF2B5EF4-FFF2-40B4-BE49-F238E27FC236}">
                <a16:creationId xmlns:a16="http://schemas.microsoft.com/office/drawing/2014/main" id="{875ADBDB-708D-40FF-B05B-63F736D2AC8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541871" y="387656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64189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Forma, Retângulo&#10;&#10;O conteúdo gerado por IA pode estar incorreto.">
            <a:extLst>
              <a:ext uri="{FF2B5EF4-FFF2-40B4-BE49-F238E27FC236}">
                <a16:creationId xmlns:a16="http://schemas.microsoft.com/office/drawing/2014/main" id="{755604ED-8D58-1615-3BD2-70AE34C5B6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DD008399-5FBB-472F-8E3F-633534F80D1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27463" y="1492989"/>
            <a:ext cx="10345783" cy="494711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r>
              <a:rPr lang="pt-BR" dirty="0" err="1"/>
              <a:t>TÍTULO</a:t>
            </a:r>
            <a:r>
              <a:rPr lang="pt-BR" dirty="0"/>
              <a:t> </a:t>
            </a:r>
            <a:r>
              <a:rPr lang="pt-BR" dirty="0" err="1"/>
              <a:t>TÍTULO</a:t>
            </a:r>
            <a:endParaRPr lang="pt-BR" dirty="0"/>
          </a:p>
        </p:txBody>
      </p:sp>
      <p:sp>
        <p:nvSpPr>
          <p:cNvPr id="12" name="Espaço Reservado para Conteúdo 4">
            <a:extLst>
              <a:ext uri="{FF2B5EF4-FFF2-40B4-BE49-F238E27FC236}">
                <a16:creationId xmlns:a16="http://schemas.microsoft.com/office/drawing/2014/main" id="{22C20E1A-1706-435A-BF46-A7988122942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72937" y="2586445"/>
            <a:ext cx="3709852" cy="277856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Fusce quis lacus sit amet</a:t>
            </a:r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8CB7D53B-6460-4A34-8124-84C3FBD464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96150" y="2586445"/>
            <a:ext cx="3709850" cy="277856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Fusce quis lacus sit amet</a:t>
            </a:r>
          </a:p>
        </p:txBody>
      </p:sp>
    </p:spTree>
    <p:extLst>
      <p:ext uri="{BB962C8B-B14F-4D97-AF65-F5344CB8AC3E}">
        <p14:creationId xmlns:p14="http://schemas.microsoft.com/office/powerpoint/2010/main" val="103651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562E0AD-E4EE-02BD-8E08-C54B7CD54B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ADE5E87-BD9B-7C07-F239-DC95941763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5F91E17-4B22-43C4-BC9A-B85CBB295BD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85455" y="2973777"/>
            <a:ext cx="5972545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DO SLIDE</a:t>
            </a:r>
          </a:p>
          <a:p>
            <a:pPr lvl="0"/>
            <a:r>
              <a:rPr lang="pt-BR" dirty="0"/>
              <a:t>TÍTULO DO SLIDE</a:t>
            </a:r>
          </a:p>
        </p:txBody>
      </p:sp>
    </p:spTree>
    <p:extLst>
      <p:ext uri="{BB962C8B-B14F-4D97-AF65-F5344CB8AC3E}">
        <p14:creationId xmlns:p14="http://schemas.microsoft.com/office/powerpoint/2010/main" val="2802591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Logotipo&#10;&#10;O conteúdo gerado por IA pode estar incorreto.">
            <a:extLst>
              <a:ext uri="{FF2B5EF4-FFF2-40B4-BE49-F238E27FC236}">
                <a16:creationId xmlns:a16="http://schemas.microsoft.com/office/drawing/2014/main" id="{D5AE18F8-4C98-E987-C600-30B97C4E56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C2EFD695-3E61-27BB-FD99-9C489A1A73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C32784AB-7E2C-4D14-865A-F72AC13685F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58600" y="3821054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107E1770-8F3E-4B77-9943-2EEF8B2A66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49074" y="633344"/>
            <a:ext cx="2529556" cy="4616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spc="600">
                <a:solidFill>
                  <a:srgbClr val="21049A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NOME DA SEÇÃO</a:t>
            </a:r>
            <a:br>
              <a:rPr lang="pt-BR" dirty="0"/>
            </a:br>
            <a:r>
              <a:rPr lang="pt-BR" dirty="0"/>
              <a:t>NOME DA SEÇÃO</a:t>
            </a:r>
          </a:p>
        </p:txBody>
      </p:sp>
      <p:sp>
        <p:nvSpPr>
          <p:cNvPr id="16" name="Espaço Reservado para Conteúdo 4">
            <a:extLst>
              <a:ext uri="{FF2B5EF4-FFF2-40B4-BE49-F238E27FC236}">
                <a16:creationId xmlns:a16="http://schemas.microsoft.com/office/drawing/2014/main" id="{7F7E01A6-0BF4-4257-880E-0E0383602A4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58600" y="2503501"/>
            <a:ext cx="4933333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1BBAE76A-589A-1DC7-1848-FBCD1ED5F9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8EDDECBF-2EF9-4580-826D-41A2BE4FF0F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94594" y="1287772"/>
            <a:ext cx="6098785" cy="1670102"/>
          </a:xfrm>
          <a:prstGeom prst="rect">
            <a:avLst/>
          </a:prstGeom>
        </p:spPr>
        <p:txBody>
          <a:bodyPr numCol="2" spcCol="180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1895628F-1505-42BC-8AAC-324418E1197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094594" y="3900126"/>
            <a:ext cx="5708389" cy="1869743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Proin</a:t>
            </a:r>
            <a:r>
              <a:rPr lang="pt-BR" dirty="0"/>
              <a:t> </a:t>
            </a:r>
            <a:r>
              <a:rPr lang="pt-BR" dirty="0" err="1"/>
              <a:t>felis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, </a:t>
            </a:r>
            <a:r>
              <a:rPr lang="pt-BR" dirty="0" err="1"/>
              <a:t>pretium</a:t>
            </a:r>
            <a:r>
              <a:rPr lang="pt-BR" dirty="0"/>
              <a:t> </a:t>
            </a:r>
            <a:r>
              <a:rPr lang="pt-BR" dirty="0" err="1"/>
              <a:t>at</a:t>
            </a:r>
            <a:r>
              <a:rPr lang="pt-BR" dirty="0"/>
              <a:t> </a:t>
            </a:r>
            <a:r>
              <a:rPr lang="pt-BR" dirty="0" err="1"/>
              <a:t>ligula</a:t>
            </a:r>
            <a:r>
              <a:rPr lang="pt-BR" dirty="0"/>
              <a:t> et, </a:t>
            </a:r>
            <a:r>
              <a:rPr lang="pt-BR" dirty="0" err="1"/>
              <a:t>venenatis</a:t>
            </a:r>
            <a:r>
              <a:rPr lang="pt-BR" dirty="0"/>
              <a:t> </a:t>
            </a:r>
            <a:r>
              <a:rPr lang="pt-BR" dirty="0" err="1"/>
              <a:t>sollicitudin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pulvinar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626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04016A07-62CC-4FF1-A3F1-174AA42354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55A34FD8-10C0-48D2-935C-1995B1CAA5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418" t="-46144" b="-40859"/>
          <a:stretch>
            <a:fillRect/>
          </a:stretch>
        </p:blipFill>
        <p:spPr>
          <a:xfrm>
            <a:off x="8223477" y="4675844"/>
            <a:ext cx="3279336" cy="1945427"/>
          </a:xfrm>
          <a:prstGeom prst="rect">
            <a:avLst/>
          </a:prstGeom>
        </p:spPr>
      </p:pic>
      <p:sp>
        <p:nvSpPr>
          <p:cNvPr id="13" name="Espaço Reservado para Conteúdo 4">
            <a:extLst>
              <a:ext uri="{FF2B5EF4-FFF2-40B4-BE49-F238E27FC236}">
                <a16:creationId xmlns:a16="http://schemas.microsoft.com/office/drawing/2014/main" id="{4951D684-8E9D-4D85-AFF1-60D706CBB3C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98962" y="1561342"/>
            <a:ext cx="9794071" cy="11180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7200">
                <a:ln>
                  <a:solidFill>
                    <a:schemeClr val="bg1"/>
                  </a:solidFill>
                </a:ln>
                <a:noFill/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TEXTO FINAL</a:t>
            </a:r>
          </a:p>
        </p:txBody>
      </p:sp>
    </p:spTree>
    <p:extLst>
      <p:ext uri="{BB962C8B-B14F-4D97-AF65-F5344CB8AC3E}">
        <p14:creationId xmlns:p14="http://schemas.microsoft.com/office/powerpoint/2010/main" val="2348373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08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18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  <p:sldLayoutId id="2147483672" r:id="rId13"/>
    <p:sldLayoutId id="2147483673" r:id="rId14"/>
    <p:sldLayoutId id="214748367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28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34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cap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ckup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52450"/>
            <a:ext cx="2038350" cy="7010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905000"/>
            <a:ext cx="66675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 spc="160">
                <a:solidFill>
                  <a:srgbClr val="E94D1C"/>
                </a:solidFill>
                <a:latin typeface="Roboto"/>
              </a:rPr>
              <a:t>TRABALHO 3, APRESENTAÇÃO INTERMEDIÁRIA, TIME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74295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FFFFFF"/>
                </a:solidFill>
                <a:latin typeface="Roboto"/>
              </a:rPr>
              <a:t>App de gerenciamento</a:t>
            </a:r>
          </a:p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FFFFFF"/>
                </a:solidFill>
                <a:latin typeface="Roboto"/>
              </a:rPr>
              <a:t>de convites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848100"/>
            <a:ext cx="609600" cy="47625"/>
          </a:xfrm>
          <a:prstGeom prst="roundRect">
            <a:avLst>
              <a:gd name="adj" fmla="val 40000"/>
            </a:avLst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80" b="0" i="0">
                <a:solidFill>
                  <a:srgbClr val="D6CFF0"/>
                </a:solidFill>
                <a:latin typeface="Roboto"/>
              </a:rPr>
              <a:t>Convite por link, confirmação de presença e restrições alimentares. Evolução da implementação desde o Grau A.</a:t>
            </a:r>
          </a:p>
        </p:txBody>
      </p:sp>
      <p:pic>
        <p:nvPicPr>
          <p:cNvPr id="8" name="Picture 7" descr="c03-cap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0" y="1143000"/>
            <a:ext cx="2215006" cy="4572000"/>
          </a:xfrm>
          <a:prstGeom prst="rect">
            <a:avLst/>
          </a:prstGeom>
          <a:ln w="9525">
            <a:solidFill>
              <a:srgbClr val="6E59D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5800" y="5391150"/>
            <a:ext cx="266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 spc="140">
                <a:solidFill>
                  <a:srgbClr val="9C90D4"/>
                </a:solidFill>
                <a:latin typeface="Roboto"/>
              </a:rPr>
              <a:t>EQUIPE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581650"/>
            <a:ext cx="2667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80" b="0" i="0">
                <a:solidFill>
                  <a:srgbClr val="E0DBF2"/>
                </a:solidFill>
                <a:latin typeface="Roboto"/>
              </a:rPr>
              <a:t>Andreas Grings, Gabriel Tomasi</a:t>
            </a:r>
          </a:p>
          <a:p>
            <a:pPr algn="l">
              <a:lnSpc>
                <a:spcPct val="140000"/>
              </a:lnSpc>
            </a:pPr>
            <a:r>
              <a:rPr sz="980" b="0" i="0">
                <a:solidFill>
                  <a:srgbClr val="E0DBF2"/>
                </a:solidFill>
                <a:latin typeface="Roboto"/>
              </a:rPr>
              <a:t>Guilherme Toebe, Tiago Passos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2800" y="5391150"/>
            <a:ext cx="266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 spc="140">
                <a:solidFill>
                  <a:srgbClr val="9C90D4"/>
                </a:solidFill>
                <a:latin typeface="Roboto"/>
              </a:rPr>
              <a:t>DISCIPLINA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2800" y="5581650"/>
            <a:ext cx="2667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80" b="0" i="0">
                <a:solidFill>
                  <a:srgbClr val="E0DBF2"/>
                </a:solidFill>
                <a:latin typeface="Roboto"/>
              </a:rPr>
              <a:t>Arquitetura de Software</a:t>
            </a:r>
          </a:p>
          <a:p>
            <a:pPr algn="l">
              <a:lnSpc>
                <a:spcPct val="140000"/>
              </a:lnSpc>
            </a:pPr>
            <a:r>
              <a:rPr sz="980" b="0" i="0">
                <a:solidFill>
                  <a:srgbClr val="E0DBF2"/>
                </a:solidFill>
                <a:latin typeface="Roboto"/>
              </a:rPr>
              <a:t>Prof. Kleinner Farias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9800" y="5391150"/>
            <a:ext cx="266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 spc="140">
                <a:solidFill>
                  <a:srgbClr val="9C90D4"/>
                </a:solidFill>
                <a:latin typeface="Roboto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9800" y="5581650"/>
            <a:ext cx="2667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80" b="0" i="0">
                <a:solidFill>
                  <a:srgbClr val="E0DBF2"/>
                </a:solidFill>
                <a:latin typeface="Roboto"/>
              </a:rPr>
              <a:t>27/10/2026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O problema e os usuários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850" y="2855976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" y="2747010"/>
            <a:ext cx="101346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Quem organiza uma festa costuma juntar as confirmações pelo WhatsApp e perde a conta de quantas pessoas vêm, quantos acompanhantes cada uma leva e o que cada uma não pode comer.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850" y="3694938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50" y="3585972"/>
            <a:ext cx="101346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A anfitriã cria o convite, envia o link e acompanha as respostas.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850" y="4257294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4148328"/>
            <a:ext cx="101346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O convidado abre o link e responde sem criar conta.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850" y="481965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4710684"/>
            <a:ext cx="101346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O buffet recebe a lista de restrições alimentares.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Problema e escopo, Andreas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Escopo do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4611"/>
            <a:ext cx="314325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FUNCIONALIDADE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500" y="2144611"/>
            <a:ext cx="75057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O QUE PERMITE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73211"/>
            <a:ext cx="10820400" cy="19050"/>
          </a:xfrm>
          <a:prstGeom prst="rect">
            <a:avLst/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25611"/>
            <a:ext cx="2971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Conta do anfitrião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2525611"/>
            <a:ext cx="73342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Criar conta e entrar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887066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010891"/>
            <a:ext cx="2971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Criação do convite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500" y="3010891"/>
            <a:ext cx="73342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Preencher os dados da festa, escolher template e cores e ver a prévia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372345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96170"/>
            <a:ext cx="2971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Compartilhamento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0500" y="3496170"/>
            <a:ext cx="73342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Publicar, copiar o link e despublicar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857625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81450"/>
            <a:ext cx="2971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Confirmação de presença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500" y="3981450"/>
            <a:ext cx="73342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Responder sem conta, informar acompanhantes e alterar depois pelo link pessoal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342905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466730"/>
            <a:ext cx="2971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Restrições alimentares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0500" y="4466730"/>
            <a:ext cx="73342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Informar a restrição. Alergia pede descrição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828184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952009"/>
            <a:ext cx="2971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Painel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4952009"/>
            <a:ext cx="73342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Ver a lista de presença e exportar as restrições em CSV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313464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Problema e escopo, Andreas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Linha do tempo do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028950"/>
            <a:ext cx="10820400" cy="2857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11300" y="29622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238500"/>
            <a:ext cx="1803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Sprint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3505200"/>
            <a:ext cx="16891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18/08 a 31/08</a:t>
            </a:r>
          </a:p>
          <a:p>
            <a:pPr algn="ctr">
              <a:lnSpc>
                <a:spcPct val="13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Requisitos e casos de uso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4700" y="29622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9200" y="3238500"/>
            <a:ext cx="1803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6350" y="3505200"/>
            <a:ext cx="16891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01/09 a 14/09</a:t>
            </a:r>
          </a:p>
          <a:p>
            <a:pPr algn="ctr">
              <a:lnSpc>
                <a:spcPct val="13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Arquitetura e decisões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8100" y="29622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2600" y="3238500"/>
            <a:ext cx="1803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Sprint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9750" y="3505200"/>
            <a:ext cx="16891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15/09 a 28/09</a:t>
            </a:r>
          </a:p>
          <a:p>
            <a:pPr algn="ctr">
              <a:lnSpc>
                <a:spcPct val="13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Documento de arquitetura e protótipo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21500" y="29622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0" y="3238500"/>
            <a:ext cx="1803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Sprint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150" y="3505200"/>
            <a:ext cx="16891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06/10 a 19/10</a:t>
            </a:r>
          </a:p>
          <a:p>
            <a:pPr algn="ctr">
              <a:lnSpc>
                <a:spcPct val="13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Base do projeto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24900" y="29622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9400" y="3238500"/>
            <a:ext cx="1803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Sprint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6550" y="3505200"/>
            <a:ext cx="16891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20/10 a 02/11</a:t>
            </a:r>
          </a:p>
          <a:p>
            <a:pPr algn="ctr">
              <a:lnSpc>
                <a:spcPct val="13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Integração front e 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28300" y="29622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02800" y="3238500"/>
            <a:ext cx="1803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Sprint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9950" y="3505200"/>
            <a:ext cx="16891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03/11 a 16/11</a:t>
            </a:r>
          </a:p>
          <a:p>
            <a:pPr algn="ctr">
              <a:lnSpc>
                <a:spcPct val="13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Consolidação e Pitch Final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629150"/>
            <a:ext cx="28575" cy="238887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6300" y="4610100"/>
            <a:ext cx="10477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20" b="0" i="0">
                <a:solidFill>
                  <a:srgbClr val="1A1A1E"/>
                </a:solidFill>
                <a:latin typeface="Roboto"/>
              </a:rPr>
              <a:t>Sprints 1 a 3, Grau A: documentação e protótipo. Sprints 4 a 6, Grau B: implementação.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Problema e escopo, Andreas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Diagrama de camadas</a:t>
            </a:r>
          </a:p>
        </p:txBody>
      </p:sp>
      <p:pic>
        <p:nvPicPr>
          <p:cNvPr id="4" name="Picture 3" descr="diagrama-de-camadas-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08455"/>
            <a:ext cx="10820400" cy="190784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Arquitetura, Tiago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Diagrama de componentes</a:t>
            </a:r>
          </a:p>
        </p:txBody>
      </p:sp>
      <p:pic>
        <p:nvPicPr>
          <p:cNvPr id="4" name="Picture 3" descr="diagrama-de-componentes-slid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5875"/>
            <a:ext cx="5242105" cy="362915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95300" y="5510275"/>
            <a:ext cx="562310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0" i="0">
                <a:solidFill>
                  <a:srgbClr val="6B6B78"/>
                </a:solidFill>
                <a:latin typeface="Roboto"/>
              </a:rPr>
              <a:t>Front e camada de Apresentação</a:t>
            </a:r>
          </a:p>
        </p:txBody>
      </p:sp>
      <p:pic>
        <p:nvPicPr>
          <p:cNvPr id="6" name="Picture 5" descr="diagrama-de-componentes-slide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705" y="1785875"/>
            <a:ext cx="5273495" cy="362915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042205" y="5510275"/>
            <a:ext cx="56544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0" i="0">
                <a:solidFill>
                  <a:srgbClr val="6B6B78"/>
                </a:solidFill>
                <a:latin typeface="Roboto"/>
              </a:rPr>
              <a:t>Camadas de Domínio e de Dados, e o banco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Arquitetura, Tiago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Diagrama de implantação</a:t>
            </a:r>
          </a:p>
        </p:txBody>
      </p:sp>
      <p:pic>
        <p:nvPicPr>
          <p:cNvPr id="4" name="Picture 3" descr="diagrama-de-implantacao-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885" y="1428750"/>
            <a:ext cx="7966229" cy="466725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Arquitetura, Tiago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Lint e integração contínua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850" y="241154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" y="2307526"/>
            <a:ext cx="53340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O lint recusa import que quebra a regra de camadas: o Domínio não importa da Apresentação, e os Dados não importam de nenhuma camada de cima.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850" y="3451289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50" y="3347276"/>
            <a:ext cx="53340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Em todo PR, a integração contínua roda lint, formatação, tipos, testes contra um PostgreSQL e build.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850" y="4227004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4122992"/>
            <a:ext cx="53340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A mesma integração constrói as imagens da API, do front e do mock.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850" y="500272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4898708"/>
            <a:ext cx="53340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Um segundo arquivo do compose troca a API por um mock, para trabalhar nas telas sem banco.</a:t>
            </a:r>
          </a:p>
        </p:txBody>
      </p:sp>
      <p:pic>
        <p:nvPicPr>
          <p:cNvPr id="12" name="Picture 11" descr="c11-ci-recor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50" y="2566541"/>
            <a:ext cx="4819650" cy="2334518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496050" y="4977259"/>
            <a:ext cx="520065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6B6B78"/>
                </a:solidFill>
                <a:latin typeface="Roboto"/>
              </a:rPr>
              <a:t>Checks de um PR no GitHub, em 26/10/2026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Arquitetura, Tiago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Telas do front-end</a:t>
            </a:r>
          </a:p>
        </p:txBody>
      </p:sp>
      <p:pic>
        <p:nvPicPr>
          <p:cNvPr id="4" name="Picture 3" descr="c02-ed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655" y="1819275"/>
            <a:ext cx="6096000" cy="38100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92155" y="5724525"/>
            <a:ext cx="647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0" i="0">
                <a:solidFill>
                  <a:srgbClr val="6B6B78"/>
                </a:solidFill>
                <a:latin typeface="Roboto"/>
              </a:rPr>
              <a:t>Editor do convite, com a prévia</a:t>
            </a:r>
          </a:p>
        </p:txBody>
      </p:sp>
      <p:pic>
        <p:nvPicPr>
          <p:cNvPr id="6" name="Picture 5" descr="c03-conv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455" y="1819275"/>
            <a:ext cx="1760545" cy="38100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192955" y="5724525"/>
            <a:ext cx="214154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0" i="0">
                <a:solidFill>
                  <a:srgbClr val="6B6B78"/>
                </a:solidFill>
                <a:latin typeface="Roboto"/>
              </a:rPr>
              <a:t>Convite no celular</a:t>
            </a:r>
          </a:p>
        </p:txBody>
      </p:sp>
      <p:pic>
        <p:nvPicPr>
          <p:cNvPr id="8" name="Picture 7" descr="c04-respos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800" y="1819275"/>
            <a:ext cx="1760545" cy="38100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9258300" y="5724525"/>
            <a:ext cx="214154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0" i="0">
                <a:solidFill>
                  <a:srgbClr val="6B6B78"/>
                </a:solidFill>
                <a:latin typeface="Roboto"/>
              </a:rPr>
              <a:t>Resposta enviada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Front-end, Guilherme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Mudanças no front para seguir a 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29891"/>
            <a:ext cx="2286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PONTO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43250" y="2629891"/>
            <a:ext cx="390525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NO PROTÓTIPO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0" y="2629891"/>
            <a:ext cx="42672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HOJE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858491"/>
            <a:ext cx="10820400" cy="19050"/>
          </a:xfrm>
          <a:prstGeom prst="rect">
            <a:avLst/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010891"/>
            <a:ext cx="21145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Vagas na página pública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3250" y="3010891"/>
            <a:ext cx="3733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Mostrava quantas vagas restavam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0" y="3010891"/>
            <a:ext cx="4095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Sem contagem. A lotação só aparece na recusa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372345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496170"/>
            <a:ext cx="21145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CSV para o buffet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3250" y="3496170"/>
            <a:ext cx="3733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Montado no navegador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0" y="3496170"/>
            <a:ext cx="4095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Gerado pela API, com proteção contra fórmulas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857625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81450"/>
            <a:ext cx="21145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Sessão do anfitrião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3250" y="3981450"/>
            <a:ext cx="3733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Token guardado no navegador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0" y="3981450"/>
            <a:ext cx="4095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Cookie de sessão. O front não guarda token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342905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66730"/>
            <a:ext cx="21145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Limites do formulário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3250" y="4466730"/>
            <a:ext cx="3733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Conferidos só na tela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0" y="4466730"/>
            <a:ext cx="4095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A tela limita os campos, e a API valida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828184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Front-end, Guilherme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Regras da arquitetura no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54703"/>
            <a:ext cx="43815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REGRA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654703"/>
            <a:ext cx="61722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ONDE FICA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883303"/>
            <a:ext cx="10820400" cy="19050"/>
          </a:xfrm>
          <a:prstGeom prst="rect">
            <a:avLst/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35703"/>
            <a:ext cx="4210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Quem não tem acesso não descobre se um convite existe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0" y="3035703"/>
            <a:ext cx="6000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No Domínio e na Apresentação. Link inválido, convite despublicado e convite de outro anfitrião dão o mesmo 404, com o mesmo corpo e cabeçalho, conferido por um teste de ponta a ponta.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832812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956637"/>
            <a:ext cx="4210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Sessão do anfitrião em cookie assinado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0" y="3956637"/>
            <a:ext cx="6000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Na Apresentação. O front não guarda token.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318092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441917"/>
            <a:ext cx="4210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Link do convite gerado no Domínio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0" y="4441917"/>
            <a:ext cx="6000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No Domínio, com gerador seguro, na primeira publicação. Nunca no navegador.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803372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Back-end, Gabriel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Caminho de uma resposta na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19275"/>
            <a:ext cx="10820400" cy="1066800"/>
          </a:xfrm>
          <a:prstGeom prst="roundRect">
            <a:avLst>
              <a:gd name="adj" fmla="val 3571"/>
            </a:avLst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819275"/>
            <a:ext cx="1295400" cy="1066800"/>
          </a:xfrm>
          <a:prstGeom prst="roundRect">
            <a:avLst>
              <a:gd name="adj" fmla="val 3571"/>
            </a:avLst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38375"/>
            <a:ext cx="129540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Apresentação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62275"/>
            <a:ext cx="10820400" cy="1066800"/>
          </a:xfrm>
          <a:prstGeom prst="roundRect">
            <a:avLst>
              <a:gd name="adj" fmla="val 3571"/>
            </a:avLst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962275"/>
            <a:ext cx="1295400" cy="1066800"/>
          </a:xfrm>
          <a:prstGeom prst="roundRect">
            <a:avLst>
              <a:gd name="adj" fmla="val 3571"/>
            </a:avLst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381375"/>
            <a:ext cx="129540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Domínio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105275"/>
            <a:ext cx="10820400" cy="1066800"/>
          </a:xfrm>
          <a:prstGeom prst="roundRect">
            <a:avLst>
              <a:gd name="adj" fmla="val 3571"/>
            </a:avLst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4105275"/>
            <a:ext cx="1295400" cy="1066800"/>
          </a:xfrm>
          <a:prstGeom prst="roundRect">
            <a:avLst>
              <a:gd name="adj" fmla="val 3571"/>
            </a:avLst>
          </a:prstGeom>
          <a:solidFill>
            <a:srgbClr val="6B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524375"/>
            <a:ext cx="129540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Dados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14550" y="1914525"/>
            <a:ext cx="1232807" cy="87630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9050">
            <a:solidFill>
              <a:srgbClr val="210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00275" y="1971675"/>
            <a:ext cx="1061357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Confere o formato e o limite de tráfego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61657" y="3057525"/>
            <a:ext cx="1232807" cy="87630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9050">
            <a:solidFill>
              <a:srgbClr val="E9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382" y="3114675"/>
            <a:ext cx="1061357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Aplica as regras da resposta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8764" y="3057525"/>
            <a:ext cx="1232807" cy="87630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9050">
            <a:solidFill>
              <a:srgbClr val="E9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4489" y="3114675"/>
            <a:ext cx="1061357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Calcula as vagas pedidas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5871" y="4200525"/>
            <a:ext cx="1232807" cy="87630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9050">
            <a:solidFill>
              <a:srgbClr val="6B6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1596" y="4257675"/>
            <a:ext cx="1061357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Trava o convite e soma as vagas ocupadas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02979" y="4200525"/>
            <a:ext cx="1232807" cy="87630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9050">
            <a:solidFill>
              <a:srgbClr val="6B6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8704" y="4257675"/>
            <a:ext cx="1061357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Confere o teto e grava, ou devolve a recusa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0086" y="3057525"/>
            <a:ext cx="1232807" cy="87630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9050">
            <a:solidFill>
              <a:srgbClr val="E9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35811" y="3114675"/>
            <a:ext cx="1061357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Dá nome à recusa: convite lotado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97193" y="1914525"/>
            <a:ext cx="1232807" cy="87630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9050">
            <a:solidFill>
              <a:srgbClr val="210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2918" y="1971675"/>
            <a:ext cx="1061357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Responde com o link pessoal ou com o erro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347357" y="2352675"/>
            <a:ext cx="57150" cy="0"/>
          </a:xfrm>
          <a:prstGeom prst="line">
            <a:avLst/>
          </a:prstGeom>
          <a:ln w="19050">
            <a:solidFill>
              <a:srgbClr val="6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404507" y="2352675"/>
            <a:ext cx="0" cy="1143000"/>
          </a:xfrm>
          <a:prstGeom prst="line">
            <a:avLst/>
          </a:prstGeom>
          <a:ln w="19050">
            <a:solidFill>
              <a:srgbClr val="6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404507" y="3495675"/>
            <a:ext cx="57150" cy="0"/>
          </a:xfrm>
          <a:prstGeom prst="line">
            <a:avLst/>
          </a:prstGeom>
          <a:ln w="19050">
            <a:solidFill>
              <a:srgbClr val="6B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694464" y="3495675"/>
            <a:ext cx="114300" cy="0"/>
          </a:xfrm>
          <a:prstGeom prst="line">
            <a:avLst/>
          </a:prstGeom>
          <a:ln w="19050">
            <a:solidFill>
              <a:srgbClr val="6B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41571" y="3495675"/>
            <a:ext cx="57150" cy="0"/>
          </a:xfrm>
          <a:prstGeom prst="line">
            <a:avLst/>
          </a:prstGeom>
          <a:ln w="19050">
            <a:solidFill>
              <a:srgbClr val="6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98721" y="3495675"/>
            <a:ext cx="0" cy="1143000"/>
          </a:xfrm>
          <a:prstGeom prst="line">
            <a:avLst/>
          </a:prstGeom>
          <a:ln w="19050">
            <a:solidFill>
              <a:srgbClr val="6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098721" y="4638675"/>
            <a:ext cx="57150" cy="0"/>
          </a:xfrm>
          <a:prstGeom prst="line">
            <a:avLst/>
          </a:prstGeom>
          <a:ln w="19050">
            <a:solidFill>
              <a:srgbClr val="6B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388679" y="4638675"/>
            <a:ext cx="114300" cy="0"/>
          </a:xfrm>
          <a:prstGeom prst="line">
            <a:avLst/>
          </a:prstGeom>
          <a:ln w="19050">
            <a:solidFill>
              <a:srgbClr val="6B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735786" y="4638675"/>
            <a:ext cx="57150" cy="0"/>
          </a:xfrm>
          <a:prstGeom prst="line">
            <a:avLst/>
          </a:prstGeom>
          <a:ln w="19050">
            <a:solidFill>
              <a:srgbClr val="6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792936" y="3495675"/>
            <a:ext cx="0" cy="1143000"/>
          </a:xfrm>
          <a:prstGeom prst="line">
            <a:avLst/>
          </a:prstGeom>
          <a:ln w="19050">
            <a:solidFill>
              <a:srgbClr val="6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92936" y="3495675"/>
            <a:ext cx="57150" cy="0"/>
          </a:xfrm>
          <a:prstGeom prst="line">
            <a:avLst/>
          </a:prstGeom>
          <a:ln w="19050">
            <a:solidFill>
              <a:srgbClr val="6B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082893" y="3495675"/>
            <a:ext cx="57150" cy="0"/>
          </a:xfrm>
          <a:prstGeom prst="line">
            <a:avLst/>
          </a:prstGeom>
          <a:ln w="19050">
            <a:solidFill>
              <a:srgbClr val="6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140043" y="2352675"/>
            <a:ext cx="0" cy="1143000"/>
          </a:xfrm>
          <a:prstGeom prst="line">
            <a:avLst/>
          </a:prstGeom>
          <a:ln w="19050">
            <a:solidFill>
              <a:srgbClr val="6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140043" y="2352675"/>
            <a:ext cx="57150" cy="0"/>
          </a:xfrm>
          <a:prstGeom prst="line">
            <a:avLst/>
          </a:prstGeom>
          <a:ln w="19050">
            <a:solidFill>
              <a:srgbClr val="6B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85800" y="5562021"/>
            <a:ext cx="28575" cy="457779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6300" y="5542971"/>
            <a:ext cx="10629900" cy="5911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3A3A44"/>
                </a:solidFill>
                <a:latin typeface="Roboto"/>
              </a:rPr>
              <a:t>“Sim” ocupa uma vaga para o convidado e uma para cada acompanhante. “Talvez” e “Não” não ocupam vaga. “Não” zera acompanhantes e observação. Alergia exige descrição.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Back-end, Gabriel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Testes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84096"/>
            <a:ext cx="314325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TESTES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500" y="2384096"/>
            <a:ext cx="75057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O QUE COBREM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612696"/>
            <a:ext cx="10820400" cy="19050"/>
          </a:xfrm>
          <a:prstGeom prst="rect">
            <a:avLst/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65096"/>
            <a:ext cx="2971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Regras do Domínio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2765096"/>
            <a:ext cx="73342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Vagas pedidas por resposta, o não vou zerando acompanhantes e observação, descrição da alergia, data comparada por dia no fuso do projeto e publicação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337777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461602"/>
            <a:ext cx="2971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Consultas no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500" y="3461602"/>
            <a:ext cx="73342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Gravação dentro do teto e concorrência: quatro respostas simultâneas pedindo duas vagas cada, num teto de cinco. Passam duas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034283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58108"/>
            <a:ext cx="2971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Rotas de ponta a ponta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0500" y="4158108"/>
            <a:ext cx="73342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O fluxo completo, e o mesmo 404 para link inválido, convite despublicado e convite de outro anfitrião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730789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5809960"/>
            <a:ext cx="28575" cy="20984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6300" y="5790910"/>
            <a:ext cx="10629900" cy="343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3A3A44"/>
                </a:solidFill>
                <a:latin typeface="Roboto"/>
              </a:rPr>
              <a:t>Todos rodam na integração contínua, a cada PR, com um PostgreSQL de serviço.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Back-end, Gabriel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Dificuldades encontradas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850" y="2441067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" y="2332101"/>
            <a:ext cx="101346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O front e o back foram feitos em paralelo, fora da main, e precisaram ser adaptados ao pacote de tipos e às camadas para entrar.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850" y="3280029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50" y="3171063"/>
            <a:ext cx="101346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O protótipo do front foi feito numa ferramenta de prototipação, fora da base do projeto, e contava vagas, montava o CSV e guardava o token na própria tela.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850" y="4118991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4010025"/>
            <a:ext cx="101346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Na primeira versão do back-end, a regra das vagas estava na consulta SQL da camada de Dados. O cálculo foi movido para o Domínio.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850" y="4957953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4848987"/>
            <a:ext cx="101346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Faríamos diferente: fazer as telas já sobre o pacote de tipos, que existia desde o início da Sprint 4, e juntar front e back nessa mesma sprint.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Back-end, Gabriel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se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u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866900"/>
            <a:ext cx="97155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900" b="1" i="0">
                <a:solidFill>
                  <a:srgbClr val="FFFFFF"/>
                </a:solidFill>
                <a:latin typeface="Roboto"/>
              </a:rPr>
              <a:t>Demonstração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Roboto"/>
              </a:rPr>
              <a:t>Demonstração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Organização do trabalho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850" y="2799398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" y="2695384"/>
            <a:ext cx="50482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Sprints de duas semanas, acompanhadas no quadro Kanban do Azure Boards. Cada história foi dividida em tarefas de tela e de API.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850" y="3839147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50" y="3735134"/>
            <a:ext cx="50482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Conversamos pelo WhatsApp e nas aulas. As decisões ficam na documentação do repositório.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850" y="4614863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4510850"/>
            <a:ext cx="50482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Cada mudança entra na main por PR, depois que a integração contínua passa.</a:t>
            </a:r>
          </a:p>
        </p:txBody>
      </p:sp>
      <p:pic>
        <p:nvPicPr>
          <p:cNvPr id="10" name="Picture 9" descr="c10-kanb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724" y="1676400"/>
            <a:ext cx="4021553" cy="41910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752224" y="5943600"/>
            <a:ext cx="4402553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6B6B78"/>
                </a:solidFill>
                <a:latin typeface="Roboto"/>
              </a:rPr>
              <a:t>Quadro Kanban no Azure Boards, em 26/10/2026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Organização, Guilherme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Planejamento até a apresentação final, em 17/11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850" y="2713101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" y="2604135"/>
            <a:ext cx="101346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Revisar os artefatos das Sprints 1 a 3 contra o código, história por história.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850" y="3275457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50" y="3166491"/>
            <a:ext cx="101346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Desenhar o diagrama de sequência da lista de presença, que faltou no Grau 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850" y="3837813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3728847"/>
            <a:ext cx="101346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Completar o protótipo de baixa fidelidade da Sprint 3 a partir das telas reais.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850" y="4400169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4291203"/>
            <a:ext cx="101346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Dar o aval do time às decisões novas da arquitetura.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850" y="4962525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550" y="4853559"/>
            <a:ext cx="101346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Preparar e ensaiar o Pitch Final.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Planejamento, Guilherme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se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u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1638300"/>
            <a:ext cx="38100" cy="1714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800" y="160020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1" i="0" spc="160">
                <a:solidFill>
                  <a:srgbClr val="FFFFFF"/>
                </a:solidFill>
                <a:latin typeface="Roboto"/>
              </a:rPr>
              <a:t>TIME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66900"/>
            <a:ext cx="97155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900" b="1" i="0">
                <a:solidFill>
                  <a:srgbClr val="FFFFFF"/>
                </a:solidFill>
                <a:latin typeface="Roboto"/>
              </a:rPr>
              <a:t>Perguntas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9850"/>
            <a:ext cx="8572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0" b="0" i="0">
                <a:solidFill>
                  <a:srgbClr val="E2DEF5"/>
                </a:solidFill>
                <a:latin typeface="Roboto"/>
              </a:rPr>
              <a:t>Andreas Grings: problema, requisitos e evolução do projeto</a:t>
            </a:r>
          </a:p>
          <a:p>
            <a:pPr algn="l">
              <a:lnSpc>
                <a:spcPct val="150000"/>
              </a:lnSpc>
            </a:pPr>
            <a:r>
              <a:rPr sz="1420" b="0" i="0">
                <a:solidFill>
                  <a:srgbClr val="E2DEF5"/>
                </a:solidFill>
                <a:latin typeface="Roboto"/>
              </a:rPr>
              <a:t>Tiago Passos: arquitetura, Docker e GitHub</a:t>
            </a:r>
          </a:p>
          <a:p>
            <a:pPr algn="l">
              <a:lnSpc>
                <a:spcPct val="150000"/>
              </a:lnSpc>
            </a:pPr>
            <a:r>
              <a:rPr sz="1420" b="0" i="0">
                <a:solidFill>
                  <a:srgbClr val="E2DEF5"/>
                </a:solidFill>
                <a:latin typeface="Roboto"/>
              </a:rPr>
              <a:t>Guilherme Toebe: front-end, organização e planejamento</a:t>
            </a:r>
          </a:p>
          <a:p>
            <a:pPr algn="l">
              <a:lnSpc>
                <a:spcPct val="150000"/>
              </a:lnSpc>
            </a:pPr>
            <a:r>
              <a:rPr sz="1420" b="0" i="0">
                <a:solidFill>
                  <a:srgbClr val="E2DEF5"/>
                </a:solidFill>
                <a:latin typeface="Roboto"/>
              </a:rPr>
              <a:t>Gabriel Tomasi: back-end, regras e testes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Roboto"/>
              </a:rPr>
              <a:t>Perguntas, Guilherme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Telas do anfitrião</a:t>
            </a:r>
          </a:p>
        </p:txBody>
      </p:sp>
      <p:pic>
        <p:nvPicPr>
          <p:cNvPr id="4" name="Picture 3" descr="c01-entr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14368"/>
            <a:ext cx="5257800" cy="3286125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95300" y="5195743"/>
            <a:ext cx="563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0" i="0">
                <a:solidFill>
                  <a:srgbClr val="6B6B78"/>
                </a:solidFill>
                <a:latin typeface="Roboto"/>
              </a:rPr>
              <a:t>Tela de entrada, com o acesso ao cadastro</a:t>
            </a:r>
          </a:p>
        </p:txBody>
      </p:sp>
      <p:pic>
        <p:nvPicPr>
          <p:cNvPr id="6" name="Picture 5" descr="c08-lis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814368"/>
            <a:ext cx="5257800" cy="3286125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057900" y="5195743"/>
            <a:ext cx="563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0" i="0">
                <a:solidFill>
                  <a:srgbClr val="6B6B78"/>
                </a:solidFill>
                <a:latin typeface="Roboto"/>
              </a:rPr>
              <a:t>Lista de convites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809960"/>
            <a:ext cx="28575" cy="20984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5790910"/>
            <a:ext cx="10629900" cy="343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3A3A44"/>
                </a:solidFill>
                <a:latin typeface="Roboto"/>
              </a:rPr>
              <a:t>Capturas de 26/10/2026.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Apêndice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Telas do convidado</a:t>
            </a:r>
          </a:p>
        </p:txBody>
      </p:sp>
      <p:pic>
        <p:nvPicPr>
          <p:cNvPr id="4" name="Picture 3" descr="c03-conv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848" y="1676400"/>
            <a:ext cx="1645976" cy="356206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2156348" y="5333710"/>
            <a:ext cx="2026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0" i="0">
                <a:solidFill>
                  <a:srgbClr val="6B6B78"/>
                </a:solidFill>
                <a:latin typeface="Roboto"/>
              </a:rPr>
              <a:t>Convite</a:t>
            </a:r>
          </a:p>
        </p:txBody>
      </p:sp>
      <p:pic>
        <p:nvPicPr>
          <p:cNvPr id="6" name="Picture 5" descr="c04-respos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24" y="1676400"/>
            <a:ext cx="1645976" cy="356206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07124" y="5333710"/>
            <a:ext cx="2026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0" i="0">
                <a:solidFill>
                  <a:srgbClr val="6B6B78"/>
                </a:solidFill>
                <a:latin typeface="Roboto"/>
              </a:rPr>
              <a:t>Resposta enviada</a:t>
            </a:r>
          </a:p>
        </p:txBody>
      </p:sp>
      <p:pic>
        <p:nvPicPr>
          <p:cNvPr id="8" name="Picture 7" descr="c05-lotad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676400"/>
            <a:ext cx="1645976" cy="356206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057900" y="5333710"/>
            <a:ext cx="2026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0" i="0">
                <a:solidFill>
                  <a:srgbClr val="6B6B78"/>
                </a:solidFill>
                <a:latin typeface="Roboto"/>
              </a:rPr>
              <a:t>Convite lotado</a:t>
            </a:r>
          </a:p>
        </p:txBody>
      </p:sp>
      <p:pic>
        <p:nvPicPr>
          <p:cNvPr id="10" name="Picture 9" descr="c06-link-pesso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9176" y="1676400"/>
            <a:ext cx="1645976" cy="356206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008676" y="5333710"/>
            <a:ext cx="2026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0" i="0">
                <a:solidFill>
                  <a:srgbClr val="6B6B78"/>
                </a:solidFill>
                <a:latin typeface="Roboto"/>
              </a:rPr>
              <a:t>Link pessoal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809960"/>
            <a:ext cx="28575" cy="20984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6300" y="5790910"/>
            <a:ext cx="10629900" cy="343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3A3A44"/>
                </a:solidFill>
                <a:latin typeface="Roboto"/>
              </a:rPr>
              <a:t>Capturas de 26/10/2026.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Apêndice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Painel e convite despublicado</a:t>
            </a:r>
          </a:p>
        </p:txBody>
      </p:sp>
      <p:pic>
        <p:nvPicPr>
          <p:cNvPr id="4" name="Picture 3" descr="c07-pai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964" y="1676400"/>
            <a:ext cx="5699297" cy="356206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2080464" y="5333710"/>
            <a:ext cx="608029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0" i="0">
                <a:solidFill>
                  <a:srgbClr val="6B6B78"/>
                </a:solidFill>
                <a:latin typeface="Roboto"/>
              </a:rPr>
              <a:t>Painel de respostas</a:t>
            </a:r>
          </a:p>
        </p:txBody>
      </p:sp>
      <p:pic>
        <p:nvPicPr>
          <p:cNvPr id="6" name="Picture 5" descr="c09-nao-encontra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060" y="1676400"/>
            <a:ext cx="1645976" cy="356206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084560" y="5333710"/>
            <a:ext cx="2026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0" i="0">
                <a:solidFill>
                  <a:srgbClr val="6B6B78"/>
                </a:solidFill>
                <a:latin typeface="Roboto"/>
              </a:rPr>
              <a:t>Convite despublicado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809960"/>
            <a:ext cx="28575" cy="20984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5790910"/>
            <a:ext cx="10629900" cy="343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3A3A44"/>
                </a:solidFill>
                <a:latin typeface="Roboto"/>
              </a:rPr>
              <a:t>Capturas de 26/10/2026.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Apêndice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unisino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 unisinos" id="{0EDEEB91-0736-441F-A7F5-4FA5717EFDDE}" vid="{6FB48B3F-96BA-4BC3-92BE-A09E0B32FF42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85AD953FC666642937FCE52CC8B4A6A" ma:contentTypeVersion="21" ma:contentTypeDescription="Crie um novo documento." ma:contentTypeScope="" ma:versionID="a0f0a53631578753e0de4c39d7473101">
  <xsd:schema xmlns:xsd="http://www.w3.org/2001/XMLSchema" xmlns:xs="http://www.w3.org/2001/XMLSchema" xmlns:p="http://schemas.microsoft.com/office/2006/metadata/properties" xmlns:ns2="5fb5f026-dc7b-485f-82fe-577aafb4abaa" xmlns:ns3="9970e0e6-68bd-454a-b013-2dc3f312d27d" targetNamespace="http://schemas.microsoft.com/office/2006/metadata/properties" ma:root="true" ma:fieldsID="1cb42779a8c523c71ef9e1ae6bb42114" ns2:_="" ns3:_="">
    <xsd:import namespace="5fb5f026-dc7b-485f-82fe-577aafb4abaa"/>
    <xsd:import namespace="9970e0e6-68bd-454a-b013-2dc3f312d2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Na_x0020_sua_x0020_vis_x00e3_o_x002c__x0020_qual_x0020__x00e9__x0020_o_x0020_principal_x0020_diferencial_x0020_dos_x0020_cursos_x0020_em_x0020_rela_x00e7__x00e3_o_x0020_a_x0020_outras_x0020_especializa_x00e7__x00f5_es_x0020_semelhantes_x0020_no_x0020_Brasil_x003f_"/>
                <xsd:element ref="ns2: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b5f026-dc7b-485f-82fe-577aafb4ab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aac08c5c-6fe0-4712-b828-e958a9361e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Na_x0020_sua_x0020_vis_x00e3_o_x002c__x0020_qual_x0020__x00e9__x0020_o_x0020_principal_x0020_diferencial_x0020_dos_x0020_cursos_x0020_em_x0020_rela_x00e7__x00e3_o_x0020_a_x0020_outras_x0020_especializa_x00e7__x00f5_es_x0020_semelhantes_x0020_no_x0020_Brasil_x003f_" ma:index="26" ma:displayName="Na sua visão, qual é o principal diferencial dos cursos em relação a outras especializações semelhantes no Brasil?" ma:internalName="Na_x0020_sua_x0020_vis_x00e3_o_x002c__x0020_qual_x0020__x00e9__x0020_o_x0020_principal_x0020_diferencial_x0020_dos_x0020_cursos_x0020_em_x0020_rela_x00e7__x00e3_o_x0020_a_x0020_outras_x0020_especializa_x00e7__x00f5_es_x0020_semelhantes_x0020_no_x0020_Brasil_x003f_">
      <xsd:simpleType>
        <xsd:restriction base="dms:Note">
          <xsd:maxLength value="255"/>
        </xsd:restriction>
      </xsd:simpleType>
    </xsd:element>
    <xsd:element name="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 ma:index="27" ma:displayName="Que tipo de profissional você acredita que mais se beneficia deste curso hoje (perfil técnico, momento de carreira, lacunas que o curso supre)?" ma:internalName="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70e0e6-68bd-454a-b013-2dc3f312d27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04e90fd-b40d-4e8a-9052-aed8cdd6606b}" ma:internalName="TaxCatchAll" ma:showField="CatchAllData" ma:web="9970e0e6-68bd-454a-b013-2dc3f312d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fb5f026-dc7b-485f-82fe-577aafb4abaa">
      <Terms xmlns="http://schemas.microsoft.com/office/infopath/2007/PartnerControls"/>
    </lcf76f155ced4ddcb4097134ff3c332f>
    <TaxCatchAll xmlns="9970e0e6-68bd-454a-b013-2dc3f312d27d" xsi:nil="true"/>
    <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 xmlns="5fb5f026-dc7b-485f-82fe-577aafb4abaa">a</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>
    <Na_x0020_sua_x0020_vis_x00e3_o_x002c__x0020_qual_x0020__x00e9__x0020_o_x0020_principal_x0020_diferencial_x0020_dos_x0020_cursos_x0020_em_x0020_rela_x00e7__x00e3_o_x0020_a_x0020_outras_x0020_especializa_x00e7__x00f5_es_x0020_semelhantes_x0020_no_x0020_Brasil_x003f_ xmlns="5fb5f026-dc7b-485f-82fe-577aafb4abaa">a</Na_x0020_sua_x0020_vis_x00e3_o_x002c__x0020_qual_x0020__x00e9__x0020_o_x0020_principal_x0020_diferencial_x0020_dos_x0020_cursos_x0020_em_x0020_rela_x00e7__x00e3_o_x0020_a_x0020_outras_x0020_especializa_x00e7__x00f5_es_x0020_semelhantes_x0020_no_x0020_Brasil_x003f_>
  </documentManagement>
</p:properties>
</file>

<file path=customXml/itemProps1.xml><?xml version="1.0" encoding="utf-8"?>
<ds:datastoreItem xmlns:ds="http://schemas.openxmlformats.org/officeDocument/2006/customXml" ds:itemID="{8EFE6DF0-C827-427D-A5C4-577D5E296F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b5f026-dc7b-485f-82fe-577aafb4abaa"/>
    <ds:schemaRef ds:uri="9970e0e6-68bd-454a-b013-2dc3f312d2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04F551-2F4B-4ED5-8A86-9AF9523DAD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329F00-2A8C-46E7-9764-248AFFF1202A}">
  <ds:schemaRefs>
    <ds:schemaRef ds:uri="http://purl.org/dc/elements/1.1/"/>
    <ds:schemaRef ds:uri="http://schemas.openxmlformats.org/package/2006/metadata/core-properties"/>
    <ds:schemaRef ds:uri="http://purl.org/dc/terms/"/>
    <ds:schemaRef ds:uri="5fb5f026-dc7b-485f-82fe-577aafb4abaa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9970e0e6-68bd-454a-b013-2dc3f312d27d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unisinos</Template>
  <TotalTime>60</TotalTime>
  <Words>1142</Words>
  <Application>Microsoft Office PowerPoint</Application>
  <PresentationFormat>Widescreen</PresentationFormat>
  <Paragraphs>120</Paragraphs>
  <Slides>15</Slides>
  <Notes>2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tema unisinos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TÍTULO TÍTULO</vt:lpstr>
      <vt:lpstr>Apresentação do PowerPoint</vt:lpstr>
      <vt:lpstr>Apresentação do PowerPoint</vt:lpstr>
      <vt:lpstr>TÍTULO TÍTULO TÍTULO TÍTULO TÍTULO TÍTULO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de gerenciamento de convites, apresentação intermediária</dc:title>
  <dc:creator>Time 04: Andreas Grings, Gabriel Tomasi, Guilherme Toebe, Tiago Passos</dc:creator>
  <cp:lastModifiedBy>Time 04: Andreas Grings, Gabriel Tomasi, Guilherme Toebe, Tiago Passos</cp:lastModifiedBy>
  <cp:revision>15</cp:revision>
  <dcterms:created xsi:type="dcterms:W3CDTF">2012-07-30T23:50:35Z</dcterms:created>
  <dcterms:modified xsi:type="dcterms:W3CDTF">2026-03-06T20:44:32Z</dcterms:modified>
  <dc:subject>Arquitetura de Software, Trabalho 3</dc:subject>
  <cp:keywords/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0x010100585AD953FC666642937FCE52CC8B4A6A</vt:lpwstr>
  </property>
  <property fmtid="{D5CDD505-2E9C-101B-9397-08002B2CF9AE}" pid="3" name="MediaServiceImageTags">
    <vt:lpwstr/>
  </property>
</Properties>
</file>