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4.svg" ContentType="image/svg+xml"/>
  <Override PartName="/ppt/media/image19.svg" ContentType="image/svg+xml"/>
  <Override PartName="/ppt/media/image7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</p:sldMasterIdLst>
  <p:notesMasterIdLst>
    <p:notesMasterId r:id="rId20"/>
  </p:notesMasterIdLst>
  <p:sldIdLst>
    <p:sldId id="256" r:id="rId11"/>
    <p:sldId id="257" r:id="rId12"/>
    <p:sldId id="258" r:id="rId13"/>
    <p:sldId id="259" r:id="rId14"/>
    <p:sldId id="260" r:id="rId15"/>
    <p:sldId id="261" r:id="rId16"/>
    <p:sldId id="262" r:id="rId17"/>
    <p:sldId id="263" r:id="rId18"/>
    <p:sldId id="264" r:id="rId19"/>
    <p:sldId id="265" r:id="rId10"/>
    <p:sldId id="266" r:id="rId9"/>
    <p:sldId id="267" r:id="rId8"/>
    <p:sldId id="268" r:id="rId7"/>
    <p:sldId id="269" r:id="rId6"/>
    <p:sldId id="270" r:id="rId5"/>
    <p:sldId id="271" r:id="rId26"/>
    <p:sldId id="272" r:id="rId27"/>
    <p:sldId id="273" r:id="rId28"/>
    <p:sldId id="274" r:id="rId29"/>
    <p:sldId id="275" r:id="rId30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049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B9716C1-5024-8CCE-3203-86B75C2C8617}" v="3" dt="2026-03-04T18:26:21.527"/>
    <p1510:client id="{15EE4E26-2F7C-A8A7-F640-351793DF4648}" v="51" dt="2026-03-04T14:37:16.632"/>
    <p1510:client id="{1A042CCA-B3F5-4F3A-A55B-20F5A0164B7D}" v="24" dt="2026-03-04T14:05:53.570"/>
    <p1510:client id="{474E71F2-6943-508A-29C8-0B58041B59EA}" v="24" dt="2026-03-04T13:40:41.656"/>
    <p1510:client id="{610FBFFC-C927-4559-84E4-21F8025EFCC9}" v="4" dt="2026-03-04T18:41:12.929"/>
    <p1510:client id="{6B13FC13-F49B-3BCF-DC56-120CE7AD128B}" v="3" dt="2026-03-04T14:27:44.521"/>
    <p1510:client id="{6B418F69-DA30-9EA3-9484-1B1B7022BB9A}" v="26" dt="2026-03-04T18:46:59.600"/>
    <p1510:client id="{A6C34AF3-2CB0-9917-C57B-32A817E4D2F0}" v="15" dt="2026-03-04T19:28:10.596"/>
    <p1510:client id="{B4BCC3D1-ADA6-AE73-AB10-F1FD9D46F8AE}" v="1" dt="2026-03-04T18:45:27.91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68" d="100"/>
          <a:sy n="68" d="100"/>
        </p:scale>
        <p:origin x="79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5.xml"/><Relationship Id="rId6" Type="http://schemas.openxmlformats.org/officeDocument/2006/relationships/slide" Target="slides/slide14.xml"/><Relationship Id="rId7" Type="http://schemas.openxmlformats.org/officeDocument/2006/relationships/slide" Target="slides/slide13.xml"/><Relationship Id="rId8" Type="http://schemas.openxmlformats.org/officeDocument/2006/relationships/slide" Target="slides/slide12.xml"/><Relationship Id="rId9" Type="http://schemas.openxmlformats.org/officeDocument/2006/relationships/slide" Target="slides/slide11.xml"/><Relationship Id="rId10" Type="http://schemas.openxmlformats.org/officeDocument/2006/relationships/slide" Target="slides/slide10.xml"/><Relationship Id="rId11" Type="http://schemas.openxmlformats.org/officeDocument/2006/relationships/slide" Target="slides/slide1.xml"/><Relationship Id="rId12" Type="http://schemas.openxmlformats.org/officeDocument/2006/relationships/slide" Target="slides/slide2.xml"/><Relationship Id="rId13" Type="http://schemas.openxmlformats.org/officeDocument/2006/relationships/slide" Target="slides/slide3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microsoft.com/office/2015/10/relationships/revisionInfo" Target="revisionInfo.xml"/><Relationship Id="rId26" Type="http://schemas.openxmlformats.org/officeDocument/2006/relationships/slide" Target="slides/slide16.xml"/><Relationship Id="rId27" Type="http://schemas.openxmlformats.org/officeDocument/2006/relationships/slide" Target="slides/slide17.xml"/><Relationship Id="rId28" Type="http://schemas.openxmlformats.org/officeDocument/2006/relationships/slide" Target="slides/slide18.xml"/><Relationship Id="rId29" Type="http://schemas.openxmlformats.org/officeDocument/2006/relationships/slide" Target="slides/slide19.xml"/><Relationship Id="rId30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6EFFF79-EEE3-444A-9BA1-1453A65B916B}" type="datetimeFigureOut">
              <a:t>06/03/2026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6BDD6EE-BF3C-42FE-A967-089A0F35743B}" type="slidenum"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1811193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Somos o Time 04. O nosso projeto é um app para gerenciar convites de festa: o anfitrião cria o convite e acompanha quem vai, e o convidado responde pelo link. Vamos mostrar o problema, a arquitetura implementada, o front-end, o back-end, a aplicação funcionando e o que falta até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As personas foram levantadas na Sprint 1: a anfitriã e o convidado, que usam o app, e o buffet, que recebe a lista.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Andreas. São doze histórias de usuário nesses seis grupos, e as doze estão implementadas. No quadro do Azure Boards elas aparecem como H01 a H12: conta é a H01, criação do convite da H02 à H04, compartilhamento H05 e H06, confirmação da H07 à H09, restrições H10, e o painel H11 e H12. Passagem: o Tiago mostra como o projeto evoluiu e a arquitetura.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No Grau A o projeto tinha as doze histórias, o Guia da Arquitetura e um protótipo de telas. Na Sprint 4 eu montei a base: o repositório, o pacote de tipos compartilhado entre front e back, a integração contínua e o compose. Na Sprint 5 o front e o back foram integrados nessa base, e o que precisou mudar na arquitetura foi registrado com o motivo.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Três tiers no compose: front em Next.js, API em NestJS e PostgreSQL. As três camadas lógicas ficam dentro da API: Apresentação, Domínio e Dados. O front segue MVC. O contract é o pacote de tipos compartilhado entre os dois lados. Camada é divisão lógica, tier é processo separado. As três camadas ficam no mesmo container da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Um PR que quebra a regra de camadas fica vermelho na integração contínua. Sobre o compose: no T1 apresentamos o Docker como forma de cada integrante subir o ambiente com um comando. É esse compose que roda na demonstração. Se perguntarem das migrations: elas rodam quando o volume do banco está vazio.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A regra do teto de vagas fica para o Gabriel. Dificuldade do bloco: juntar o front e o back, que foram escritos em paralelo, fora da main. A integração foi em duas etapas. Primeiro o front, com um mock que responde às rotas com os tipos do contract. Depois o back. Em cada etapa, o que não cabia na arquitetura foi adequado, registrado com o motivo nos Ajustes da Sprint 5, e só entrou na main com a CI verde. O contract permitiu juntar as duas partes sem reescrever tudo. Ele deveria ter sido feito antes das telas. Passagem: o Guilherme apresenta o front-end, que partiu do protótipo dele.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O protótipo foi meu: [o fluxo, as telas, os três templates e as cores; ajustar ao que for verdade]. Ele foi gerado numa ferramenta de prototipação, e por isso trazia muita coisa que a nossa stack não usa. Na integração, o Tiago adequou o protótipo à arquitetura: o visual ficou, reescrito em CSS puro, e o que era regra de negócio saiu da tela e foi para a API.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Guilherme. A tela ainda limita os campos, para ajudar quem preenche, mas a validação que vale é a da API. Dificuldade do bloco: o protótipo nasceu antes de a arquitetura estar no código, e algumas regras de negócio ficaram na tela. O que eu aprendi vendo a adequação: prototipar com ferramenta é rápido para validar o visual, mas o protótipo precisa ser lido contra o Guia antes de virar código. Se eu fizesse de novo, desenharia as telas em cima do contract desde o começo. Passagem: quem recebe essas chamadas é a API. A primeira versão das rotas e das regras dela foi escrita pelo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As regras que vou mostrar são as que estão hoje no código. A primeira versão das rotas e dessas regras foi minha, inclusive a transação com a trava na linha do convite. Na integração, algumas regras mudaram de camada, e eu conto isso no fim do bloco. Quando não cabe, a camada de Dados devolve a recusa ao Domínio, que dá nome ao erro, e a Apresentação responde. Fecho do slide: o Domínio calcula quantas vagas a resposta pede, e a camada de Dados confere o teto dentro da transação.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Gabriel. Os testes de hoje foram reescritos na integração, porque os meus testavam assinaturas antigas. O que vale citar: quatro respostas simultâneas, cada uma pedindo duas vagas, num convite com teto de cinco. Passam exatamente duas. Dificuldade do bloco: uma regra de negócio na camada errada. Na minha primeira versão, a regra de que só a confirmação ocupa vaga estava na consulta da camada de Dados, junto com a conferência do teto. Funcionava, mas a camada de Dados passava a saber o que é uma vaga, e o Guia diz que isso é do Domínio. Na integração, o Tiago subiu o cálculo das vagas que a resposta pede para o Domínio, e a camada de Dados ficou com a soma do que já está gravado e a conferência do teto. Passagem: agora a demonstração.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 Tiago opera a tela, na máquina dele, e os outros dois narram: o Guilherme as telas do anfitrião e o Gabriel a parte do convidado e o que a API faz. Abrir dizendo: a conta já está criada para poupar tempo; a tela de entrada está no apêndice. Depois da demonstração, na mesma tela: o quadro do Azure Boards (Guilherme narra) e o GitHub (Tiago).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Planejamos em sprints de duas semanas e acompanhamos no quadro Kanban do Azure Boards, com cada história dividida em tarefas de tela e de API. Não usamos o Teams: conversamos pelo WhatsApp e nas aulas, e o que decidimos fica registrado no repositório, no Guia, nos ADRs e nos Ajustes da Sprint 5. Cada mudança entra na main por PR, depois que a integração contínua passa.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Cada dificuldade já foi contada por quem passou por ela: a integração por mim, o protótipo pelo Guilherme e a regra de vagas pelo Gabriel. Aqui elas aparecem juntas. Se perguntarem detalhes, passar para quem passou por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Tiago. Estes são os itens da Sprint 6, de 03/11 a 16/11, até a apresentação final em 17/11.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Tiago, fechamento: as doze histórias estão implementadas, e as mudanças em relação à arquitetura do Grau A estão registradas com o motivo. Até 17/11 vamos revisar a documentação contra o código e preparar o Pitch. Para perguntas: problema e requisitos com o Andreas, arquitetura e Docker comigo, telas e quadro com o Guilherme, API e testes com o Gabriel.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jpe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eg"/><Relationship Id="rId3" Type="http://schemas.openxmlformats.org/officeDocument/2006/relationships/image" Target="../media/image6.png"/><Relationship Id="rId4" Type="http://schemas.openxmlformats.org/officeDocument/2006/relationships/image" Target="../media/image7.sv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jpe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jpe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jpe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7.sv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e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jpeg"/><Relationship Id="rId3" Type="http://schemas.openxmlformats.org/officeDocument/2006/relationships/image" Target="../media/image13.png"/><Relationship Id="rId4" Type="http://schemas.openxmlformats.org/officeDocument/2006/relationships/image" Target="../media/image14.sv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jpe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jpeg"/><Relationship Id="rId3" Type="http://schemas.openxmlformats.org/officeDocument/2006/relationships/image" Target="../media/image18.png"/><Relationship Id="rId4" Type="http://schemas.openxmlformats.org/officeDocument/2006/relationships/image" Target="../media/image19.sv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B12703BC-BA0D-49E1-5856-8172DFCF21E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9BA904D1-772F-4932-8EC4-AC8ABD797843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1198963" y="854211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0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CARTOLA </a:t>
            </a:r>
            <a:r>
              <a:rPr lang="pt-BR" dirty="0" err="1"/>
              <a:t>CARTOLA</a:t>
            </a:r>
            <a:endParaRPr lang="pt-BR" dirty="0"/>
          </a:p>
        </p:txBody>
      </p:sp>
      <p:sp>
        <p:nvSpPr>
          <p:cNvPr id="11" name="Espaço Reservado para Conteúdo 4">
            <a:extLst>
              <a:ext uri="{FF2B5EF4-FFF2-40B4-BE49-F238E27FC236}">
                <a16:creationId xmlns:a16="http://schemas.microsoft.com/office/drawing/2014/main" id="{798E2A19-B017-4014-9BCE-0EDA90228AE4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198962" y="2685167"/>
            <a:ext cx="9794071" cy="291362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/>
              <a:t>COMPLEMENTO </a:t>
            </a:r>
            <a:r>
              <a:rPr lang="pt-BR" err="1"/>
              <a:t>COMPLEMENTO</a:t>
            </a:r>
            <a:endParaRPr lang="pt-BR"/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0FAFA1B5-CB3C-4B76-9115-38A3CFEBBEDC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376961"/>
            <a:ext cx="9794071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DA CAPA</a:t>
            </a:r>
          </a:p>
          <a:p>
            <a:pPr lvl="0"/>
            <a:r>
              <a:rPr lang="pt-BR" dirty="0"/>
              <a:t>TÍTULO DA CAPA</a:t>
            </a:r>
          </a:p>
        </p:txBody>
      </p:sp>
    </p:spTree>
    <p:extLst>
      <p:ext uri="{BB962C8B-B14F-4D97-AF65-F5344CB8AC3E}">
        <p14:creationId xmlns:p14="http://schemas.microsoft.com/office/powerpoint/2010/main" val="7432689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Uma imagem contendo pessoa, segurando, raquete, homem&#10;&#10;O conteúdo gerado por IA pode estar incorreto.">
            <a:extLst>
              <a:ext uri="{FF2B5EF4-FFF2-40B4-BE49-F238E27FC236}">
                <a16:creationId xmlns:a16="http://schemas.microsoft.com/office/drawing/2014/main" id="{68201F9E-9442-51CA-D606-ADE185D215E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641F0451-2034-4B4C-B5BB-323C5B960552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999028" y="1721616"/>
            <a:ext cx="3848744" cy="766779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br>
              <a:rPr lang="pt-BR" dirty="0"/>
            </a:br>
            <a:r>
              <a:rPr lang="pt-BR" dirty="0"/>
              <a:t>DE SEÇÃO</a:t>
            </a:r>
          </a:p>
        </p:txBody>
      </p:sp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271D91BB-59F7-42EE-91A0-E9E7DAE29B4D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99026" y="2655324"/>
            <a:ext cx="3848743" cy="3288276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1886156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&#10;&#10;O conteúdo gerado por IA pode estar incorreto.">
            <a:extLst>
              <a:ext uri="{FF2B5EF4-FFF2-40B4-BE49-F238E27FC236}">
                <a16:creationId xmlns:a16="http://schemas.microsoft.com/office/drawing/2014/main" id="{9D5AB3BD-B97C-7B52-83A2-3E5D5CD519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cxnSp>
        <p:nvCxnSpPr>
          <p:cNvPr id="8" name="Conector de Seta Reta 7">
            <a:extLst>
              <a:ext uri="{FF2B5EF4-FFF2-40B4-BE49-F238E27FC236}">
                <a16:creationId xmlns:a16="http://schemas.microsoft.com/office/drawing/2014/main" id="{883A4AD6-7C2F-6DE8-E4EB-27627E6153B2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216203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>
            <a:extLst>
              <a:ext uri="{FF2B5EF4-FFF2-40B4-BE49-F238E27FC236}">
                <a16:creationId xmlns:a16="http://schemas.microsoft.com/office/drawing/2014/main" id="{D832A813-B17C-DC29-723C-8DADDB8A2DE0}"/>
              </a:ext>
            </a:extLst>
          </p:cNvPr>
          <p:cNvCxnSpPr>
            <a:cxnSpLocks/>
          </p:cNvCxnSpPr>
          <p:nvPr userDrawn="1"/>
        </p:nvCxnSpPr>
        <p:spPr>
          <a:xfrm>
            <a:off x="5161560" y="3666615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>
            <a:extLst>
              <a:ext uri="{FF2B5EF4-FFF2-40B4-BE49-F238E27FC236}">
                <a16:creationId xmlns:a16="http://schemas.microsoft.com/office/drawing/2014/main" id="{7950EE94-C4C8-17C8-8A38-D10AC5A0870E}"/>
              </a:ext>
            </a:extLst>
          </p:cNvPr>
          <p:cNvCxnSpPr>
            <a:cxnSpLocks/>
          </p:cNvCxnSpPr>
          <p:nvPr userDrawn="1"/>
        </p:nvCxnSpPr>
        <p:spPr>
          <a:xfrm>
            <a:off x="5161560" y="4078129"/>
            <a:ext cx="5574224" cy="0"/>
          </a:xfrm>
          <a:prstGeom prst="straightConnector1">
            <a:avLst/>
          </a:prstGeom>
          <a:ln w="19050">
            <a:solidFill>
              <a:schemeClr val="bg1"/>
            </a:solidFill>
            <a:prstDash val="sys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A8422CA4-13D9-5447-94BF-81DFA61CFA8C}"/>
              </a:ext>
            </a:extLst>
          </p:cNvPr>
          <p:cNvSpPr/>
          <p:nvPr userDrawn="1"/>
        </p:nvSpPr>
        <p:spPr>
          <a:xfrm>
            <a:off x="5057617" y="2922847"/>
            <a:ext cx="5277795" cy="537509"/>
          </a:xfrm>
          <a:prstGeom prst="roundRect">
            <a:avLst>
              <a:gd name="adj" fmla="val 50000"/>
            </a:avLst>
          </a:prstGeom>
          <a:solidFill>
            <a:srgbClr val="432873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Retângulo: Cantos Arredondados 13">
            <a:extLst>
              <a:ext uri="{FF2B5EF4-FFF2-40B4-BE49-F238E27FC236}">
                <a16:creationId xmlns:a16="http://schemas.microsoft.com/office/drawing/2014/main" id="{CF33C47C-7543-6136-48FE-FFD7D5569582}"/>
              </a:ext>
            </a:extLst>
          </p:cNvPr>
          <p:cNvSpPr/>
          <p:nvPr userDrawn="1"/>
        </p:nvSpPr>
        <p:spPr>
          <a:xfrm>
            <a:off x="6067590" y="3387232"/>
            <a:ext cx="4267822" cy="537511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5" name="Retângulo: Cantos Arredondados 14">
            <a:extLst>
              <a:ext uri="{FF2B5EF4-FFF2-40B4-BE49-F238E27FC236}">
                <a16:creationId xmlns:a16="http://schemas.microsoft.com/office/drawing/2014/main" id="{800FC918-C448-6DF0-E954-B06797063FAB}"/>
              </a:ext>
            </a:extLst>
          </p:cNvPr>
          <p:cNvSpPr/>
          <p:nvPr userDrawn="1"/>
        </p:nvSpPr>
        <p:spPr>
          <a:xfrm>
            <a:off x="7000073" y="3784591"/>
            <a:ext cx="3335340" cy="537512"/>
          </a:xfrm>
          <a:prstGeom prst="roundRect">
            <a:avLst>
              <a:gd name="adj" fmla="val 50000"/>
            </a:avLst>
          </a:prstGeom>
          <a:solidFill>
            <a:srgbClr val="2652CF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756E2B9B-2FC7-4B61-8475-1E6F5501EE2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164272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3B400B1A-A24E-4444-BD47-E24B33C087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562141" y="2178956"/>
            <a:ext cx="3050460" cy="28756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  <a:p>
            <a:pPr lvl="0"/>
            <a:endParaRPr lang="pt-BR" dirty="0"/>
          </a:p>
          <a:p>
            <a:pPr lvl="0"/>
            <a:r>
              <a:rPr lang="pt-BR" dirty="0" err="1"/>
              <a:t>Maecenas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, </a:t>
            </a:r>
            <a:r>
              <a:rPr lang="pt-BR" dirty="0" err="1"/>
              <a:t>diam</a:t>
            </a:r>
            <a:r>
              <a:rPr lang="pt-BR" dirty="0"/>
              <a:t> vitae gravida </a:t>
            </a:r>
            <a:r>
              <a:rPr lang="pt-BR" dirty="0" err="1"/>
              <a:t>congue</a:t>
            </a:r>
            <a:r>
              <a:rPr lang="pt-BR" dirty="0"/>
              <a:t>, est sem </a:t>
            </a:r>
            <a:r>
              <a:rPr lang="pt-BR" dirty="0" err="1"/>
              <a:t>auctor</a:t>
            </a:r>
            <a:r>
              <a:rPr lang="pt-BR" dirty="0"/>
              <a:t> </a:t>
            </a:r>
            <a:r>
              <a:rPr lang="pt-BR" dirty="0" err="1"/>
              <a:t>orci</a:t>
            </a:r>
            <a:r>
              <a:rPr lang="pt-BR" dirty="0"/>
              <a:t>,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 </a:t>
            </a:r>
            <a:r>
              <a:rPr lang="pt-BR" dirty="0" err="1"/>
              <a:t>ullamcorper</a:t>
            </a:r>
            <a:r>
              <a:rPr lang="pt-BR" dirty="0"/>
              <a:t> sem </a:t>
            </a:r>
            <a:r>
              <a:rPr lang="pt-BR" dirty="0" err="1"/>
              <a:t>orci</a:t>
            </a:r>
            <a:r>
              <a:rPr lang="pt-BR" dirty="0"/>
              <a:t> in </a:t>
            </a:r>
            <a:r>
              <a:rPr lang="pt-BR" dirty="0" err="1"/>
              <a:t>tellus</a:t>
            </a:r>
            <a:r>
              <a:rPr lang="pt-BR" dirty="0"/>
              <a:t>. </a:t>
            </a:r>
            <a:r>
              <a:rPr lang="pt-BR" dirty="0" err="1"/>
              <a:t>Pellentesque</a:t>
            </a:r>
            <a:r>
              <a:rPr lang="pt-BR" dirty="0"/>
              <a:t> </a:t>
            </a:r>
            <a:r>
              <a:rPr lang="pt-BR" dirty="0" err="1"/>
              <a:t>habitant</a:t>
            </a:r>
            <a:r>
              <a:rPr lang="pt-BR" dirty="0"/>
              <a:t>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tristique</a:t>
            </a:r>
            <a:r>
              <a:rPr lang="pt-BR" dirty="0"/>
              <a:t> </a:t>
            </a:r>
            <a:r>
              <a:rPr lang="pt-BR" dirty="0" err="1"/>
              <a:t>senectus</a:t>
            </a:r>
            <a:r>
              <a:rPr lang="pt-BR" dirty="0"/>
              <a:t> et </a:t>
            </a:r>
            <a:r>
              <a:rPr lang="pt-BR" dirty="0" err="1"/>
              <a:t>netus</a:t>
            </a:r>
            <a:r>
              <a:rPr lang="pt-BR" dirty="0"/>
              <a:t> et </a:t>
            </a:r>
            <a:r>
              <a:rPr lang="pt-BR" dirty="0" err="1"/>
              <a:t>malesuada</a:t>
            </a:r>
            <a:r>
              <a:rPr lang="pt-BR" dirty="0"/>
              <a:t>.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9DA28D68-018D-419D-A736-E64ACB9206E7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208200" y="3032630"/>
            <a:ext cx="4850199" cy="30737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431D2614-3827-4A58-A31E-D9102D6BE68E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242644" y="3500419"/>
            <a:ext cx="3815756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5E3BB5D0-837A-4037-AC95-AB1D4F649860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7120214" y="3902767"/>
            <a:ext cx="2938185" cy="336159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 b="1">
                <a:solidFill>
                  <a:schemeClr val="bg1"/>
                </a:solidFill>
                <a:latin typeface="Roboto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</p:txBody>
      </p:sp>
    </p:spTree>
    <p:extLst>
      <p:ext uri="{BB962C8B-B14F-4D97-AF65-F5344CB8AC3E}">
        <p14:creationId xmlns:p14="http://schemas.microsoft.com/office/powerpoint/2010/main" val="19239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>
            <a:extLst>
              <a:ext uri="{FF2B5EF4-FFF2-40B4-BE49-F238E27FC236}">
                <a16:creationId xmlns:a16="http://schemas.microsoft.com/office/drawing/2014/main" id="{8F673DBA-CB69-50BD-F973-A9E3A3FE152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Espaço Reservado para Conteúdo 4">
            <a:extLst>
              <a:ext uri="{FF2B5EF4-FFF2-40B4-BE49-F238E27FC236}">
                <a16:creationId xmlns:a16="http://schemas.microsoft.com/office/drawing/2014/main" id="{6BE41F8E-4F22-46F6-B0AE-D58832BE3FC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6637006" y="780986"/>
            <a:ext cx="4391941" cy="1118045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NOME </a:t>
            </a:r>
            <a:br>
              <a:rPr lang="pt-BR" dirty="0"/>
            </a:br>
            <a:r>
              <a:rPr lang="pt-BR" dirty="0"/>
              <a:t>DA SEÇÃO</a:t>
            </a:r>
          </a:p>
        </p:txBody>
      </p:sp>
      <p:sp>
        <p:nvSpPr>
          <p:cNvPr id="18" name="Espaço Reservado para Conteúdo 4">
            <a:extLst>
              <a:ext uri="{FF2B5EF4-FFF2-40B4-BE49-F238E27FC236}">
                <a16:creationId xmlns:a16="http://schemas.microsoft.com/office/drawing/2014/main" id="{180BB7B2-EE70-4E52-A5A7-0F7F00EFB29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637006" y="2245217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1</a:t>
            </a:r>
          </a:p>
        </p:txBody>
      </p:sp>
      <p:sp>
        <p:nvSpPr>
          <p:cNvPr id="19" name="Espaço Reservado para Conteúdo 4">
            <a:extLst>
              <a:ext uri="{FF2B5EF4-FFF2-40B4-BE49-F238E27FC236}">
                <a16:creationId xmlns:a16="http://schemas.microsoft.com/office/drawing/2014/main" id="{664A7BCC-13C8-4944-BAC9-E32ACD6D1ED0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6637006" y="2589090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2" name="Espaço Reservado para Conteúdo 4">
            <a:extLst>
              <a:ext uri="{FF2B5EF4-FFF2-40B4-BE49-F238E27FC236}">
                <a16:creationId xmlns:a16="http://schemas.microsoft.com/office/drawing/2014/main" id="{D2F372CA-7A81-4DC0-9C08-38BBC4518D5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637006" y="4362546"/>
            <a:ext cx="3848744" cy="316190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24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INTERTÍTULO 2</a:t>
            </a:r>
          </a:p>
        </p:txBody>
      </p:sp>
      <p:sp>
        <p:nvSpPr>
          <p:cNvPr id="23" name="Espaço Reservado para Conteúdo 4">
            <a:extLst>
              <a:ext uri="{FF2B5EF4-FFF2-40B4-BE49-F238E27FC236}">
                <a16:creationId xmlns:a16="http://schemas.microsoft.com/office/drawing/2014/main" id="{99641B3D-FFEC-4170-9DE3-5965CE430DC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637006" y="4706419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9823119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m 9" descr="Forma&#10;&#10;O conteúdo gerado por IA pode estar incorreto.">
            <a:extLst>
              <a:ext uri="{FF2B5EF4-FFF2-40B4-BE49-F238E27FC236}">
                <a16:creationId xmlns:a16="http://schemas.microsoft.com/office/drawing/2014/main" id="{3C9A769A-63A3-DE23-592B-55245BC352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-8750"/>
            <a:ext cx="12192000" cy="6866749"/>
          </a:xfrm>
          <a:prstGeom prst="rect">
            <a:avLst/>
          </a:prstGeom>
        </p:spPr>
      </p:pic>
      <p:pic>
        <p:nvPicPr>
          <p:cNvPr id="14" name="Gráfico 13">
            <a:extLst>
              <a:ext uri="{FF2B5EF4-FFF2-40B4-BE49-F238E27FC236}">
                <a16:creationId xmlns:a16="http://schemas.microsoft.com/office/drawing/2014/main" id="{1E1C6F54-8EED-6A4A-951E-8F53058EBB6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7" name="Espaço Reservado para Conteúdo 4">
            <a:extLst>
              <a:ext uri="{FF2B5EF4-FFF2-40B4-BE49-F238E27FC236}">
                <a16:creationId xmlns:a16="http://schemas.microsoft.com/office/drawing/2014/main" id="{39251BE9-618E-42E3-99D7-A7567BEAC4F4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92701" y="2865601"/>
            <a:ext cx="3927494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9" name="Espaço Reservado para Conteúdo 4">
            <a:extLst>
              <a:ext uri="{FF2B5EF4-FFF2-40B4-BE49-F238E27FC236}">
                <a16:creationId xmlns:a16="http://schemas.microsoft.com/office/drawing/2014/main" id="{37BB87C6-3A52-4563-8FED-B6B3781BF21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92701" y="794269"/>
            <a:ext cx="3927494" cy="111804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000">
                <a:solidFill>
                  <a:schemeClr val="bg1">
                    <a:lumMod val="8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4A45D75-7A9C-404D-BDF7-39D938D9204A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231687" y="2271833"/>
            <a:ext cx="3927494" cy="1118045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Tx/>
              <a:buChar char="•"/>
              <a:defRPr sz="1600">
                <a:solidFill>
                  <a:schemeClr val="bg1">
                    <a:lumMod val="85000"/>
                  </a:schemeClr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ITEM 1</a:t>
            </a:r>
          </a:p>
          <a:p>
            <a:pPr lvl="0"/>
            <a:r>
              <a:rPr lang="pt-BR" dirty="0"/>
              <a:t>ITEM 2</a:t>
            </a:r>
          </a:p>
          <a:p>
            <a:pPr lvl="0"/>
            <a:r>
              <a:rPr lang="pt-BR" dirty="0"/>
              <a:t>ITEM 3</a:t>
            </a:r>
          </a:p>
          <a:p>
            <a:pPr lvl="0"/>
            <a:r>
              <a:rPr lang="pt-BR" dirty="0"/>
              <a:t>ITEM 4</a:t>
            </a:r>
          </a:p>
          <a:p>
            <a:pPr lvl="0"/>
            <a:r>
              <a:rPr lang="pt-BR" dirty="0"/>
              <a:t>ITEM 5</a:t>
            </a:r>
          </a:p>
          <a:p>
            <a:pPr lvl="0"/>
            <a:r>
              <a:rPr lang="pt-BR" dirty="0"/>
              <a:t>ITEM 6</a:t>
            </a:r>
          </a:p>
          <a:p>
            <a:pPr lvl="0"/>
            <a:r>
              <a:rPr lang="pt-BR" dirty="0"/>
              <a:t>ITEM 7</a:t>
            </a:r>
          </a:p>
        </p:txBody>
      </p:sp>
    </p:spTree>
    <p:extLst>
      <p:ext uri="{BB962C8B-B14F-4D97-AF65-F5344CB8AC3E}">
        <p14:creationId xmlns:p14="http://schemas.microsoft.com/office/powerpoint/2010/main" val="34677928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Imagem 13">
            <a:extLst>
              <a:ext uri="{FF2B5EF4-FFF2-40B4-BE49-F238E27FC236}">
                <a16:creationId xmlns:a16="http://schemas.microsoft.com/office/drawing/2014/main" id="{4A036B0A-933A-2985-8269-6345DAD892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45D534F8-C499-4401-B371-2922E2FC60F2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815738" y="2608895"/>
            <a:ext cx="9013371" cy="82010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80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BB3FE49F-E596-4FC6-AC93-7944FFF72447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971518" y="3526859"/>
            <a:ext cx="6851751" cy="2351427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800">
                <a:solidFill>
                  <a:schemeClr val="bg1"/>
                </a:solidFill>
                <a:latin typeface="Roboto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34622643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Imagem 7" descr="Ícone&#10;&#10;O conteúdo gerado por IA pode estar incorreto.">
            <a:extLst>
              <a:ext uri="{FF2B5EF4-FFF2-40B4-BE49-F238E27FC236}">
                <a16:creationId xmlns:a16="http://schemas.microsoft.com/office/drawing/2014/main" id="{AF2EB98D-EF35-397E-FA18-F906466EB535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2B6F4DD1-33F3-4B49-95ED-C95B61876CA5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476376" y="3916012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1" name="Espaço Reservado para Conteúdo 4">
            <a:extLst>
              <a:ext uri="{FF2B5EF4-FFF2-40B4-BE49-F238E27FC236}">
                <a16:creationId xmlns:a16="http://schemas.microsoft.com/office/drawing/2014/main" id="{141E17BE-679D-4780-A50B-95ABDEA83415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1476375" y="3083044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BB3C5678-B5DE-4BCA-900A-F36CE17308F5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4800601" y="482395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063FB4E0-9626-4EF4-806F-71DFF51C6511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4800600" y="3990985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</a:p>
        </p:txBody>
      </p:sp>
      <p:sp>
        <p:nvSpPr>
          <p:cNvPr id="26" name="Espaço Reservado para Conteúdo 4">
            <a:extLst>
              <a:ext uri="{FF2B5EF4-FFF2-40B4-BE49-F238E27FC236}">
                <a16:creationId xmlns:a16="http://schemas.microsoft.com/office/drawing/2014/main" id="{188B0BB6-CE3D-4850-B5D3-213A7B0CB16A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8124825" y="3122148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27" name="Espaço Reservado para Conteúdo 4">
            <a:extLst>
              <a:ext uri="{FF2B5EF4-FFF2-40B4-BE49-F238E27FC236}">
                <a16:creationId xmlns:a16="http://schemas.microsoft.com/office/drawing/2014/main" id="{07A0879C-E9A3-4A48-A4AC-1DE60387F7C4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8124824" y="2289180"/>
            <a:ext cx="2819400" cy="785342"/>
          </a:xfrm>
          <a:prstGeom prst="rect">
            <a:avLst/>
          </a:prstGeom>
        </p:spPr>
        <p:txBody>
          <a:bodyPr anchor="b"/>
          <a:lstStyle>
            <a:lvl1pPr marL="0" marR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2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/>
              <a:t>INTERTÍTULO</a:t>
            </a:r>
            <a:br>
              <a:rPr lang="pt-BR" dirty="0"/>
            </a:br>
            <a:r>
              <a:rPr lang="pt-BR" dirty="0" err="1"/>
              <a:t>INTERTÍTULO</a:t>
            </a:r>
            <a:endParaRPr lang="pt-BR" dirty="0"/>
          </a:p>
        </p:txBody>
      </p:sp>
      <p:sp>
        <p:nvSpPr>
          <p:cNvPr id="28" name="Espaço Reservado para Conteúdo 4">
            <a:extLst>
              <a:ext uri="{FF2B5EF4-FFF2-40B4-BE49-F238E27FC236}">
                <a16:creationId xmlns:a16="http://schemas.microsoft.com/office/drawing/2014/main" id="{C93AF59E-0B59-41F7-8D76-870509D7AAFB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1040475"/>
            <a:ext cx="6734546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3355958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" name="Imagem 25" descr="Forma&#10;&#10;O conteúdo gerado por IA pode estar incorreto.">
            <a:extLst>
              <a:ext uri="{FF2B5EF4-FFF2-40B4-BE49-F238E27FC236}">
                <a16:creationId xmlns:a16="http://schemas.microsoft.com/office/drawing/2014/main" id="{412108E6-D36D-1E5D-A463-5DB8DA6A1B0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Espaço Reservado para Conteúdo 4">
            <a:extLst>
              <a:ext uri="{FF2B5EF4-FFF2-40B4-BE49-F238E27FC236}">
                <a16:creationId xmlns:a16="http://schemas.microsoft.com/office/drawing/2014/main" id="{82B24A9D-A588-4551-9139-9C6E04107613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91887" y="378824"/>
            <a:ext cx="4602014" cy="6126480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  <a:br>
              <a:rPr lang="pt-BR" dirty="0"/>
            </a:br>
            <a:r>
              <a:rPr lang="pt-BR" dirty="0" err="1"/>
              <a:t>TÍTULO</a:t>
            </a:r>
            <a:endParaRPr lang="pt-BR" dirty="0"/>
          </a:p>
          <a:p>
            <a:pPr lvl="0"/>
            <a:r>
              <a:rPr lang="pt-BR" dirty="0"/>
              <a:t>TÍTULO</a:t>
            </a:r>
          </a:p>
        </p:txBody>
      </p:sp>
      <p:sp>
        <p:nvSpPr>
          <p:cNvPr id="24" name="Espaço Reservado para Conteúdo 4">
            <a:extLst>
              <a:ext uri="{FF2B5EF4-FFF2-40B4-BE49-F238E27FC236}">
                <a16:creationId xmlns:a16="http://schemas.microsoft.com/office/drawing/2014/main" id="{A21AE171-2175-4DAD-8189-61FFCBDB02B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39264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56D3D759-453E-442D-AEC3-0FFF411B48A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78831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8" name="Espaço Reservado para Conteúdo 4">
            <a:extLst>
              <a:ext uri="{FF2B5EF4-FFF2-40B4-BE49-F238E27FC236}">
                <a16:creationId xmlns:a16="http://schemas.microsoft.com/office/drawing/2014/main" id="{8C3073B7-3423-46D9-8011-B23D48EB9616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96653" y="616721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49" name="Espaço Reservado para Conteúdo 4">
            <a:extLst>
              <a:ext uri="{FF2B5EF4-FFF2-40B4-BE49-F238E27FC236}">
                <a16:creationId xmlns:a16="http://schemas.microsoft.com/office/drawing/2014/main" id="{79C9CBE2-F540-4408-8EB3-A373311F1633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8792321" y="1023583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0" name="Espaço Reservado para Conteúdo 4">
            <a:extLst>
              <a:ext uri="{FF2B5EF4-FFF2-40B4-BE49-F238E27FC236}">
                <a16:creationId xmlns:a16="http://schemas.microsoft.com/office/drawing/2014/main" id="{7534DFE6-358C-4FF5-B3B9-6C34B0781772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538828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51" name="Espaço Reservado para Conteúdo 4">
            <a:extLst>
              <a:ext uri="{FF2B5EF4-FFF2-40B4-BE49-F238E27FC236}">
                <a16:creationId xmlns:a16="http://schemas.microsoft.com/office/drawing/2014/main" id="{2D4FC50B-1040-4A33-9D53-F74DFB48C830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578395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2" name="Espaço Reservado para Conteúdo 4">
            <a:extLst>
              <a:ext uri="{FF2B5EF4-FFF2-40B4-BE49-F238E27FC236}">
                <a16:creationId xmlns:a16="http://schemas.microsoft.com/office/drawing/2014/main" id="{F847EBBC-8153-4D80-BBEA-981CCB037D67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392299" y="2066007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53" name="Espaço Reservado para Conteúdo 4">
            <a:extLst>
              <a:ext uri="{FF2B5EF4-FFF2-40B4-BE49-F238E27FC236}">
                <a16:creationId xmlns:a16="http://schemas.microsoft.com/office/drawing/2014/main" id="{170C864E-D912-46D5-B580-C79231F833A0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8787967" y="2472869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4" name="Espaço Reservado para Conteúdo 4">
            <a:extLst>
              <a:ext uri="{FF2B5EF4-FFF2-40B4-BE49-F238E27FC236}">
                <a16:creationId xmlns:a16="http://schemas.microsoft.com/office/drawing/2014/main" id="{C4786A3E-B372-4DCC-B4F6-D10391BC6344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539264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5</a:t>
            </a:r>
          </a:p>
        </p:txBody>
      </p:sp>
      <p:sp>
        <p:nvSpPr>
          <p:cNvPr id="55" name="Espaço Reservado para Conteúdo 4">
            <a:extLst>
              <a:ext uri="{FF2B5EF4-FFF2-40B4-BE49-F238E27FC236}">
                <a16:creationId xmlns:a16="http://schemas.microsoft.com/office/drawing/2014/main" id="{B330D9FC-3804-478B-8B2F-BD1D550EB7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578831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6" name="Espaço Reservado para Conteúdo 4">
            <a:extLst>
              <a:ext uri="{FF2B5EF4-FFF2-40B4-BE49-F238E27FC236}">
                <a16:creationId xmlns:a16="http://schemas.microsoft.com/office/drawing/2014/main" id="{AADC77ED-B602-4D58-BF71-D63985E8F86D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8396653" y="351529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6</a:t>
            </a:r>
          </a:p>
        </p:txBody>
      </p:sp>
      <p:sp>
        <p:nvSpPr>
          <p:cNvPr id="57" name="Espaço Reservado para Conteúdo 4">
            <a:extLst>
              <a:ext uri="{FF2B5EF4-FFF2-40B4-BE49-F238E27FC236}">
                <a16:creationId xmlns:a16="http://schemas.microsoft.com/office/drawing/2014/main" id="{E912F27E-5DAD-40E4-A876-B9139A7C4862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8792321" y="3922155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58" name="Espaço Reservado para Conteúdo 4">
            <a:extLst>
              <a:ext uri="{FF2B5EF4-FFF2-40B4-BE49-F238E27FC236}">
                <a16:creationId xmlns:a16="http://schemas.microsoft.com/office/drawing/2014/main" id="{70F43E27-89B9-4AFE-9DB9-4B4A0555AEDA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538828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7</a:t>
            </a:r>
          </a:p>
        </p:txBody>
      </p:sp>
      <p:sp>
        <p:nvSpPr>
          <p:cNvPr id="59" name="Espaço Reservado para Conteúdo 4">
            <a:extLst>
              <a:ext uri="{FF2B5EF4-FFF2-40B4-BE49-F238E27FC236}">
                <a16:creationId xmlns:a16="http://schemas.microsoft.com/office/drawing/2014/main" id="{7891A22C-0D7C-4E4E-B231-0A73D868DAF9}"/>
              </a:ext>
            </a:extLst>
          </p:cNvPr>
          <p:cNvSpPr>
            <a:spLocks noGrp="1"/>
          </p:cNvSpPr>
          <p:nvPr>
            <p:ph sz="quarter" idx="25" hasCustomPrompt="1"/>
          </p:nvPr>
        </p:nvSpPr>
        <p:spPr>
          <a:xfrm>
            <a:off x="578395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60" name="Espaço Reservado para Conteúdo 4">
            <a:extLst>
              <a:ext uri="{FF2B5EF4-FFF2-40B4-BE49-F238E27FC236}">
                <a16:creationId xmlns:a16="http://schemas.microsoft.com/office/drawing/2014/main" id="{9AA294D8-A530-4C47-987A-7D029688897B}"/>
              </a:ext>
            </a:extLst>
          </p:cNvPr>
          <p:cNvSpPr>
            <a:spLocks noGrp="1"/>
          </p:cNvSpPr>
          <p:nvPr>
            <p:ph sz="quarter" idx="26" hasCustomPrompt="1"/>
          </p:nvPr>
        </p:nvSpPr>
        <p:spPr>
          <a:xfrm>
            <a:off x="8392299" y="4964579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8</a:t>
            </a:r>
          </a:p>
        </p:txBody>
      </p:sp>
      <p:sp>
        <p:nvSpPr>
          <p:cNvPr id="61" name="Espaço Reservado para Conteúdo 4">
            <a:extLst>
              <a:ext uri="{FF2B5EF4-FFF2-40B4-BE49-F238E27FC236}">
                <a16:creationId xmlns:a16="http://schemas.microsoft.com/office/drawing/2014/main" id="{14C76703-4040-4320-BD4F-1DD7CBE8C563}"/>
              </a:ext>
            </a:extLst>
          </p:cNvPr>
          <p:cNvSpPr>
            <a:spLocks noGrp="1"/>
          </p:cNvSpPr>
          <p:nvPr>
            <p:ph sz="quarter" idx="27" hasCustomPrompt="1"/>
          </p:nvPr>
        </p:nvSpPr>
        <p:spPr>
          <a:xfrm>
            <a:off x="8787967" y="5371441"/>
            <a:ext cx="2029461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4563588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Gráfico 7">
            <a:extLst>
              <a:ext uri="{FF2B5EF4-FFF2-40B4-BE49-F238E27FC236}">
                <a16:creationId xmlns:a16="http://schemas.microsoft.com/office/drawing/2014/main" id="{C8A2A5EB-55E9-818C-5100-8E3EC4E96C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1361271" y="5963677"/>
            <a:ext cx="531242" cy="531242"/>
          </a:xfrm>
          <a:prstGeom prst="rect">
            <a:avLst/>
          </a:prstGeom>
        </p:spPr>
      </p:pic>
      <p:sp>
        <p:nvSpPr>
          <p:cNvPr id="25" name="Espaço Reservado para Conteúdo 4">
            <a:extLst>
              <a:ext uri="{FF2B5EF4-FFF2-40B4-BE49-F238E27FC236}">
                <a16:creationId xmlns:a16="http://schemas.microsoft.com/office/drawing/2014/main" id="{F3DFFE69-5EB8-470E-B99B-54A3FB6EE3A9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29" name="Espaço Reservado para Conteúdo 4">
            <a:extLst>
              <a:ext uri="{FF2B5EF4-FFF2-40B4-BE49-F238E27FC236}">
                <a16:creationId xmlns:a16="http://schemas.microsoft.com/office/drawing/2014/main" id="{2F7B3AF4-B738-4398-B67B-6BBE8A527D51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677669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1</a:t>
            </a:r>
          </a:p>
        </p:txBody>
      </p:sp>
      <p:sp>
        <p:nvSpPr>
          <p:cNvPr id="30" name="Espaço Reservado para Conteúdo 4">
            <a:extLst>
              <a:ext uri="{FF2B5EF4-FFF2-40B4-BE49-F238E27FC236}">
                <a16:creationId xmlns:a16="http://schemas.microsoft.com/office/drawing/2014/main" id="{5D35BA6E-193D-4880-99D4-D6E40313A35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1386076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1" name="Espaço Reservado para Conteúdo 4">
            <a:extLst>
              <a:ext uri="{FF2B5EF4-FFF2-40B4-BE49-F238E27FC236}">
                <a16:creationId xmlns:a16="http://schemas.microsoft.com/office/drawing/2014/main" id="{58CA9FBA-C6F6-48B4-8054-37886D57B897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2902119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2" name="Espaço Reservado para Conteúdo 4">
            <a:extLst>
              <a:ext uri="{FF2B5EF4-FFF2-40B4-BE49-F238E27FC236}">
                <a16:creationId xmlns:a16="http://schemas.microsoft.com/office/drawing/2014/main" id="{3B524203-EAD3-4477-9209-B4351264128B}"/>
              </a:ext>
            </a:extLst>
          </p:cNvPr>
          <p:cNvSpPr>
            <a:spLocks noGrp="1"/>
          </p:cNvSpPr>
          <p:nvPr>
            <p:ph sz="quarter" idx="16" hasCustomPrompt="1"/>
          </p:nvPr>
        </p:nvSpPr>
        <p:spPr>
          <a:xfrm>
            <a:off x="6317421" y="1789450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2</a:t>
            </a:r>
          </a:p>
        </p:txBody>
      </p:sp>
      <p:sp>
        <p:nvSpPr>
          <p:cNvPr id="33" name="Espaço Reservado para Conteúdo 4">
            <a:extLst>
              <a:ext uri="{FF2B5EF4-FFF2-40B4-BE49-F238E27FC236}">
                <a16:creationId xmlns:a16="http://schemas.microsoft.com/office/drawing/2014/main" id="{01D447D5-A389-49AB-9939-1EC12515C697}"/>
              </a:ext>
            </a:extLst>
          </p:cNvPr>
          <p:cNvSpPr>
            <a:spLocks noGrp="1"/>
          </p:cNvSpPr>
          <p:nvPr>
            <p:ph sz="quarter" idx="17" hasCustomPrompt="1"/>
          </p:nvPr>
        </p:nvSpPr>
        <p:spPr>
          <a:xfrm>
            <a:off x="7025828" y="1789450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4" name="Espaço Reservado para Conteúdo 4">
            <a:extLst>
              <a:ext uri="{FF2B5EF4-FFF2-40B4-BE49-F238E27FC236}">
                <a16:creationId xmlns:a16="http://schemas.microsoft.com/office/drawing/2014/main" id="{B8D809D7-F1D1-4A2C-BB27-83433994B162}"/>
              </a:ext>
            </a:extLst>
          </p:cNvPr>
          <p:cNvSpPr>
            <a:spLocks noGrp="1"/>
          </p:cNvSpPr>
          <p:nvPr>
            <p:ph sz="quarter" idx="18" hasCustomPrompt="1"/>
          </p:nvPr>
        </p:nvSpPr>
        <p:spPr>
          <a:xfrm>
            <a:off x="8541871" y="1789450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5" name="Espaço Reservado para Conteúdo 4">
            <a:extLst>
              <a:ext uri="{FF2B5EF4-FFF2-40B4-BE49-F238E27FC236}">
                <a16:creationId xmlns:a16="http://schemas.microsoft.com/office/drawing/2014/main" id="{4705D9C3-A995-459D-AADF-DFDD6934707E}"/>
              </a:ext>
            </a:extLst>
          </p:cNvPr>
          <p:cNvSpPr>
            <a:spLocks noGrp="1"/>
          </p:cNvSpPr>
          <p:nvPr>
            <p:ph sz="quarter" idx="19" hasCustomPrompt="1"/>
          </p:nvPr>
        </p:nvSpPr>
        <p:spPr>
          <a:xfrm>
            <a:off x="677669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3</a:t>
            </a:r>
          </a:p>
        </p:txBody>
      </p:sp>
      <p:sp>
        <p:nvSpPr>
          <p:cNvPr id="36" name="Espaço Reservado para Conteúdo 4">
            <a:extLst>
              <a:ext uri="{FF2B5EF4-FFF2-40B4-BE49-F238E27FC236}">
                <a16:creationId xmlns:a16="http://schemas.microsoft.com/office/drawing/2014/main" id="{48370BE8-A043-4995-BDFE-BDB113D9F98B}"/>
              </a:ext>
            </a:extLst>
          </p:cNvPr>
          <p:cNvSpPr>
            <a:spLocks noGrp="1"/>
          </p:cNvSpPr>
          <p:nvPr>
            <p:ph sz="quarter" idx="20" hasCustomPrompt="1"/>
          </p:nvPr>
        </p:nvSpPr>
        <p:spPr>
          <a:xfrm>
            <a:off x="1386076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37" name="Espaço Reservado para Conteúdo 4">
            <a:extLst>
              <a:ext uri="{FF2B5EF4-FFF2-40B4-BE49-F238E27FC236}">
                <a16:creationId xmlns:a16="http://schemas.microsoft.com/office/drawing/2014/main" id="{EF334FA5-EFEC-4880-AB74-FDA39A9CF324}"/>
              </a:ext>
            </a:extLst>
          </p:cNvPr>
          <p:cNvSpPr>
            <a:spLocks noGrp="1"/>
          </p:cNvSpPr>
          <p:nvPr>
            <p:ph sz="quarter" idx="21" hasCustomPrompt="1"/>
          </p:nvPr>
        </p:nvSpPr>
        <p:spPr>
          <a:xfrm>
            <a:off x="2902119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38" name="Espaço Reservado para Conteúdo 4">
            <a:extLst>
              <a:ext uri="{FF2B5EF4-FFF2-40B4-BE49-F238E27FC236}">
                <a16:creationId xmlns:a16="http://schemas.microsoft.com/office/drawing/2014/main" id="{C62A379B-D566-4D7A-B047-927E5BA2A089}"/>
              </a:ext>
            </a:extLst>
          </p:cNvPr>
          <p:cNvSpPr>
            <a:spLocks noGrp="1"/>
          </p:cNvSpPr>
          <p:nvPr>
            <p:ph sz="quarter" idx="22" hasCustomPrompt="1"/>
          </p:nvPr>
        </p:nvSpPr>
        <p:spPr>
          <a:xfrm>
            <a:off x="6317421" y="3876563"/>
            <a:ext cx="708406" cy="1098093"/>
          </a:xfrm>
          <a:prstGeom prst="rect">
            <a:avLst/>
          </a:prstGeom>
        </p:spPr>
        <p:txBody>
          <a:bodyPr anchor="b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7000">
                <a:solidFill>
                  <a:schemeClr val="bg1">
                    <a:lumMod val="95000"/>
                  </a:schemeClr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4</a:t>
            </a:r>
          </a:p>
        </p:txBody>
      </p:sp>
      <p:sp>
        <p:nvSpPr>
          <p:cNvPr id="39" name="Espaço Reservado para Conteúdo 4">
            <a:extLst>
              <a:ext uri="{FF2B5EF4-FFF2-40B4-BE49-F238E27FC236}">
                <a16:creationId xmlns:a16="http://schemas.microsoft.com/office/drawing/2014/main" id="{265B2327-F611-4CB3-B79A-22014E2BDC29}"/>
              </a:ext>
            </a:extLst>
          </p:cNvPr>
          <p:cNvSpPr>
            <a:spLocks noGrp="1"/>
          </p:cNvSpPr>
          <p:nvPr>
            <p:ph sz="quarter" idx="23" hasCustomPrompt="1"/>
          </p:nvPr>
        </p:nvSpPr>
        <p:spPr>
          <a:xfrm>
            <a:off x="7025828" y="3876563"/>
            <a:ext cx="1489788" cy="1042424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.</a:t>
            </a:r>
          </a:p>
        </p:txBody>
      </p:sp>
      <p:sp>
        <p:nvSpPr>
          <p:cNvPr id="40" name="Espaço Reservado para Conteúdo 4">
            <a:extLst>
              <a:ext uri="{FF2B5EF4-FFF2-40B4-BE49-F238E27FC236}">
                <a16:creationId xmlns:a16="http://schemas.microsoft.com/office/drawing/2014/main" id="{875ADBDB-708D-40FF-B05B-63F736D2AC8D}"/>
              </a:ext>
            </a:extLst>
          </p:cNvPr>
          <p:cNvSpPr>
            <a:spLocks noGrp="1"/>
          </p:cNvSpPr>
          <p:nvPr>
            <p:ph sz="quarter" idx="24" hasCustomPrompt="1"/>
          </p:nvPr>
        </p:nvSpPr>
        <p:spPr>
          <a:xfrm>
            <a:off x="8541871" y="3876563"/>
            <a:ext cx="2819400" cy="1815882"/>
          </a:xfrm>
          <a:prstGeom prst="rect">
            <a:avLst/>
          </a:prstGeom>
        </p:spPr>
        <p:txBody>
          <a:bodyPr/>
          <a:lstStyle>
            <a:lvl1pPr marL="285750" indent="-28575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</a:p>
          <a:p>
            <a:pPr lvl="0"/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</p:spTree>
    <p:extLst>
      <p:ext uri="{BB962C8B-B14F-4D97-AF65-F5344CB8AC3E}">
        <p14:creationId xmlns:p14="http://schemas.microsoft.com/office/powerpoint/2010/main" val="116418996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Forma, Retângulo&#10;&#10;O conteúdo gerado por IA pode estar incorreto.">
            <a:extLst>
              <a:ext uri="{FF2B5EF4-FFF2-40B4-BE49-F238E27FC236}">
                <a16:creationId xmlns:a16="http://schemas.microsoft.com/office/drawing/2014/main" id="{755604ED-8D58-1615-3BD2-70AE34C5B63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DD008399-5FBB-472F-8E3F-633534F80D17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927463" y="1492989"/>
            <a:ext cx="10345783" cy="494711"/>
          </a:xfrm>
          <a:prstGeom prst="rect">
            <a:avLst/>
          </a:prstGeom>
          <a:solidFill>
            <a:schemeClr val="bg1"/>
          </a:solidFill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</a:t>
            </a:r>
            <a:r>
              <a:rPr lang="pt-BR" dirty="0" err="1"/>
              <a:t>TÍTULO</a:t>
            </a:r>
            <a:r>
              <a:rPr lang="pt-BR" dirty="0"/>
              <a:t> </a:t>
            </a:r>
            <a:r>
              <a:rPr lang="pt-BR" dirty="0" err="1"/>
              <a:t>TÍTULO</a:t>
            </a:r>
            <a:endParaRPr lang="pt-BR" dirty="0"/>
          </a:p>
        </p:txBody>
      </p:sp>
      <p:sp>
        <p:nvSpPr>
          <p:cNvPr id="12" name="Espaço Reservado para Conteúdo 4">
            <a:extLst>
              <a:ext uri="{FF2B5EF4-FFF2-40B4-BE49-F238E27FC236}">
                <a16:creationId xmlns:a16="http://schemas.microsoft.com/office/drawing/2014/main" id="{22C20E1A-1706-435A-BF46-A7988122942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2272937" y="2586445"/>
            <a:ext cx="3709852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8CB7D53B-6460-4A34-8124-84C3FBD464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6196150" y="2586445"/>
            <a:ext cx="3709850" cy="2778565"/>
          </a:xfrm>
          <a:prstGeom prst="rect">
            <a:avLst/>
          </a:prstGeom>
        </p:spPr>
        <p:txBody>
          <a:bodyPr anchor="ctr"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2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fr-FR" dirty="0"/>
              <a:t>Fusce quis lacus sit amet</a:t>
            </a:r>
          </a:p>
        </p:txBody>
      </p:sp>
    </p:spTree>
    <p:extLst>
      <p:ext uri="{BB962C8B-B14F-4D97-AF65-F5344CB8AC3E}">
        <p14:creationId xmlns:p14="http://schemas.microsoft.com/office/powerpoint/2010/main" val="10365117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0562E0AD-E4EE-02BD-8E08-C54B7CD54BE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9" name="Gráfico 8">
            <a:extLst>
              <a:ext uri="{FF2B5EF4-FFF2-40B4-BE49-F238E27FC236}">
                <a16:creationId xmlns:a16="http://schemas.microsoft.com/office/drawing/2014/main" id="{1ADE5E87-BD9B-7C07-F239-DC95941763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5" name="Espaço Reservado para Conteúdo 4">
            <a:extLst>
              <a:ext uri="{FF2B5EF4-FFF2-40B4-BE49-F238E27FC236}">
                <a16:creationId xmlns:a16="http://schemas.microsoft.com/office/drawing/2014/main" id="{A5F91E17-4B22-43C4-BC9A-B85CBB295BD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85455" y="2973777"/>
            <a:ext cx="5972545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chemeClr val="bg1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 DO SLIDE</a:t>
            </a:r>
          </a:p>
          <a:p>
            <a:pPr lvl="0"/>
            <a:r>
              <a:rPr lang="pt-BR" dirty="0"/>
              <a:t>TÍTULO DO SLIDE</a:t>
            </a:r>
          </a:p>
        </p:txBody>
      </p:sp>
    </p:spTree>
    <p:extLst>
      <p:ext uri="{BB962C8B-B14F-4D97-AF65-F5344CB8AC3E}">
        <p14:creationId xmlns:p14="http://schemas.microsoft.com/office/powerpoint/2010/main" val="280259198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Imagem 8" descr="Logotipo&#10;&#10;O conteúdo gerado por IA pode estar incorreto.">
            <a:extLst>
              <a:ext uri="{FF2B5EF4-FFF2-40B4-BE49-F238E27FC236}">
                <a16:creationId xmlns:a16="http://schemas.microsoft.com/office/drawing/2014/main" id="{D5AE18F8-4C98-E987-C600-30B97C4E5631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12" name="Gráfico 11">
            <a:extLst>
              <a:ext uri="{FF2B5EF4-FFF2-40B4-BE49-F238E27FC236}">
                <a16:creationId xmlns:a16="http://schemas.microsoft.com/office/drawing/2014/main" id="{C2EFD695-3E61-27BB-FD99-9C489A1A73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18663" b="40706"/>
          <a:stretch>
            <a:fillRect/>
          </a:stretch>
        </p:blipFill>
        <p:spPr>
          <a:xfrm>
            <a:off x="11287643" y="5957700"/>
            <a:ext cx="610847" cy="567947"/>
          </a:xfrm>
          <a:prstGeom prst="rect">
            <a:avLst/>
          </a:prstGeom>
        </p:spPr>
      </p:pic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C32784AB-7E2C-4D14-865A-F72AC13685F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58600" y="3821054"/>
            <a:ext cx="3859001" cy="1324583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400">
                <a:solidFill>
                  <a:schemeClr val="tx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14" name="Espaço Reservado para Conteúdo 4">
            <a:extLst>
              <a:ext uri="{FF2B5EF4-FFF2-40B4-BE49-F238E27FC236}">
                <a16:creationId xmlns:a16="http://schemas.microsoft.com/office/drawing/2014/main" id="{107E1770-8F3E-4B77-9943-2EEF8B2A663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849074" y="633344"/>
            <a:ext cx="2529556" cy="461665"/>
          </a:xfrm>
          <a:prstGeom prst="rect">
            <a:avLst/>
          </a:prstGeo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 sz="1200" spc="600">
                <a:solidFill>
                  <a:srgbClr val="21049A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NOME DA SEÇÃO</a:t>
            </a:r>
            <a:br>
              <a:rPr lang="pt-BR" dirty="0"/>
            </a:br>
            <a:r>
              <a:rPr lang="pt-BR" dirty="0"/>
              <a:t>NOME DA SEÇÃO</a:t>
            </a:r>
          </a:p>
        </p:txBody>
      </p:sp>
      <p:sp>
        <p:nvSpPr>
          <p:cNvPr id="16" name="Espaço Reservado para Conteúdo 4">
            <a:extLst>
              <a:ext uri="{FF2B5EF4-FFF2-40B4-BE49-F238E27FC236}">
                <a16:creationId xmlns:a16="http://schemas.microsoft.com/office/drawing/2014/main" id="{7F7E01A6-0BF4-4257-880E-0E0383602A45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58600" y="2503501"/>
            <a:ext cx="4933333" cy="1118045"/>
          </a:xfrm>
          <a:prstGeom prst="rect">
            <a:avLst/>
          </a:prstGeom>
        </p:spPr>
        <p:txBody>
          <a:bodyPr anchor="ctr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4800">
                <a:solidFill>
                  <a:srgbClr val="21049A"/>
                </a:solidFill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TÍTULO</a:t>
            </a:r>
          </a:p>
          <a:p>
            <a:pPr lvl="0"/>
            <a:r>
              <a:rPr lang="pt-BR" dirty="0"/>
              <a:t>TÍTULO</a:t>
            </a:r>
          </a:p>
        </p:txBody>
      </p:sp>
    </p:spTree>
    <p:extLst>
      <p:ext uri="{BB962C8B-B14F-4D97-AF65-F5344CB8AC3E}">
        <p14:creationId xmlns:p14="http://schemas.microsoft.com/office/powerpoint/2010/main" val="87768387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m 1" descr="Uma imagem contendo Interface gráfica do usuário&#10;&#10;O conteúdo gerado por IA pode estar incorreto.">
            <a:extLst>
              <a:ext uri="{FF2B5EF4-FFF2-40B4-BE49-F238E27FC236}">
                <a16:creationId xmlns:a16="http://schemas.microsoft.com/office/drawing/2014/main" id="{1BBAE76A-589A-1DC7-1848-FBCD1ED5F99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6" name="Espaço Reservado para Conteúdo 4">
            <a:extLst>
              <a:ext uri="{FF2B5EF4-FFF2-40B4-BE49-F238E27FC236}">
                <a16:creationId xmlns:a16="http://schemas.microsoft.com/office/drawing/2014/main" id="{8EDDECBF-2EF9-4580-826D-41A2BE4FF0F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094594" y="1287772"/>
            <a:ext cx="6098785" cy="1670102"/>
          </a:xfrm>
          <a:prstGeom prst="rect">
            <a:avLst/>
          </a:prstGeom>
        </p:spPr>
        <p:txBody>
          <a:bodyPr numCol="2" spcCol="180000"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et nunc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 </a:t>
            </a:r>
            <a:r>
              <a:rPr lang="pt-BR" dirty="0" err="1"/>
              <a:t>consectetur</a:t>
            </a:r>
            <a:r>
              <a:rPr lang="pt-BR" dirty="0"/>
              <a:t> </a:t>
            </a:r>
            <a:r>
              <a:rPr lang="pt-BR" dirty="0" err="1"/>
              <a:t>efficitur</a:t>
            </a:r>
            <a:r>
              <a:rPr lang="pt-BR" dirty="0"/>
              <a:t>. </a:t>
            </a:r>
            <a:r>
              <a:rPr lang="pt-BR" dirty="0" err="1"/>
              <a:t>Nullam</a:t>
            </a:r>
            <a:r>
              <a:rPr lang="pt-BR" dirty="0"/>
              <a:t> </a:t>
            </a:r>
            <a:r>
              <a:rPr lang="pt-BR" dirty="0" err="1"/>
              <a:t>nec</a:t>
            </a:r>
            <a:r>
              <a:rPr lang="pt-BR" dirty="0"/>
              <a:t> </a:t>
            </a:r>
            <a:r>
              <a:rPr lang="pt-BR" dirty="0" err="1"/>
              <a:t>lorem</a:t>
            </a:r>
            <a:r>
              <a:rPr lang="pt-BR" dirty="0"/>
              <a:t> </a:t>
            </a:r>
            <a:r>
              <a:rPr lang="pt-BR" dirty="0" err="1"/>
              <a:t>molestie</a:t>
            </a:r>
            <a:r>
              <a:rPr lang="pt-BR" dirty="0"/>
              <a:t> </a:t>
            </a:r>
            <a:r>
              <a:rPr lang="pt-BR" dirty="0" err="1"/>
              <a:t>velit</a:t>
            </a:r>
            <a:r>
              <a:rPr lang="pt-BR" dirty="0"/>
              <a:t>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dictum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  <a:r>
              <a:rPr lang="pt-BR" dirty="0" err="1"/>
              <a:t>Morbi</a:t>
            </a:r>
            <a:r>
              <a:rPr lang="pt-BR" dirty="0"/>
              <a:t> </a:t>
            </a:r>
            <a:r>
              <a:rPr lang="pt-BR" dirty="0" err="1"/>
              <a:t>eget</a:t>
            </a:r>
            <a:r>
              <a:rPr lang="pt-BR" dirty="0"/>
              <a:t> </a:t>
            </a:r>
            <a:r>
              <a:rPr lang="pt-BR" dirty="0" err="1"/>
              <a:t>nisi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Aliquam</a:t>
            </a:r>
            <a:r>
              <a:rPr lang="pt-BR" dirty="0"/>
              <a:t> </a:t>
            </a:r>
            <a:r>
              <a:rPr lang="pt-BR" dirty="0" err="1"/>
              <a:t>imperdiet</a:t>
            </a:r>
            <a:r>
              <a:rPr lang="pt-BR" dirty="0"/>
              <a:t> </a:t>
            </a:r>
            <a:r>
              <a:rPr lang="pt-BR" dirty="0" err="1"/>
              <a:t>ex</a:t>
            </a:r>
            <a:r>
              <a:rPr lang="pt-BR" dirty="0"/>
              <a:t> </a:t>
            </a:r>
            <a:r>
              <a:rPr lang="pt-BR" dirty="0" err="1"/>
              <a:t>enim</a:t>
            </a:r>
            <a:r>
              <a:rPr lang="pt-BR" dirty="0"/>
              <a:t>, id </a:t>
            </a:r>
            <a:r>
              <a:rPr lang="pt-BR" dirty="0" err="1"/>
              <a:t>mattis</a:t>
            </a:r>
            <a:r>
              <a:rPr lang="pt-BR" dirty="0"/>
              <a:t> </a:t>
            </a:r>
            <a:r>
              <a:rPr lang="pt-BR" dirty="0" err="1"/>
              <a:t>lacus</a:t>
            </a:r>
            <a:r>
              <a:rPr lang="pt-BR" dirty="0"/>
              <a:t> </a:t>
            </a:r>
            <a:r>
              <a:rPr lang="pt-BR" dirty="0" err="1"/>
              <a:t>feugiat</a:t>
            </a:r>
            <a:r>
              <a:rPr lang="pt-BR" dirty="0"/>
              <a:t> </a:t>
            </a:r>
            <a:r>
              <a:rPr lang="pt-BR" dirty="0" err="1"/>
              <a:t>sit</a:t>
            </a:r>
            <a:r>
              <a:rPr lang="pt-BR" dirty="0"/>
              <a:t> </a:t>
            </a:r>
            <a:r>
              <a:rPr lang="pt-BR" dirty="0" err="1"/>
              <a:t>amet</a:t>
            </a:r>
            <a:r>
              <a:rPr lang="pt-BR" dirty="0"/>
              <a:t>. </a:t>
            </a:r>
          </a:p>
        </p:txBody>
      </p:sp>
      <p:sp>
        <p:nvSpPr>
          <p:cNvPr id="8" name="Espaço Reservado para Conteúdo 4">
            <a:extLst>
              <a:ext uri="{FF2B5EF4-FFF2-40B4-BE49-F238E27FC236}">
                <a16:creationId xmlns:a16="http://schemas.microsoft.com/office/drawing/2014/main" id="{1895628F-1505-42BC-8AAC-324418E11977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5094594" y="3900126"/>
            <a:ext cx="5708389" cy="1869743"/>
          </a:xfrm>
          <a:prstGeom prst="rect">
            <a:avLst/>
          </a:prstGeom>
        </p:spPr>
        <p:txBody>
          <a:bodyPr anchor="t"/>
          <a:lstStyle>
            <a:lvl1pPr marL="0" indent="0">
              <a:lnSpc>
                <a:spcPct val="80000"/>
              </a:lnSpc>
              <a:spcBef>
                <a:spcPts val="0"/>
              </a:spcBef>
              <a:buNone/>
              <a:defRPr sz="3600">
                <a:solidFill>
                  <a:schemeClr val="bg1"/>
                </a:solidFill>
                <a:latin typeface="Roboto Light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 err="1"/>
              <a:t>Proin</a:t>
            </a:r>
            <a:r>
              <a:rPr lang="pt-BR" dirty="0"/>
              <a:t> </a:t>
            </a:r>
            <a:r>
              <a:rPr lang="pt-BR" dirty="0" err="1"/>
              <a:t>felis</a:t>
            </a:r>
            <a:r>
              <a:rPr lang="pt-BR" dirty="0"/>
              <a:t> </a:t>
            </a:r>
            <a:r>
              <a:rPr lang="pt-BR" dirty="0" err="1"/>
              <a:t>elit</a:t>
            </a:r>
            <a:r>
              <a:rPr lang="pt-BR" dirty="0"/>
              <a:t>, </a:t>
            </a:r>
            <a:r>
              <a:rPr lang="pt-BR" dirty="0" err="1"/>
              <a:t>pretium</a:t>
            </a:r>
            <a:r>
              <a:rPr lang="pt-BR" dirty="0"/>
              <a:t> </a:t>
            </a:r>
            <a:r>
              <a:rPr lang="pt-BR" dirty="0" err="1"/>
              <a:t>at</a:t>
            </a:r>
            <a:r>
              <a:rPr lang="pt-BR" dirty="0"/>
              <a:t> </a:t>
            </a:r>
            <a:r>
              <a:rPr lang="pt-BR" dirty="0" err="1"/>
              <a:t>ligula</a:t>
            </a:r>
            <a:r>
              <a:rPr lang="pt-BR" dirty="0"/>
              <a:t> et, </a:t>
            </a:r>
            <a:r>
              <a:rPr lang="pt-BR" dirty="0" err="1"/>
              <a:t>venenatis</a:t>
            </a:r>
            <a:r>
              <a:rPr lang="pt-BR" dirty="0"/>
              <a:t> </a:t>
            </a:r>
            <a:r>
              <a:rPr lang="pt-BR" dirty="0" err="1"/>
              <a:t>sollicitudin</a:t>
            </a:r>
            <a:r>
              <a:rPr lang="pt-BR" dirty="0"/>
              <a:t> </a:t>
            </a:r>
            <a:r>
              <a:rPr lang="pt-BR" dirty="0" err="1"/>
              <a:t>dolor</a:t>
            </a:r>
            <a:r>
              <a:rPr lang="pt-BR" dirty="0"/>
              <a:t>. </a:t>
            </a:r>
            <a:r>
              <a:rPr lang="pt-BR" dirty="0" err="1"/>
              <a:t>Vestibulum</a:t>
            </a:r>
            <a:r>
              <a:rPr lang="pt-BR" dirty="0"/>
              <a:t> </a:t>
            </a:r>
            <a:r>
              <a:rPr lang="pt-BR" dirty="0" err="1"/>
              <a:t>pulvinar</a:t>
            </a:r>
            <a:r>
              <a:rPr lang="pt-BR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9762676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 descr="Diagrama, Desenho técnico&#10;&#10;O conteúdo gerado por IA pode estar incorreto.">
            <a:extLst>
              <a:ext uri="{FF2B5EF4-FFF2-40B4-BE49-F238E27FC236}">
                <a16:creationId xmlns:a16="http://schemas.microsoft.com/office/drawing/2014/main" id="{04016A07-62CC-4FF1-A3F1-174AA423544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8" name="Gráfico 7">
            <a:extLst>
              <a:ext uri="{FF2B5EF4-FFF2-40B4-BE49-F238E27FC236}">
                <a16:creationId xmlns:a16="http://schemas.microsoft.com/office/drawing/2014/main" id="{55A34FD8-10C0-48D2-935C-1995B1CAA5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rcRect l="-8418" t="-46144" b="-40859"/>
          <a:stretch>
            <a:fillRect/>
          </a:stretch>
        </p:blipFill>
        <p:spPr>
          <a:xfrm>
            <a:off x="8223477" y="4675844"/>
            <a:ext cx="3279336" cy="1945427"/>
          </a:xfrm>
          <a:prstGeom prst="rect">
            <a:avLst/>
          </a:prstGeom>
        </p:spPr>
      </p:pic>
      <p:sp>
        <p:nvSpPr>
          <p:cNvPr id="13" name="Espaço Reservado para Conteúdo 4">
            <a:extLst>
              <a:ext uri="{FF2B5EF4-FFF2-40B4-BE49-F238E27FC236}">
                <a16:creationId xmlns:a16="http://schemas.microsoft.com/office/drawing/2014/main" id="{4951D684-8E9D-4D85-AFF1-60D706CBB3CE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1198962" y="1561342"/>
            <a:ext cx="9794071" cy="1118045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ct val="80000"/>
              </a:lnSpc>
              <a:spcBef>
                <a:spcPts val="0"/>
              </a:spcBef>
              <a:buNone/>
              <a:defRPr sz="7200">
                <a:ln>
                  <a:solidFill>
                    <a:schemeClr val="bg1"/>
                  </a:solidFill>
                </a:ln>
                <a:noFill/>
                <a:latin typeface="Roboto Black" panose="0200000000000000000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pt-BR" dirty="0"/>
              <a:t>TEXTO FINAL</a:t>
            </a:r>
          </a:p>
        </p:txBody>
      </p:sp>
    </p:spTree>
    <p:extLst>
      <p:ext uri="{BB962C8B-B14F-4D97-AF65-F5344CB8AC3E}">
        <p14:creationId xmlns:p14="http://schemas.microsoft.com/office/powerpoint/2010/main" val="234837349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72081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301875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49" r:id="rId12"/>
    <p:sldLayoutId id="2147483672" r:id="rId13"/>
    <p:sldLayoutId id="2147483673" r:id="rId14"/>
    <p:sldLayoutId id="2147483674" r:id="rId1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image" Target="../media/image26.png"/><Relationship Id="rId6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7.jpg"/><Relationship Id="rId3" Type="http://schemas.openxmlformats.org/officeDocument/2006/relationships/image" Target="../media/image28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9.png"/><Relationship Id="rId4" Type="http://schemas.openxmlformats.org/officeDocument/2006/relationships/image" Target="../media/image30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31.png"/><Relationship Id="rId6" Type="http://schemas.openxmlformats.org/officeDocument/2006/relationships/image" Target="../media/image3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3.png"/><Relationship Id="rId4" Type="http://schemas.openxmlformats.org/officeDocument/2006/relationships/image" Target="../media/image3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Relationship Id="rId2" Type="http://schemas.openxmlformats.org/officeDocument/2006/relationships/image" Target="../media/image23.png"/><Relationship Id="rId3" Type="http://schemas.openxmlformats.org/officeDocument/2006/relationships/image" Target="../media/image35.png"/><Relationship Id="rId4" Type="http://schemas.openxmlformats.org/officeDocument/2006/relationships/image" Target="../media/image3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cap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lockup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552450"/>
            <a:ext cx="2038350" cy="7010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85800" y="1905000"/>
            <a:ext cx="666750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80" b="1" i="0" spc="160">
                <a:solidFill>
                  <a:srgbClr val="E94D1C"/>
                </a:solidFill>
                <a:latin typeface="Roboto"/>
              </a:rPr>
              <a:t>TRABALHO 3, APRESENTAÇÃO INTERMEDIÁRIA, TIME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2133600"/>
            <a:ext cx="7429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App de gerenciamento</a:t>
            </a:r>
          </a:p>
          <a:p>
            <a:pPr algn="l">
              <a:lnSpc>
                <a:spcPct val="102000"/>
              </a:lnSpc>
            </a:pPr>
            <a:r>
              <a:rPr sz="4200" b="1" i="0">
                <a:solidFill>
                  <a:srgbClr val="FFFFFF"/>
                </a:solidFill>
                <a:latin typeface="Roboto"/>
              </a:rPr>
              <a:t>de convites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3848100"/>
            <a:ext cx="609600" cy="47625"/>
          </a:xfrm>
          <a:prstGeom prst="roundRect">
            <a:avLst>
              <a:gd name="adj" fmla="val 4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4114800"/>
            <a:ext cx="76200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580" b="0" i="0">
                <a:solidFill>
                  <a:srgbClr val="D6CFF0"/>
                </a:solidFill>
                <a:latin typeface="Roboto"/>
              </a:rPr>
              <a:t>Convite por link, confirmação de presença e restrições alimentares. Evolução da implementação desde o Grau A.</a:t>
            </a:r>
          </a:p>
        </p:txBody>
      </p:sp>
      <p:pic>
        <p:nvPicPr>
          <p:cNvPr id="8" name="Picture 7" descr="c03-cap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58250" y="1143000"/>
            <a:ext cx="2215006" cy="4572000"/>
          </a:xfrm>
          <a:prstGeom prst="rect">
            <a:avLst/>
          </a:prstGeom>
          <a:ln w="9525">
            <a:solidFill>
              <a:srgbClr val="6E59D2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85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EQUIPE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Andreas Grings, Gabriel Tomasi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Guilherme Toebe, Tiago Passos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2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DISCIPLINA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52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Arquitetura de Software</a:t>
            </a:r>
          </a:p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Prof. Kleinner Farias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019800" y="5391150"/>
            <a:ext cx="2667000" cy="15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750" b="0" i="0" spc="140">
                <a:solidFill>
                  <a:srgbClr val="9C90D4"/>
                </a:solidFill>
                <a:latin typeface="Roboto"/>
              </a:rPr>
              <a:t>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9800" y="5581650"/>
            <a:ext cx="2667000" cy="666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980" b="0" i="0">
                <a:solidFill>
                  <a:srgbClr val="E0DBF2"/>
                </a:solidFill>
                <a:latin typeface="Roboto"/>
              </a:rPr>
              <a:t>27/10/2026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 problema e os usuários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85597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74701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Quem organiza uma festa costuma juntar as confirmações pelo WhatsApp e perde a conta de quantas pessoas vêm, quantos acompanhantes cada uma leva e o que cada uma não pode comer.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694938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585972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A anfitriã cria o convite, envia o link e acompanha as respostas.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convidado abre o link e responde sem criar conta.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81965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71068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buffet recebe a lista de restrições alimentares.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Escopo do MVP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FUNCIONALIDADE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PERMITE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Conta do anfitrião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52561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Criar conta e entrar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Criação do convite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010891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Preencher os dados da festa, escolher template e cores e ver a prévia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Compartilhamento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349617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Publicar, copiar o link e despublicar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Confirmação de presença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98145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Responder sem conta, informar acompanhantes e alterar depois pelo link pessoal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Restrições alimentares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00500" y="4466730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Informar a restrição. Alergia pede descrição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00500" y="4952009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Ver a lista de presença e exportar as restrições em CSV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Problema e escopo, Andreas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Linha do tempo do projeto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" y="3028950"/>
            <a:ext cx="10820400" cy="28575"/>
          </a:xfrm>
          <a:prstGeom prst="rect">
            <a:avLst/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11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2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18/08 a 31/08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Requisitos e casos de uso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47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892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463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01/09 a 14/09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Arquitetura e decisões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81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926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97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15/09 a 28/09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Documento de arquitetura e protótipo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9215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960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531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06/10 a 19/10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Base do projeto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7249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8994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9565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20/10 a 02/11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Integração front e back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528300" y="2962275"/>
            <a:ext cx="152400" cy="152400"/>
          </a:xfrm>
          <a:prstGeom prst="roundRect">
            <a:avLst>
              <a:gd name="adj" fmla="val 50000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702800" y="3238500"/>
            <a:ext cx="18034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500" b="1" i="0">
                <a:solidFill>
                  <a:srgbClr val="21049A"/>
                </a:solidFill>
                <a:latin typeface="Roboto"/>
              </a:rPr>
              <a:t>Sprint 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59950" y="3505200"/>
            <a:ext cx="16891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03/11 a 16/11</a:t>
            </a:r>
          </a:p>
          <a:p>
            <a:pPr algn="ctr">
              <a:lnSpc>
                <a:spcPct val="13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Consolidação e Pitch Final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629150"/>
            <a:ext cx="28575" cy="238887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76300" y="4610100"/>
            <a:ext cx="104775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20" b="0" i="0">
                <a:solidFill>
                  <a:srgbClr val="1A1A1E"/>
                </a:solidFill>
                <a:latin typeface="Roboto"/>
              </a:rPr>
              <a:t>Sprints 1 a 3, Grau A: documentação e protótipo. Sprints 4 a 6, Grau B: implementação.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Tiers e camadas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2828925"/>
            <a:ext cx="1257300" cy="952500"/>
          </a:xfrm>
          <a:prstGeom prst="roundRect">
            <a:avLst>
              <a:gd name="adj" fmla="val 5000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3019425"/>
            <a:ext cx="12573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FFFFFF"/>
                </a:solidFill>
                <a:latin typeface="Roboto"/>
              </a:rPr>
              <a:t>Navegador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2950" y="3286125"/>
            <a:ext cx="11430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anfitrião e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FFFFFF"/>
                </a:solidFill>
                <a:latin typeface="Roboto"/>
              </a:rPr>
              <a:t>convidado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57500" y="1952625"/>
            <a:ext cx="2228850" cy="2762250"/>
          </a:xfrm>
          <a:prstGeom prst="roundRect">
            <a:avLst>
              <a:gd name="adj" fmla="val 2564"/>
            </a:avLst>
          </a:prstGeom>
          <a:solidFill>
            <a:srgbClr val="EEEBF7"/>
          </a:solidFill>
          <a:ln w="12700">
            <a:solidFill>
              <a:srgbClr val="21049A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009900" y="2066925"/>
            <a:ext cx="19240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21049A"/>
                </a:solidFill>
                <a:latin typeface="Roboto"/>
              </a:rPr>
              <a:t>Front em Next.js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09900" y="2314575"/>
            <a:ext cx="19240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front, porta 3000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028950" y="26384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28950" y="27527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Rotas de tela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028950" y="322897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8950" y="334327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View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28950" y="3819525"/>
            <a:ext cx="18859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28950" y="3933825"/>
            <a:ext cx="18859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21049A"/>
                </a:solidFill>
                <a:latin typeface="Roboto"/>
              </a:rPr>
              <a:t>Controller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57500" y="4486275"/>
            <a:ext cx="22288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21049A"/>
                </a:solidFill>
                <a:latin typeface="Roboto"/>
              </a:rPr>
              <a:t>MVC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0300" y="1952625"/>
            <a:ext cx="2381250" cy="2762250"/>
          </a:xfrm>
          <a:prstGeom prst="roundRect">
            <a:avLst>
              <a:gd name="adj" fmla="val 2400"/>
            </a:avLst>
          </a:prstGeom>
          <a:solidFill>
            <a:srgbClr val="FDEAE3"/>
          </a:solidFill>
          <a:ln w="12700">
            <a:solidFill>
              <a:srgbClr val="E94D1C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2700" y="2066925"/>
            <a:ext cx="207645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280" b="1" i="0">
                <a:solidFill>
                  <a:srgbClr val="E94D1C"/>
                </a:solidFill>
                <a:latin typeface="Roboto"/>
              </a:rPr>
              <a:t>API em NestJS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2700" y="2314575"/>
            <a:ext cx="20764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api, porta 3001 no host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81750" y="26384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81750" y="27527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Apresentação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81750" y="322897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81750" y="334327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Domínio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400925" y="309562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ounded Rectangle 24"/>
          <p:cNvSpPr/>
          <p:nvPr/>
        </p:nvSpPr>
        <p:spPr>
          <a:xfrm>
            <a:off x="6381750" y="3819525"/>
            <a:ext cx="2038350" cy="4572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81750" y="3933825"/>
            <a:ext cx="203835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1A1A1E"/>
                </a:solidFill>
                <a:latin typeface="Roboto"/>
              </a:rPr>
              <a:t>Dados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400925" y="3686175"/>
            <a:ext cx="0" cy="133350"/>
          </a:xfrm>
          <a:prstGeom prst="line">
            <a:avLst/>
          </a:prstGeom>
          <a:ln w="1905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210300" y="4486275"/>
            <a:ext cx="2381250" cy="198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980" b="1" i="0" spc="120">
                <a:solidFill>
                  <a:srgbClr val="E94D1C"/>
                </a:solidFill>
                <a:latin typeface="Roboto"/>
              </a:rPr>
              <a:t>TRÊS CAMADAS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15500" y="2733675"/>
            <a:ext cx="1790700" cy="1181100"/>
          </a:xfrm>
          <a:prstGeom prst="roundRect">
            <a:avLst>
              <a:gd name="adj" fmla="val 4838"/>
            </a:avLst>
          </a:prstGeom>
          <a:solidFill>
            <a:srgbClr val="F2F2F5"/>
          </a:solidFill>
          <a:ln w="12700">
            <a:solidFill>
              <a:srgbClr val="6B6B7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15500" y="2905125"/>
            <a:ext cx="1790700" cy="259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80" b="1" i="0">
                <a:solidFill>
                  <a:srgbClr val="1A1A1E"/>
                </a:solidFill>
                <a:latin typeface="Roboto"/>
              </a:rPr>
              <a:t>PostgreSQL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91700" y="3190875"/>
            <a:ext cx="16383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container db,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sem porta publicada</a:t>
            </a:r>
          </a:p>
        </p:txBody>
      </p:sp>
      <p:cxnSp>
        <p:nvCxnSpPr>
          <p:cNvPr id="32" name="Connector 31"/>
          <p:cNvCxnSpPr/>
          <p:nvPr/>
        </p:nvCxnSpPr>
        <p:spPr>
          <a:xfrm>
            <a:off x="1981200" y="3305175"/>
            <a:ext cx="83820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1943100" y="2867025"/>
            <a:ext cx="91440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página do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convite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5124450" y="3305175"/>
            <a:ext cx="1047750" cy="0"/>
          </a:xfrm>
          <a:prstGeom prst="line">
            <a:avLst/>
          </a:prstGeom>
          <a:ln w="25400">
            <a:solidFill>
              <a:srgbClr val="21049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5" name="TextBox 34"/>
          <p:cNvSpPr txBox="1"/>
          <p:nvPr/>
        </p:nvSpPr>
        <p:spPr>
          <a:xfrm>
            <a:off x="50863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leitura no</a:t>
            </a:r>
          </a:p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21049A"/>
                </a:solidFill>
                <a:latin typeface="Roboto"/>
              </a:rPr>
              <a:t>servidor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29650" y="3305175"/>
            <a:ext cx="1047750" cy="0"/>
          </a:xfrm>
          <a:prstGeom prst="line">
            <a:avLst/>
          </a:prstGeom>
          <a:ln w="2540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8591550" y="2867025"/>
            <a:ext cx="1123950" cy="213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050" b="0" i="0">
                <a:solidFill>
                  <a:srgbClr val="6B6B78"/>
                </a:solidFill>
                <a:latin typeface="Roboto"/>
              </a:rPr>
              <a:t>SQL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1314450" y="3781425"/>
            <a:ext cx="0" cy="120015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>
            <a:off x="1314450" y="4981575"/>
            <a:ext cx="6086475" cy="0"/>
          </a:xfrm>
          <a:prstGeom prst="line">
            <a:avLst/>
          </a:prstGeom>
          <a:ln w="25400">
            <a:solidFill>
              <a:srgbClr val="E94D1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V="1">
            <a:off x="7400925" y="4714875"/>
            <a:ext cx="0" cy="266700"/>
          </a:xfrm>
          <a:prstGeom prst="line">
            <a:avLst/>
          </a:prstGeom>
          <a:ln w="25400">
            <a:solidFill>
              <a:srgbClr val="E94D1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428750" y="5038725"/>
            <a:ext cx="495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0" i="0">
                <a:solidFill>
                  <a:srgbClr val="E94D1C"/>
                </a:solidFill>
                <a:latin typeface="Roboto"/>
              </a:rPr>
              <a:t>painel do anfitrião e envio das respostas, direto na API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857500" y="5381625"/>
            <a:ext cx="5734050" cy="438150"/>
          </a:xfrm>
          <a:prstGeom prst="roundRect">
            <a:avLst>
              <a:gd name="adj" fmla="val 8695"/>
            </a:avLst>
          </a:prstGeom>
          <a:solidFill>
            <a:srgbClr val="F2F2F5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09900" y="5495925"/>
            <a:ext cx="542925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050" b="1" i="0">
                <a:solidFill>
                  <a:srgbClr val="3A3A44"/>
                </a:solidFill>
                <a:latin typeface="Roboto"/>
              </a:rPr>
              <a:t>Pacote de tipos compartilhado (contract):</a:t>
            </a:r>
            <a:r>
              <a:rPr sz="1050" b="0" i="0">
                <a:solidFill>
                  <a:srgbClr val="3A3A44"/>
                </a:solidFill>
                <a:latin typeface="Roboto"/>
              </a:rPr>
              <a:t> pedidos e respostas usados pelo front e pela API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Base do projeto: lint, integração contínua e Docker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21049A"/>
                </a:solidFill>
                <a:latin typeface="Roboto"/>
              </a:rPr>
              <a:t>LINT E INTEGRAÇÃO CONTÍNUA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2240852"/>
            <a:ext cx="419100" cy="28575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048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lint recusa import que quebra a regra de camadas: o Domínio não importa da Apresentação, e os Dados não importam de nenhuma camada de cima.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6894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5854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Em todo PR, a integração contínua roda lint, formatação, tipos, testes contra um PostgreSQL e build.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7482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644200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mesma integração constrói as imagens da API, do front e do mock.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62700" y="2031302"/>
            <a:ext cx="5143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1" i="0" spc="120">
                <a:solidFill>
                  <a:srgbClr val="E94D1C"/>
                </a:solidFill>
                <a:latin typeface="Roboto"/>
              </a:rPr>
              <a:t>DOCKER COMPOSE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62700" y="2240852"/>
            <a:ext cx="419100" cy="28575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81750" y="263061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48450" y="252660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Três serviços: banco, API e front. O banco não publica porta.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1750" y="34253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48450" y="3321368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O front publica a 3000 e a API a 3001, porque o navegador chama a API direto no painel e no envio da resposta.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81750" y="448418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48450" y="4380166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A API só sobe depois que o banco responde ao healthcheck.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81750" y="527894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48450" y="5174932"/>
            <a:ext cx="485775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580" b="0" i="0">
                <a:solidFill>
                  <a:srgbClr val="1A1A1E"/>
                </a:solidFill>
                <a:latin typeface="Roboto"/>
              </a:rPr>
              <a:t>Um segundo arquivo troca a API por um mock, para trabalhar nas telas sem banco.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Regras da arquitetura no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54703"/>
            <a:ext cx="43815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REGRA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334000" y="2654703"/>
            <a:ext cx="6172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ONDE FICA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883303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3035703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Quem não tem acesso não descobre se um convite existe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34000" y="3035703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 e na Apresentação. Link inválido, convite despublicado e convite de outro anfitrião dão o mesmo 404, com o mesmo corpo e cabeçalho, conferido por um teste de ponta a ponta.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83281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95663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 em cookie assinado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0" y="395663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Na Apresentação. O front não guarda token.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31809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441917"/>
            <a:ext cx="42100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Link do convite gerado no Domínio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34000" y="4441917"/>
            <a:ext cx="6000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No Domínio, com gerador seguro, na primeira publicação. Nunca no navegador.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803372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Arquitetura, Tiago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front-end</a:t>
            </a:r>
          </a:p>
        </p:txBody>
      </p:sp>
      <p:pic>
        <p:nvPicPr>
          <p:cNvPr id="4" name="Picture 3" descr="c02-edit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655" y="1819275"/>
            <a:ext cx="6096000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792155" y="5724525"/>
            <a:ext cx="6477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Editor do convite, com a prévia</a:t>
            </a:r>
          </a:p>
        </p:txBody>
      </p:sp>
      <p:pic>
        <p:nvPicPr>
          <p:cNvPr id="6" name="Picture 5" descr="c03-conv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3455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7192955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no celular</a:t>
            </a:r>
          </a:p>
        </p:txBody>
      </p:sp>
      <p:pic>
        <p:nvPicPr>
          <p:cNvPr id="8" name="Picture 7" descr="c04-resposta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48800" y="1819275"/>
            <a:ext cx="1760545" cy="381000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9258300" y="5724525"/>
            <a:ext cx="2141545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Mudanças no front para seguir a arquitetura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629891"/>
            <a:ext cx="22860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PONTO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143250" y="2629891"/>
            <a:ext cx="3905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NO PROTÓTIPO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39000" y="2629891"/>
            <a:ext cx="42672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HOJE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85849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3010891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Vagas na página pública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143250" y="3010891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Mostrava quantas vagas restavam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9000" y="3010891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Sem contagem. A lotação só aparece na recusa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49617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CSV para o buffet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43250" y="349617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Montado no navegador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39000" y="349617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Gerado pela API, com proteção contra fórmulas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98145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Sessão do anfitrião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43250" y="398145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Token guardado no navegador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9000" y="398145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Cookie de sessão. O front não guarda token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4466730"/>
            <a:ext cx="21145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Limites do formulário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3250" y="4466730"/>
            <a:ext cx="3733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Conferidos só na tela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39000" y="4466730"/>
            <a:ext cx="40957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tela limita os campos, e a API valida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Front-end, Guilherme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Caminho de uma resposta na API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85800" y="1819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19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38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Apresentação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2962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85800" y="2962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3381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Domínio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4105275"/>
            <a:ext cx="10820400" cy="1066800"/>
          </a:xfrm>
          <a:prstGeom prst="roundRect">
            <a:avLst>
              <a:gd name="adj" fmla="val 3571"/>
            </a:avLst>
          </a:prstGeom>
          <a:solidFill>
            <a:srgbClr val="F2F2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85800" y="4105275"/>
            <a:ext cx="1295400" cy="1066800"/>
          </a:xfrm>
          <a:prstGeom prst="roundRect">
            <a:avLst>
              <a:gd name="adj" fmla="val 3571"/>
            </a:avLst>
          </a:prstGeom>
          <a:solidFill>
            <a:srgbClr val="6B6B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4524375"/>
            <a:ext cx="1295400" cy="243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FFFFFF"/>
                </a:solidFill>
                <a:latin typeface="Roboto"/>
              </a:rPr>
              <a:t>Dados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114550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0275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formato e o limite de tráfego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461657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47382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Aplica as regras da resposta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808764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94489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Calcula as vagas pedidas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55871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1596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Trava o convite e soma as vagas ocupadas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02979" y="4200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6B6B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8704" y="4257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Confere o teto e grava, ou devolve a recusa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850086" y="3057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E94D1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935811" y="3114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Dá nome à recusa: convite lotado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197193" y="1914525"/>
            <a:ext cx="1232807" cy="876300"/>
          </a:xfrm>
          <a:prstGeom prst="roundRect">
            <a:avLst>
              <a:gd name="adj" fmla="val 4347"/>
            </a:avLst>
          </a:prstGeom>
          <a:solidFill>
            <a:srgbClr val="FFFFFF"/>
          </a:solidFill>
          <a:ln w="19050">
            <a:solidFill>
              <a:srgbClr val="210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82918" y="1971675"/>
            <a:ext cx="1061357" cy="762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20" b="0" i="0">
                <a:solidFill>
                  <a:srgbClr val="3A3A44"/>
                </a:solidFill>
                <a:latin typeface="Roboto"/>
              </a:rPr>
              <a:t>Responde com o link pessoal ou com o erro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347357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3404507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4507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4694464" y="3495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6041571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98721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/>
          <p:nvPr/>
        </p:nvCxnSpPr>
        <p:spPr>
          <a:xfrm>
            <a:off x="6098721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7388679" y="4638675"/>
            <a:ext cx="11430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8735786" y="4638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V="1">
            <a:off x="8792936" y="3495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>
            <a:off x="8792936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082893" y="3495675"/>
            <a:ext cx="57150" cy="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140043" y="2352675"/>
            <a:ext cx="0" cy="1143000"/>
          </a:xfrm>
          <a:prstGeom prst="line">
            <a:avLst/>
          </a:prstGeom>
          <a:ln w="19050">
            <a:solidFill>
              <a:srgbClr val="6B6B7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0140043" y="2352675"/>
            <a:ext cx="57150" cy="0"/>
          </a:xfrm>
          <a:prstGeom prst="line">
            <a:avLst/>
          </a:prstGeom>
          <a:ln w="19050">
            <a:solidFill>
              <a:srgbClr val="6B6B7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Rectangle 40"/>
          <p:cNvSpPr/>
          <p:nvPr/>
        </p:nvSpPr>
        <p:spPr>
          <a:xfrm>
            <a:off x="685800" y="5562021"/>
            <a:ext cx="28575" cy="457779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76300" y="5542971"/>
            <a:ext cx="10629900" cy="59112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“Sim” ocupa uma vaga para o convidado e uma para cada acompanhante. “Talvez” e “Não” não ocupam vaga. “Não” zera acompanhantes e observação. Alergia exige descrição.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384096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TESTES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384096"/>
            <a:ext cx="750570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COBREM</a:t>
            </a:r>
          </a:p>
        </p:txBody>
      </p:sp>
      <p:sp>
        <p:nvSpPr>
          <p:cNvPr id="6" name="Rectangle 5"/>
          <p:cNvSpPr/>
          <p:nvPr/>
        </p:nvSpPr>
        <p:spPr>
          <a:xfrm>
            <a:off x="685800" y="2612696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2765096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Regras do Domínio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00500" y="2765096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Vagas pedidas por resposta, o não vou zerando acompanhantes e observação, descrição da alergia, data comparada por dia no fuso do projeto e publicação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3337777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3461602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Consultas no PostgreSQL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500" y="3461602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Gravação dentro do teto e concorrência: quatro respostas simultâneas pedindo duas vagas cada, num teto de cinco. Passam duas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4034283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4158108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Rotas de ponta a ponta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0" y="4158108"/>
            <a:ext cx="73342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fluxo completo, e o mesmo 404 para link inválido, convite despublicado e convite de outro anfitrião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4730789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Todos rodam na integração contínua, a cada PR, com um PostgreSQL de serviço.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Back-end, Gabriel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Roteiro da 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2144611"/>
            <a:ext cx="31432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PASSO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500" y="2144611"/>
            <a:ext cx="52387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O QUE MOSTRA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29750" y="2144611"/>
            <a:ext cx="2076450" cy="167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819" b="1" i="0" spc="120">
                <a:solidFill>
                  <a:srgbClr val="21049A"/>
                </a:solidFill>
                <a:latin typeface="Roboto"/>
              </a:rPr>
              <a:t>QUEM FALA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" y="2373211"/>
            <a:ext cx="10820400" cy="19050"/>
          </a:xfrm>
          <a:prstGeom prst="rect">
            <a:avLst/>
          </a:prstGeom>
          <a:solidFill>
            <a:srgbClr val="210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52561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Criar, personalizar e publicar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500" y="2525611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Template, cores, prévia e o link gerado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29750" y="2525611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87066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3010891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como convidado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00500" y="3010891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Resposta sem conta, com acompanhante e restrição alimentar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29750" y="3010891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" y="337234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5800" y="349617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Responder num convite lotado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00500" y="3496170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recusa pelo teto de vagas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29750" y="349617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85762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85800" y="398145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Alterar pelo link pessoal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00500" y="3981450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A troca da resposta para talvez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9750" y="398145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Gabriel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5800" y="4342905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85800" y="4466730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Painel e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00500" y="4466730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Lista de presença e restrições exportadas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429750" y="4466730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5800" y="482818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" y="4952009"/>
            <a:ext cx="29718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50" b="1" i="0">
                <a:solidFill>
                  <a:srgbClr val="21049A"/>
                </a:solidFill>
                <a:latin typeface="Roboto"/>
              </a:rPr>
              <a:t>Despublicar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00500" y="4952009"/>
            <a:ext cx="5067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O link do convite deixa de abrir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29750" y="4952009"/>
            <a:ext cx="1905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80" b="0" i="0">
                <a:solidFill>
                  <a:srgbClr val="1A1A1E"/>
                </a:solidFill>
                <a:latin typeface="Roboto"/>
              </a:rPr>
              <a:t>Guilherme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85800" y="5313464"/>
            <a:ext cx="10820400" cy="9525"/>
          </a:xfrm>
          <a:prstGeom prst="rect">
            <a:avLst/>
          </a:prstGeom>
          <a:solidFill>
            <a:srgbClr val="EDED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Demonstração, Tiago, Guilherme e Gabriel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Organização do trabalho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313715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302818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Sprints de duas semanas, acompanhadas no quadro Kanban do Azure Boards. Cada história foi dividida em tarefas de tela e de API.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97611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86715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Conversamos pelo WhatsApp e nas aulas. As decisões ficam na documentação do repositório.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53847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42950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Cada mudança entra na main por PR, depois que a integração contínua passa.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Organização, Tiago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Dificuldades encontradas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579370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470404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front e o back foram feitos em paralelo, fora da main, e precisaram ser adaptados ao pacote de tipos e às camadas para entrar.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418332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309366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O protótipo do front foi feito antes de a arquitetura estar no código, e contava vagas, montava o CSV e guardava o token na própria tela.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4257294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4148328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Na primeira versão do back-end, a regra das vagas estava na consulta SQL da camada de Dados. O cálculo foi movido para o Domínio.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5096256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987290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Faríamos diferente: definir o pacote de tipos antes das telas e integrar front e back mais cedo.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Dificuldades, Tiago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Planejamento até a apresentação final, em 17/11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850" y="2713101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1550" y="2604135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Revisar os artefatos das Sprints 1 a 3 contra o código, história por história.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850" y="3275457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71550" y="3166491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Desenhar o diagrama de sequência da lista de presença, que faltou no Grau A.</a:t>
            </a:r>
          </a:p>
        </p:txBody>
      </p:sp>
      <p:sp>
        <p:nvSpPr>
          <p:cNvPr id="8" name="Rectangle 7"/>
          <p:cNvSpPr/>
          <p:nvPr/>
        </p:nvSpPr>
        <p:spPr>
          <a:xfrm>
            <a:off x="704850" y="3837813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1550" y="3728847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Completar o protótipo de baixa fidelidade da Sprint 3 a partir das telas reais.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850" y="4400169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1550" y="4291203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Dar o aval do time às decisões novas da arquitetura.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04850" y="4962525"/>
            <a:ext cx="57150" cy="571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550" y="4853559"/>
            <a:ext cx="10134600" cy="95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50" b="0" i="0">
                <a:solidFill>
                  <a:srgbClr val="1A1A1E"/>
                </a:solidFill>
                <a:latin typeface="Roboto"/>
              </a:rPr>
              <a:t>Preparar e ensaiar o Pitch Final.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Planejamento, Tiago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undo-seca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3" name="Picture 2" descr="u-br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914400" y="1638300"/>
            <a:ext cx="38100" cy="17145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66800" y="1600200"/>
            <a:ext cx="85725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20" b="1" i="0" spc="160">
                <a:solidFill>
                  <a:srgbClr val="FFFFFF"/>
                </a:solidFill>
                <a:latin typeface="Roboto"/>
              </a:rPr>
              <a:t>TIME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66900"/>
            <a:ext cx="9715500" cy="1905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3900" b="1" i="0">
                <a:solidFill>
                  <a:srgbClr val="FFFFFF"/>
                </a:solidFill>
                <a:latin typeface="Roboto"/>
              </a:rPr>
              <a:t>Perguntas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609850"/>
            <a:ext cx="8572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Andreas Grings: problema e requisitos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Tiago Passos: arquitetura, Docker, GitHub e planejamento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Guilherme Toebe: front-end e Azure Boards</a:t>
            </a:r>
          </a:p>
          <a:p>
            <a:pPr algn="l">
              <a:lnSpc>
                <a:spcPct val="150000"/>
              </a:lnSpc>
            </a:pPr>
            <a:r>
              <a:rPr sz="1420" b="0" i="0">
                <a:solidFill>
                  <a:srgbClr val="E2DEF5"/>
                </a:solidFill>
                <a:latin typeface="Roboto"/>
              </a:rPr>
              <a:t>Gabriel Tomasi: back-end e testes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FFFFFF"/>
                </a:solidFill>
                <a:latin typeface="Roboto"/>
              </a:rPr>
              <a:t>Perguntas, Tiago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FFFFFF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anfitrião</a:t>
            </a:r>
          </a:p>
        </p:txBody>
      </p:sp>
      <p:pic>
        <p:nvPicPr>
          <p:cNvPr id="4" name="Picture 3" descr="c01-entrad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Tela de entrada, com o acesso ao cadastro</a:t>
            </a:r>
          </a:p>
        </p:txBody>
      </p:sp>
      <p:pic>
        <p:nvPicPr>
          <p:cNvPr id="6" name="Picture 5" descr="c08-li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48400" y="1814368"/>
            <a:ext cx="5257800" cy="3286125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6057900" y="5195743"/>
            <a:ext cx="563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Lista de convites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Telas do convidado</a:t>
            </a:r>
          </a:p>
        </p:txBody>
      </p:sp>
      <p:pic>
        <p:nvPicPr>
          <p:cNvPr id="4" name="Picture 3" descr="c03-conv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6848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156348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</a:t>
            </a:r>
          </a:p>
        </p:txBody>
      </p:sp>
      <p:pic>
        <p:nvPicPr>
          <p:cNvPr id="6" name="Picture 5" descr="c04-respost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24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4107124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Resposta enviada</a:t>
            </a:r>
          </a:p>
        </p:txBody>
      </p:sp>
      <p:pic>
        <p:nvPicPr>
          <p:cNvPr id="8" name="Picture 7" descr="c05-lo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4840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05790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lotado</a:t>
            </a:r>
          </a:p>
        </p:txBody>
      </p:sp>
      <p:pic>
        <p:nvPicPr>
          <p:cNvPr id="10" name="Picture 9" descr="c06-link-pessoal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9176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8008676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Link pessoal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Painel e convite despublicado</a:t>
            </a:r>
          </a:p>
        </p:txBody>
      </p:sp>
      <p:pic>
        <p:nvPicPr>
          <p:cNvPr id="4" name="Picture 3" descr="c07-paine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70964" y="1676400"/>
            <a:ext cx="5699297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2080464" y="5333710"/>
            <a:ext cx="608029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Painel de respostas</a:t>
            </a:r>
          </a:p>
        </p:txBody>
      </p:sp>
      <p:pic>
        <p:nvPicPr>
          <p:cNvPr id="6" name="Picture 5" descr="c09-nao-encontr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75060" y="1676400"/>
            <a:ext cx="1645976" cy="3562060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8084560" y="5333710"/>
            <a:ext cx="2026976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Convite despublicado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u-azu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4200" y="457200"/>
            <a:ext cx="342900" cy="3429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685800" y="685800"/>
            <a:ext cx="96202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3000" b="1" i="0">
                <a:solidFill>
                  <a:srgbClr val="21049A"/>
                </a:solidFill>
                <a:latin typeface="Roboto"/>
              </a:rPr>
              <a:t>Quadro Kanban e integração no GitHub</a:t>
            </a:r>
          </a:p>
        </p:txBody>
      </p:sp>
      <p:pic>
        <p:nvPicPr>
          <p:cNvPr id="4" name="Picture 3" descr="c10-kanb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08599"/>
            <a:ext cx="3164333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495300" y="5201511"/>
            <a:ext cx="3545333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Quadro Kanban no Azure Boards</a:t>
            </a:r>
          </a:p>
        </p:txBody>
      </p:sp>
      <p:pic>
        <p:nvPicPr>
          <p:cNvPr id="6" name="Picture 5" descr="c11-ci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4933" y="1808599"/>
            <a:ext cx="7351267" cy="3297662"/>
          </a:xfrm>
          <a:prstGeom prst="rect">
            <a:avLst/>
          </a:prstGeom>
          <a:ln w="9525">
            <a:solidFill>
              <a:srgbClr val="D9D9D9"/>
            </a:solidFill>
          </a:ln>
        </p:spPr>
      </p:pic>
      <p:sp>
        <p:nvSpPr>
          <p:cNvPr id="7" name="TextBox 6"/>
          <p:cNvSpPr txBox="1"/>
          <p:nvPr/>
        </p:nvSpPr>
        <p:spPr>
          <a:xfrm>
            <a:off x="3964433" y="5201511"/>
            <a:ext cx="7732267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1120" b="0" i="0">
                <a:solidFill>
                  <a:srgbClr val="6B6B78"/>
                </a:solidFill>
                <a:latin typeface="Roboto"/>
              </a:rPr>
              <a:t>Integração contínua aprovada no PR do back-end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809960"/>
            <a:ext cx="28575" cy="209840"/>
          </a:xfrm>
          <a:prstGeom prst="rect">
            <a:avLst/>
          </a:prstGeom>
          <a:solidFill>
            <a:srgbClr val="E94D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76300" y="5790910"/>
            <a:ext cx="10629900" cy="34319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280" b="0" i="0">
                <a:solidFill>
                  <a:srgbClr val="3A3A44"/>
                </a:solidFill>
                <a:latin typeface="Roboto"/>
              </a:rPr>
              <a:t>Capturas de 26/10/2026.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6324600"/>
            <a:ext cx="66675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 i="0">
                <a:solidFill>
                  <a:srgbClr val="6B6B78"/>
                </a:solidFill>
                <a:latin typeface="Roboto"/>
              </a:rPr>
              <a:t>Apêndice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324600"/>
            <a:ext cx="10287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900" b="1" i="0">
                <a:solidFill>
                  <a:srgbClr val="21049A"/>
                </a:solidFill>
                <a:latin typeface="Roboto"/>
              </a:rPr>
              <a:t>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unisinos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Escritório">
      <a:majorFont>
        <a:latin typeface="Aptos Display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ptos" panose="020B000402020202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tema unisinos" id="{0EDEEB91-0736-441F-A7F5-4FA5717EFDDE}" vid="{6FB48B3F-96BA-4BC3-92BE-A09E0B32FF42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585AD953FC666642937FCE52CC8B4A6A" ma:contentTypeVersion="21" ma:contentTypeDescription="Crie um novo documento." ma:contentTypeScope="" ma:versionID="a0f0a53631578753e0de4c39d7473101">
  <xsd:schema xmlns:xsd="http://www.w3.org/2001/XMLSchema" xmlns:xs="http://www.w3.org/2001/XMLSchema" xmlns:p="http://schemas.microsoft.com/office/2006/metadata/properties" xmlns:ns2="5fb5f026-dc7b-485f-82fe-577aafb4abaa" xmlns:ns3="9970e0e6-68bd-454a-b013-2dc3f312d27d" targetNamespace="http://schemas.microsoft.com/office/2006/metadata/properties" ma:root="true" ma:fieldsID="1cb42779a8c523c71ef9e1ae6bb42114" ns2:_="" ns3:_="">
    <xsd:import namespace="5fb5f026-dc7b-485f-82fe-577aafb4abaa"/>
    <xsd:import namespace="9970e0e6-68bd-454a-b013-2dc3f312d27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  <xsd:element ref="ns2:MediaServiceBillingMetadata" minOccurs="0"/>
                <xsd:element ref="ns2:Na_x0020_sua_x0020_vis_x00e3_o_x002c__x0020_qual_x0020__x00e9__x0020_o_x0020_principal_x0020_diferencial_x0020_dos_x0020_cursos_x0020_em_x0020_rela_x00e7__x00e3_o_x0020_a_x0020_outras_x0020_especializa_x00e7__x00f5_es_x0020_semelhantes_x0020_no_x0020_Brasil_x003f_"/>
                <xsd:element ref="ns2: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fb5f026-dc7b-485f-82fe-577aafb4aba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1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Marcações de imagem" ma:readOnly="false" ma:fieldId="{5cf76f15-5ced-4ddc-b409-7134ff3c332f}" ma:taxonomyMulti="true" ma:sspId="aac08c5c-6fe0-4712-b828-e958a9361e2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BillingMetadata" ma:index="25" nillable="true" ma:displayName="MediaServiceBillingMetadata" ma:hidden="true" ma:internalName="MediaServiceBillingMetadata" ma:readOnly="true">
      <xsd:simpleType>
        <xsd:restriction base="dms:Note"/>
      </xsd:simpleType>
    </xsd:element>
    <xsd:element name="Na_x0020_sua_x0020_vis_x00e3_o_x002c__x0020_qual_x0020__x00e9__x0020_o_x0020_principal_x0020_diferencial_x0020_dos_x0020_cursos_x0020_em_x0020_rela_x00e7__x00e3_o_x0020_a_x0020_outras_x0020_especializa_x00e7__x00f5_es_x0020_semelhantes_x0020_no_x0020_Brasil_x003f_" ma:index="26" ma:displayName="Na sua visão, qual é o principal diferencial dos cursos em relação a outras especializações semelhantes no Brasil?" ma:internalName="Na_x0020_sua_x0020_vis_x00e3_o_x002c__x0020_qual_x0020__x00e9__x0020_o_x0020_principal_x0020_diferencial_x0020_dos_x0020_cursos_x0020_em_x0020_rela_x00e7__x00e3_o_x0020_a_x0020_outras_x0020_especializa_x00e7__x00f5_es_x0020_semelhantes_x0020_no_x0020_Brasil_x003f_">
      <xsd:simpleType>
        <xsd:restriction base="dms:Note">
          <xsd:maxLength value="255"/>
        </xsd:restriction>
      </xsd:simpleType>
    </xsd:element>
    <xsd:element 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 ma:index="27" ma:displayName="Que tipo de profissional você acredita que mais se beneficia deste curso hoje (perfil técnico, momento de carreira, lacunas que o curso supre)?" ma:internalName="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970e0e6-68bd-454a-b013-2dc3f312d27d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f04e90fd-b40d-4e8a-9052-aed8cdd6606b}" ma:internalName="TaxCatchAll" ma:showField="CatchAllData" ma:web="9970e0e6-68bd-454a-b013-2dc3f312d27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5fb5f026-dc7b-485f-82fe-577aafb4abaa">
      <Terms xmlns="http://schemas.microsoft.com/office/infopath/2007/PartnerControls"/>
    </lcf76f155ced4ddcb4097134ff3c332f>
    <TaxCatchAll xmlns="9970e0e6-68bd-454a-b013-2dc3f312d27d" xsi:nil="true"/>
    <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 xmlns="5fb5f026-dc7b-485f-82fe-577aafb4abaa">a</Que_x0020_tipo_x0020_de_x0020_profissional_x0020_voc_x00ea__x0020_acredita_x0020_que_x0020_mais_x0020_se_x0020_beneficia_x0020_deste_x0020_curso_x0020_hoje_x0020__x0028_perfil_x0020_t_x00e9_cnico_x002c__x0020_momento_x0020_de_x0020_carreira_x002c__x0020_lacunas_x0020_que_x0020_o_x0020_curso_x0020_supre_x0029__x003f_>
    <Na_x0020_sua_x0020_vis_x00e3_o_x002c__x0020_qual_x0020__x00e9__x0020_o_x0020_principal_x0020_diferencial_x0020_dos_x0020_cursos_x0020_em_x0020_rela_x00e7__x00e3_o_x0020_a_x0020_outras_x0020_especializa_x00e7__x00f5_es_x0020_semelhantes_x0020_no_x0020_Brasil_x003f_ xmlns="5fb5f026-dc7b-485f-82fe-577aafb4abaa">a</Na_x0020_sua_x0020_vis_x00e3_o_x002c__x0020_qual_x0020__x00e9__x0020_o_x0020_principal_x0020_diferencial_x0020_dos_x0020_cursos_x0020_em_x0020_rela_x00e7__x00e3_o_x0020_a_x0020_outras_x0020_especializa_x00e7__x00f5_es_x0020_semelhantes_x0020_no_x0020_Brasil_x003f_>
  </documentManagement>
</p:properties>
</file>

<file path=customXml/itemProps1.xml><?xml version="1.0" encoding="utf-8"?>
<ds:datastoreItem xmlns:ds="http://schemas.openxmlformats.org/officeDocument/2006/customXml" ds:itemID="{8EFE6DF0-C827-427D-A5C4-577D5E296F4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fb5f026-dc7b-485f-82fe-577aafb4abaa"/>
    <ds:schemaRef ds:uri="9970e0e6-68bd-454a-b013-2dc3f312d2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504F551-2F4B-4ED5-8A86-9AF9523DAD55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0D329F00-2A8C-46E7-9764-248AFFF1202A}">
  <ds:schemaRefs>
    <ds:schemaRef ds:uri="http://purl.org/dc/elements/1.1/"/>
    <ds:schemaRef ds:uri="http://schemas.openxmlformats.org/package/2006/metadata/core-properties"/>
    <ds:schemaRef ds:uri="http://purl.org/dc/terms/"/>
    <ds:schemaRef ds:uri="5fb5f026-dc7b-485f-82fe-577aafb4abaa"/>
    <ds:schemaRef ds:uri="http://schemas.microsoft.com/office/2006/documentManagement/types"/>
    <ds:schemaRef ds:uri="http://schemas.microsoft.com/office/infopath/2007/PartnerControls"/>
    <ds:schemaRef ds:uri="http://schemas.microsoft.com/office/2006/metadata/properties"/>
    <ds:schemaRef ds:uri="9970e0e6-68bd-454a-b013-2dc3f312d27d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tema unisinos</Template>
  <TotalTime>60</TotalTime>
  <Words>1142</Words>
  <Application>Microsoft Office PowerPoint</Application>
  <PresentationFormat>Widescreen</PresentationFormat>
  <Paragraphs>120</Paragraphs>
  <Slides>15</Slides>
  <Notes>2</Notes>
  <HiddenSlides>1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15</vt:i4>
      </vt:variant>
    </vt:vector>
  </HeadingPairs>
  <TitlesOfParts>
    <vt:vector size="16" baseType="lpstr">
      <vt:lpstr>tema unisinos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TÍTULO TÍTULO</vt:lpstr>
      <vt:lpstr>Apresentação do PowerPoint</vt:lpstr>
      <vt:lpstr>Apresentação do PowerPoint</vt:lpstr>
      <vt:lpstr>TÍTULO TÍTULO TÍTULO TÍTULO TÍTULO TÍTULO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 de gerenciamento de convites, apresentação intermediária</dc:title>
  <dc:creator>Time 04: Andreas Grings, Gabriel Tomasi, Guilherme Toebe, Tiago Passos</dc:creator>
  <cp:lastModifiedBy>Time 04: Andreas Grings, Gabriel Tomasi, Guilherme Toebe, Tiago Passos</cp:lastModifiedBy>
  <cp:revision>15</cp:revision>
  <dcterms:created xsi:type="dcterms:W3CDTF">2012-07-30T23:50:35Z</dcterms:created>
  <dcterms:modified xsi:type="dcterms:W3CDTF">2026-03-06T20:44:32Z</dcterms:modified>
  <dc:subject>Arquitetura de Software, Trabalho 3</dc:subject>
  <cp:keywords/>
  <dc:description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0x010100585AD953FC666642937FCE52CC8B4A6A</vt:lpwstr>
  </property>
  <property fmtid="{D5CDD505-2E9C-101B-9397-08002B2CF9AE}" pid="3" name="MediaServiceImageTags">
    <vt:lpwstr/>
  </property>
</Properties>
</file>