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  <p:sldId id="288" r:id="rId43"/>
    <p:sldId id="289" r:id="rId44"/>
    <p:sldId id="290" r:id="rId45"/>
    <p:sldId id="291" r:id="rId4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0" y="381000"/>
            <a:ext cx="4000500" cy="4000500"/>
          </a:xfrm>
          <a:prstGeom prst="roundRect">
            <a:avLst>
              <a:gd name="adj" fmla="val 50000"/>
            </a:avLst>
          </a:prstGeom>
          <a:solidFill>
            <a:srgbClr val="331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550"/>
            <a:ext cx="1257300" cy="266700"/>
          </a:xfrm>
          <a:prstGeom prst="rect">
            <a:avLst/>
          </a:prstGeom>
          <a:noFill/>
          <a:ln w="12700">
            <a:solidFill>
              <a:srgbClr val="8A7A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66750"/>
            <a:ext cx="12573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50" b="0" i="0" spc="140">
                <a:solidFill>
                  <a:srgbClr val="B5AAE0"/>
                </a:solidFill>
                <a:latin typeface="Roboto"/>
              </a:rPr>
              <a:t>LOGO UNISINOS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 diagrama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à execução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114800"/>
            <a:ext cx="6286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Conteinerização como decisão de arquitetura sobre empacotamento e implantação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3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3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38250" y="1447800"/>
            <a:ext cx="9525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250" b="1" i="0">
                <a:solidFill>
                  <a:srgbClr val="E94D1C"/>
                </a:solidFill>
                <a:latin typeface="Roboto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8250" y="2057400"/>
            <a:ext cx="9525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850" b="0" i="0">
                <a:solidFill>
                  <a:srgbClr val="FFFFFF"/>
                </a:solidFill>
                <a:latin typeface="Roboto"/>
              </a:rPr>
              <a:t>Unidade de composição com interfaces especificadas e dependências de contexto explícitas, que pode ser implantada de forma independente.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38250" y="4610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8250" y="48387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B8AEE4"/>
                </a:solidFill>
                <a:latin typeface="Roboto"/>
              </a:rPr>
              <a:t>Que conceito da disciplina esta frase define?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A · Introdução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FRASE DEFINE COMPONENTE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8200"/>
            <a:ext cx="9525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descreve, sem citar,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um serviço de container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1550" y="2000250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1" i="0">
                <a:solidFill>
                  <a:srgbClr val="1A1A1E"/>
                </a:solidFill>
                <a:latin typeface="Roboto"/>
              </a:rPr>
              <a:t>Interface especificada</a:t>
            </a:r>
            <a:r>
              <a:rPr sz="1420" b="0" i="0">
                <a:solidFill>
                  <a:srgbClr val="1A1A1E"/>
                </a:solidFill>
                <a:latin typeface="Roboto"/>
              </a:rPr>
              <a:t> é a porta publicada mais o contrato HTTP.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72487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1550" y="2362962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1" i="0">
                <a:solidFill>
                  <a:srgbClr val="1A1A1E"/>
                </a:solidFill>
                <a:latin typeface="Roboto"/>
              </a:rPr>
              <a:t>Dependência de contexto explícita</a:t>
            </a:r>
            <a:r>
              <a:rPr sz="1420" b="0" i="0">
                <a:solidFill>
                  <a:srgbClr val="1A1A1E"/>
                </a:solidFill>
                <a:latin typeface="Roboto"/>
              </a:rPr>
              <a:t> é o Dockerfile mais as variáveis de ambiente.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35199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1550" y="2725674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1" i="0">
                <a:solidFill>
                  <a:srgbClr val="1A1A1E"/>
                </a:solidFill>
                <a:latin typeface="Roboto"/>
              </a:rPr>
              <a:t>Implantável de forma independente</a:t>
            </a:r>
            <a:r>
              <a:rPr sz="1420" b="0" i="0">
                <a:solidFill>
                  <a:srgbClr val="1A1A1E"/>
                </a:solidFill>
                <a:latin typeface="Roboto"/>
              </a:rPr>
              <a:t> é subir aquele serviço sozinho.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24950" y="2000250"/>
            <a:ext cx="28575" cy="8763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86875" y="2000250"/>
            <a:ext cx="2219325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FONTE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6875" y="22098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Aula 05, Arquiteturas Baseadas em Componentes.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A · Introdução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TEMA NÃO VEIO DA MODA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8200"/>
            <a:ext cx="9525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Está registrado no board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antes desta apresentação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WORK ITEM #78 · CRIADO EM 05/09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T1, seminário sobre Docker e conteinerização.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Da descrição: o tema foi escolhido para alimentar o item #60.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WORK ITEM #60 · SPRINT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Modelar o diagrama de implantação (UML).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84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Sete tasks, de identificar os nós até a revisão por pares.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A · Introdução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PROJETO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8200"/>
            <a:ext cx="9525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Invite People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1550" y="200025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App web de convites virtuais, com confirmação de presença e consolidação de restrições alimentares.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6113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1550" y="260184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Duas superfícies sobre o mesmo Model: o convite público sem login e o painel do anfitrião.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12973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1550" y="320344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Arquitetura registrada no Guia da Arquitetura: MVC no front e três camadas no back.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7568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550" y="356616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Questão Norteadora da Sprint 2: como os componentes serão distribuídos e implantados no ambiente de execução?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24950" y="2000250"/>
            <a:ext cx="28575" cy="8763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86875" y="2000250"/>
            <a:ext cx="2219325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6875" y="22098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Três camadas lógicas decididas.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/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Nenhuma separação física decidida.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A · Introdução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CONTRATO E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8200"/>
            <a:ext cx="9525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250" b="1" i="0">
                <a:solidFill>
                  <a:srgbClr val="21049A"/>
                </a:solidFill>
                <a:latin typeface="Roboto"/>
              </a:rPr>
              <a:t>A implementação começa na Sprint 4.</a:t>
            </a:r>
          </a:p>
          <a:p>
            <a:pPr>
              <a:lnSpc>
                <a:spcPct val="104000"/>
              </a:lnSpc>
            </a:pPr>
            <a:r>
              <a:rPr sz="2250" b="1" i="0">
                <a:solidFill>
                  <a:srgbClr val="21049A"/>
                </a:solidFill>
                <a:latin typeface="Roboto"/>
              </a:rPr>
              <a:t>A demonstração de hoje é do ambiente.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95500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7300" y="2057400"/>
            <a:ext cx="723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Introdução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48750" y="2085975"/>
            <a:ext cx="2457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Guilherme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4193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28900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7300" y="2590800"/>
            <a:ext cx="723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Definições e arquitetura da tecnologia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48750" y="2619375"/>
            <a:ext cx="2457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Tiago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9527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162300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7300" y="3124200"/>
            <a:ext cx="723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Aplicação no projeto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48750" y="3152775"/>
            <a:ext cx="2457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Gabriel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4861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695700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7300" y="3657600"/>
            <a:ext cx="723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Vantagens e desvantagens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48750" y="3686175"/>
            <a:ext cx="2457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Andreas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229100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7300" y="4191000"/>
            <a:ext cx="723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Considerações finais e referências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8750" y="4219575"/>
            <a:ext cx="2457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Andreas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5529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676900"/>
            <a:ext cx="10820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Cada integrante responde pelo próprio bloco na arguição. Segurança e mecanismos de kernel são com o Tiago, em qualquer bloco.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A · Introdução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4B36B4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575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BLOCO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C4BBEA"/>
                </a:solidFill>
                <a:latin typeface="Roboto"/>
              </a:rPr>
              <a:t>O que o kernel faz quando alguém digita docker run, e por que a imagem é em camadas.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POR QUE ISSO CONTA COMO EMERGENTE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8200"/>
            <a:ext cx="9525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mecanismo é antigo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0510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92011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chroot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37782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31571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8721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3554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7343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4493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cgroups no mainline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9325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23114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0264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Docker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75096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68886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6036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OCI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20868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4657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1807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containerd na CNCF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66639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0429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7579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Kubernetes remove o Docker Engine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629150"/>
            <a:ext cx="28575" cy="6667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6300" y="462915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que é recente não é o isolamento. É a padronização e a estabilização da cadeia.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Definições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DUAS DEFINIÇÕES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8200"/>
            <a:ext cx="9525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 · SÍNTESE DOS MECANISMOS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 · OCI IMAGE SPEC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digest.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Definições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NÃO EXISTE CONTAINER NO KERNEL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8200"/>
            <a:ext cx="9525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existe é um processo comum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2150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17170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1455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4574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6955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337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7182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4099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480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8862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2432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624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6005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387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457825"/>
            <a:ext cx="108204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40" b="0" i="0">
                <a:solidFill>
                  <a:srgbClr val="6B6B78"/>
                </a:solidFill>
                <a:latin typeface="Roboto"/>
              </a:rPr>
              <a:t>Capturado em [máquina] em [data]. Na distro docker-desktop do WSL. No Docker Desktop em Windows o daemon e os containers rodam numa distro própria, com namespace de PID separado, então ps na distro de trabalho não mostraria container nenhum.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DOIS MECANISMOS, DOIS PAPÉIS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8200"/>
            <a:ext cx="9525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isolam a visão.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Cgroups limitam o consumo.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mnt dá árvore de montagem própria.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pid faz o processo virar PID 1 lá dentro.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8495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550" y="30754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net dá pilha de rede própria, por isso dois containers escutam na mesma porta.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617214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550" y="360768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clone e unshare criam um namespace. setns entra num que já existe.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Não isolam. Contabilizam e limitam.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27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84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Estourar memory.max não deixa lento: o kernel mata e o Docker reporta 137.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27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84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Limite de CPU é throttling. Degrada latência de cauda, não a média, e por isso é mais difícil de diagnosticar.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IMAGEM POR DENTRO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8200"/>
            <a:ext cx="9525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Camadas empilhadas, uma só de escrita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1866900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SOMENTE LEITURA, ENDEREÇADAS POR DIGEST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54330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36766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7250" y="304800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31813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" y="255270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26860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2000250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7750" y="20955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" y="2276475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67250" y="2057400"/>
            <a:ext cx="0" cy="18859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48250" y="2400300"/>
            <a:ext cx="3619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8250" y="2647950"/>
            <a:ext cx="3714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0" b="0" i="0">
                <a:solidFill>
                  <a:srgbClr val="1A1A1E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8250" y="3238500"/>
            <a:ext cx="3619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8250" y="3486150"/>
            <a:ext cx="3714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0" b="0" i="0">
                <a:solidFill>
                  <a:srgbClr val="1A1A1E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676900"/>
            <a:ext cx="10820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6B6B78"/>
                </a:solidFill>
                <a:latin typeface="Roboto"/>
              </a:rPr>
              <a:t>Um Dockerfile que copia um .env e faz RUN rm na instrução seguinte produz uma imagem em que o segredo continua legível. No nosso caso o segredo seria a senha do banco e o segredo de sessão do UC001.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PILHA DE EXECUÇÃO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8200"/>
            <a:ext cx="9525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comando ao processo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57250" y="23431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4574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670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2750" y="23431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52750" y="24574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9900" y="26670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28900" y="2657475"/>
            <a:ext cx="3238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48250" y="23431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8250" y="24574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5400" y="26670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24400" y="2657475"/>
            <a:ext cx="3238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143750" y="23431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3750" y="24574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900" y="26670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19900" y="2657475"/>
            <a:ext cx="3238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39250" y="23431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9250" y="24574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400" y="26670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15400" y="2657475"/>
            <a:ext cx="3238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67250" y="2114550"/>
            <a:ext cx="8572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6B6B78"/>
                </a:solidFill>
                <a:latin typeface="Roboto"/>
              </a:rPr>
              <a:t>gRPC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3200400"/>
            <a:ext cx="9906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1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3638550"/>
            <a:ext cx="9906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10" b="0" i="0">
                <a:solidFill>
                  <a:srgbClr val="1A1A1E"/>
                </a:solidFill>
                <a:latin typeface="Roboto"/>
              </a:rPr>
              <a:t>O runc cria os namespaces, configura cgroups, aplica capabilities e seccomp, faz pivot_root, dá execve e sai.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TRÊS PAREDES, EM ORDEM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8200"/>
            <a:ext cx="9525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separa o container do host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1550" y="200025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1" i="0">
                <a:solidFill>
                  <a:srgbClr val="1A1A1E"/>
                </a:solidFill>
                <a:latin typeface="Roboto"/>
              </a:rPr>
              <a:t>Capabilities.</a:t>
            </a:r>
            <a:r>
              <a:rPr sz="1420" b="0" i="0">
                <a:solidFill>
                  <a:srgbClr val="1A1A1E"/>
                </a:solidFill>
                <a:latin typeface="Roboto"/>
              </a:rPr>
              <a:t> O root do POSIX fatiado em cerca de quarenta bits independentes, derrubados e devolvidos um a um.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6113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1550" y="260184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1" i="0">
                <a:solidFill>
                  <a:srgbClr val="1A1A1E"/>
                </a:solidFill>
                <a:latin typeface="Roboto"/>
              </a:rPr>
              <a:t>Seccomp-bpf.</a:t>
            </a:r>
            <a:r>
              <a:rPr sz="1420" b="0" i="0">
                <a:solidFill>
                  <a:srgbClr val="1A1A1E"/>
                </a:solidFill>
                <a:latin typeface="Roboto"/>
              </a:rPr>
              <a:t> O perfil padrão bloqueia cerca de 44 chamadas de sistema de mais de trezentas.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12973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1550" y="320344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1" i="0">
                <a:solidFill>
                  <a:srgbClr val="1A1A1E"/>
                </a:solidFill>
                <a:latin typeface="Roboto"/>
              </a:rPr>
              <a:t>LSM.</a:t>
            </a:r>
            <a:r>
              <a:rPr sz="1420" b="0" i="0">
                <a:solidFill>
                  <a:srgbClr val="1A1A1E"/>
                </a:solidFill>
                <a:latin typeface="Roboto"/>
              </a:rPr>
              <a:t> AppArmor ou SELinux por cima de tudo.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24950" y="2000250"/>
            <a:ext cx="28575" cy="8763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86875" y="2000250"/>
            <a:ext cx="2219325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CUIDADO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6875" y="22098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A opção --privileged devolve tudo de uma vez e ainda desliga o seccomp.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00200"/>
            <a:ext cx="857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OCI, FUNDADA EM 2015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é a implementação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de um padrão aberto,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não o padrão.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C9C1EC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a substituibilidade por compatibilidade de interface da Aula 05, acontecendo dentro da própria pilha da ferramenta.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B · Arquitetura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4B36B4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575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BLOCO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C4BBEA"/>
                </a:solidFill>
                <a:latin typeface="Roboto"/>
              </a:rPr>
              <a:t>Do diagrama para o arquivo, com o número de cada task do board na tela.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VOCABULÁRIO ANTES DO MAPEAMENTO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8200"/>
            <a:ext cx="9525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Cinco termos que não podem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ser trocados entre 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 DISCIPLINA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Componente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é a abstração de um serviço, coesa e de baixo acoplamento.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15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Artefato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é o conjunto de arquivos de código, bibliotecas e executáveis.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12439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550" y="350291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Nó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é o host.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DOCKER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Imagem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é o artefato mais o runtime e as bibliotecas de sistema.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7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84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Container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é esse artefato em execução.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27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84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Docker usa </a:t>
            </a:r>
            <a:r>
              <a:rPr sz="1280" b="0" i="1">
                <a:solidFill>
                  <a:srgbClr val="1A1A1E"/>
                </a:solidFill>
                <a:latin typeface="Roboto"/>
              </a:rPr>
              <a:t>layer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para empilhamento de arquivos, sem relação com a camada lógica da Aula 03.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2700" y="383095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8450" y="38214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E </a:t>
            </a:r>
            <a:r>
              <a:rPr sz="1280" b="0" i="1">
                <a:solidFill>
                  <a:srgbClr val="1A1A1E"/>
                </a:solidFill>
                <a:latin typeface="Roboto"/>
              </a:rPr>
              <a:t>artefato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aparece na disciplina em dois sentidos: executável no diagrama de componentes, entregável no Scrum.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LAYER CONTRA TIER, AULA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8200"/>
            <a:ext cx="9525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Layer é camada lógica.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Tier é separação física.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019300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AS TRÊS CAMADAS LÓGICAS FICAM SEMPRE NA MESMA IMAGEM. O QUE MUDA É ONDE FRONT E BANCO RODAM.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266950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9650" y="241935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9650" y="247650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9650" y="2724150"/>
            <a:ext cx="2419350" cy="66675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2838450"/>
            <a:ext cx="2343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" y="3028950"/>
            <a:ext cx="2343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3219450"/>
            <a:ext cx="2343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9650" y="344805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9650" y="350520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" y="388620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09575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2425" y="2266950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5775" y="2419350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5775" y="2476500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95925" y="2266950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29275" y="2724150"/>
            <a:ext cx="1123950" cy="66675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7375" y="2838450"/>
            <a:ext cx="10477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7375" y="3028950"/>
            <a:ext cx="10477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7375" y="3219450"/>
            <a:ext cx="10477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9275" y="3448050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9275" y="3505200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2425" y="388620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09575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 separado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67600" y="226695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581900" y="24193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1900" y="24765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20100" y="2266950"/>
            <a:ext cx="933450" cy="1504950"/>
          </a:xfrm>
          <a:prstGeom prst="roundRect">
            <a:avLst>
              <a:gd name="adj" fmla="val 510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515350" y="2724150"/>
            <a:ext cx="742950" cy="66675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53450" y="2838450"/>
            <a:ext cx="666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53450" y="3028950"/>
            <a:ext cx="666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53450" y="3219450"/>
            <a:ext cx="666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7850" y="226695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582150" y="24193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82150" y="24765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67600" y="3886200"/>
            <a:ext cx="28384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3 tiers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67600" y="4095750"/>
            <a:ext cx="28384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5676900"/>
            <a:ext cx="10820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6B6B78"/>
                </a:solidFill>
                <a:latin typeface="Roboto"/>
              </a:rPr>
              <a:t>Nenhuma das três muda uma linha do projeto lógico. Todas mudam o empacotamento. Docker obriga a escolher a granularidade em vez de deixá-la implícita, e essa escolha é entrada do ADR #63.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MODELAGEM CORRETA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8200"/>
            <a:ext cx="9525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ambiente de execução,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imagem é artefato</a:t>
            </a:r>
          </a:p>
        </p:txBody>
      </p:sp>
      <p:sp>
        <p:nvSpPr>
          <p:cNvPr id="4" name="Rectangle 3"/>
          <p:cNvSpPr/>
          <p:nvPr/>
        </p:nvSpPr>
        <p:spPr>
          <a:xfrm>
            <a:off x="857250" y="2000250"/>
            <a:ext cx="3810000" cy="2286000"/>
          </a:xfrm>
          <a:prstGeom prst="rect">
            <a:avLst/>
          </a:prstGeom>
          <a:noFill/>
          <a:ln w="254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7750" y="21526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" y="2343150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2050" y="2705100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2550" y="2838450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2550" y="3048000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6850" y="3371850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57350" y="3486150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7350" y="367665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3500" y="2190750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2857500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43500" y="3638550"/>
            <a:ext cx="409575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43500" y="379095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RASCUNHOS DOS ITENS #59 E #60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8200"/>
            <a:ext cx="9525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compose é a forma executável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diagrama que temos que desenhar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0383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#59, DIAGRAMA DE COMPONENTES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2098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950" y="24574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950" y="26098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24574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6098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7875" y="31242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47875" y="32575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47875" y="36766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7875" y="37433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38325" y="2914650"/>
            <a:ext cx="733425" cy="209550"/>
          </a:xfrm>
          <a:prstGeom prst="line">
            <a:avLst/>
          </a:prstGeom>
          <a:ln w="1778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952750" y="2914650"/>
            <a:ext cx="733425" cy="209550"/>
          </a:xfrm>
          <a:prstGeom prst="line">
            <a:avLst/>
          </a:prstGeom>
          <a:ln w="1778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62250" y="3543300"/>
            <a:ext cx="0" cy="133350"/>
          </a:xfrm>
          <a:prstGeom prst="line">
            <a:avLst/>
          </a:prstGeom>
          <a:ln w="1778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7750" y="3124200"/>
            <a:ext cx="952500" cy="0"/>
          </a:xfrm>
          <a:prstGeom prst="line">
            <a:avLst/>
          </a:prstGeom>
          <a:ln w="254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933950" y="2914650"/>
            <a:ext cx="571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#72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1250" y="20383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#60, DIAGRAMA DE IMPLANTAÇÃO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1250" y="22098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1750" y="23241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81750" y="25527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6289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8003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62850" y="25527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1900" y="26289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1900" y="28003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48550" y="28003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743950" y="25527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0" y="26289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3000" y="28003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29650" y="28003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381750" y="32766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1750" y="33718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resolução por nome de serviço  ·  #75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1750" y="3771900"/>
            <a:ext cx="36195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6B6B78"/>
                </a:solidFill>
                <a:latin typeface="Roboto"/>
              </a:rPr>
              <a:t>#71 nós  ·  #73 imagem por tag e digest  ·  #74, #76 e #77 são passos de processo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NOTAÇÃO DE COMPONENTE SOBRE O ARQUIVO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8200"/>
            <a:ext cx="9525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Pirulito e soquete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estão no compose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2150"/>
            <a:ext cx="5905500" cy="4381500"/>
          </a:xfrm>
          <a:prstGeom prst="roundRect">
            <a:avLst>
              <a:gd name="adj" fmla="val 1739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3450" y="21717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3450" y="24193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6670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29146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1623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4099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6576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39052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1529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db: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4005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  condition: service_healthy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6482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450" y="48958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3450" y="51435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healthcheck: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3450" y="53911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test: ["CMD-SHELL", "pg_isready -U app"]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450" y="56388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volumes: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450" y="58864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dados:/var/lib/postgresql/data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0" y="197167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4250" y="1962150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pirulito da UML.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0" y="251345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34250" y="2503932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soquete.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0" y="3055239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4250" y="3045714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0" y="359702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34250" y="3587496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As imagens são exemplo.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A stack ainda não foi decidida, é assunto do ADR #63.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COESÃO E ACOPLAMENTO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8200"/>
            <a:ext cx="9525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 fronteira garante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o que ela não garante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GARANTE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Mais coesão: uma responsabilidade por imagem.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código do front não está na imagem da API, então a API não depende dele nem por acidente.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5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Só o serviço de fronteira publica porta. O banco fica na rede interna sem mapeamento.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83095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550" y="38214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Regra na wiki depende de revisão. Regra virando topologia é sustentada pela estrutura, contra a degradação arquitetural da Aula 02.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NÃO GARANTE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regra entre as nossas três camadas. Elas ficam na mesma imagem do back-end.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27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84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Redução de acoplamento. Ele muda de forma e passa a ter latência, falha parcial e ordem de subida.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PERGUNTA QUE VOLTA PARA O PROJETO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8200"/>
            <a:ext cx="9525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Duas views sobre o mesmo Model,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dois perfis de carga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1550" y="2000250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 jornada da Marina descreve o link caindo no grupo da família. Pico no convite público (UC005), uma pessoa no painel (UC007).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6113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1550" y="2601849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Replicar só o serviço público faz sentido. Replicar o painel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74086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1550" y="2964561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24950" y="2000250"/>
            <a:ext cx="28575" cy="8763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86875" y="2000250"/>
            <a:ext cx="2219325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6875" y="22098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Mesma imagem de front ou imagens separadas?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/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Entrada direta para o #59 e o #60. Ainda não decidida.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4B36B4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575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BLOCO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C4BBEA"/>
                </a:solidFill>
                <a:latin typeface="Roboto"/>
              </a:rPr>
              <a:t>A demonstração é do ambiente e da topologia, não do produto. A implementação começa na Sprint 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DEMONSTRAÇÃO, 90 SEGUNDOS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8200"/>
            <a:ext cx="9525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Persistência é decisão declarada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2150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17170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1455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4574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6955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337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7182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4099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480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8862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2432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624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6005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387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507682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695950"/>
            <a:ext cx="108204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40" b="0" i="0">
                <a:solidFill>
                  <a:srgbClr val="6B6B78"/>
                </a:solidFill>
                <a:latin typeface="Roboto"/>
              </a:rPr>
              <a:t>Capturado em [máquina] em [data]. A imagem de fundo do UC003 e o CSV do UC008 não podem morrer junto com o container. A decisão de implantação volta como restrição de projeto para as camadas de cima.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Demonstração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00200"/>
            <a:ext cx="857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KUBERNETES 1.24, 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Removeram 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e nenhuma imagem parou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de funcionar.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C9C1EC"/>
                </a:solidFill>
                <a:latin typeface="Roboto"/>
              </a:rPr>
              <a:t>O que saiu foi o adaptador embutido que falava com o Docker Engine, não o formato das imagens. Como imagem é OCI, nada quebrou. É substituição por compatibilidade de interface acontecendo em escala real, no vocabulário que a Aula 05 usa para componentes.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D · Estudo de caso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VANTAGENS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8200"/>
            <a:ext cx="9525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vocabulário da disciplina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 QUE ELE CREDITA A CAMADAS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Modularidade.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Reusabilidade.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8495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550" y="30754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Compreensibilidade.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403473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550" y="339394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Extensibilidade.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 QUE CADA UMA VIRA AQUI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Uma responsabilidade por imagem, com fronteira declarada.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27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84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mesma imagem atravessa notebook, pipeline e a demonstração funcional do T3.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27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84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ambiente vira arquivo legível, versionado junto com o código.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2700" y="383095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8450" y="38214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Trocar runtime ou banco é editar uma linha, não reinstalar quatro notebooks.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Vantagens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LIMITAÇÕES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8200"/>
            <a:ext cx="9525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conteinerizar custa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335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1550" y="192405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351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1550" y="2525649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Docker escreve a regra de DNAT antes das regras do administrador, então um deny de firewall na porta publicada não bloqueia nada.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36773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1550" y="312724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I/O de bind mount atravessando a fronteira da máquina virtual no WSL2.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9948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550" y="348996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Estado, que traz junto backup e upgrade de versão maior do banco.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862197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550" y="3852672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Licenciamento do Docker Desktop.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2000250"/>
            <a:ext cx="28575" cy="8763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6875" y="2000250"/>
            <a:ext cx="2219325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REGRA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6875" y="22098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Nenhum número entra neste slide sem medição feita pelo time, com o modelo da máquina e a data.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Limitações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PELA SUPERFÍCIE DE ATAQUE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8200"/>
            <a:ext cx="9525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Container é fronteira de isolamento.</a:t>
            </a:r>
          </a:p>
          <a:p>
            <a:pPr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Não é fronteira de segurança</a:t>
            </a:r>
          </a:p>
          <a:p>
            <a:pPr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da mesma classe que uma VM.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Kernel próprio.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Fronteira imposta em hardware.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8495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550" y="30754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Superfície relativamente estreita.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Compartilha o kernel do host.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7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84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fronteira é a interface de chamadas de sistema, mais de trezentas, mais /proc, /sys e ioctl.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27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84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CVE-2019-5736 no runc: o processo de dentro sobrescrevia o binário do runtime pelo /proc/self/exe.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Segurança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MAIS ESTAVA NA MESA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8200"/>
            <a:ext cx="9525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Avaliação crítica exige alternativa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00250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0" y="2000250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500" y="2000250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228850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81250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8000" y="2381250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0" y="2381250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0624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30068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2830068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Isola de verdade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0" y="2830068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15506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278886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8000" y="3278886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0" y="3278886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603879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727704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21049A"/>
                </a:solidFill>
                <a:latin typeface="Roboto"/>
              </a:rPr>
              <a:t>Compose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48000" y="3727704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Escolhido, com o custo declarado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500" y="3727704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Move complexidade em vez de apagá-la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05269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Alternativas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QUANDO NÃO COMPENSA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8200"/>
            <a:ext cx="9525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Dois destes critérios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descrevem o nosso caso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Monolito num servidor que nunca escala.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Time sem integração contínua, que só ganha um passo de build a mais.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5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Aplicação sensível a latência de cauda.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617214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550" y="360768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Sistema dominado por estado.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Não temos integração contínua definida. Não temos hospedagem decidida. Estamos na zona cinzenta.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27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84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que sustenta a adoção é um motivo só, e ele basta: ambiente igual para quatro pessoas com stacks diferentes, com banco rodando sem instalação local, antes de escrever a primeira linha.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2700" y="393992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8450" y="393039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Compose é de host único. O MVP cabe num host. Kubernetes entraria com múltiplos nós, e é tema de outro grupo.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Honestidade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CONSIDERAÇÕES FINAIS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8200"/>
            <a:ext cx="9525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Ganho e custo, nos quatro atributos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das Questões Norteadoras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Manutenibilidade.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O ambiente passa a ser versionado junto com o código.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15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Escalabilidade,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de forma seletiva, e isso impõe que a aplicação seja mesmo sem estado.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12439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550" y="350291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Segurança.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Ganha isolamento.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Segurança.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Herda uma superfície nova: imagem base e privilégio de execução.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7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84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Desempenho.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Principalmente I/O nas máquinas Windows. A Aula 03 já avisa que camada extra prejudica desempenho.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Considerações finais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RECOMENDAÇÃO PARA O ADR #63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8200"/>
            <a:ext cx="9525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Três frases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1550" y="200025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Adotamos conteinerização como estratégia de empacotamento e de ambiente de desenvolvimento, registrada como troca.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6113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1550" y="260184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#60 deixa de ser caixa genérica e passa a ter um arquivo correspondente que roda, e esse arquivo vira artefato do repositório.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12973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1550" y="320344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Conteinerizar barateia errar: a stack ainda não está decidida, e com Dockerfile a escolha de runtime e de banco vira uma linha de arquivo em vez de instalação em quatro notebooks.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24950" y="2000250"/>
            <a:ext cx="28575" cy="8763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86875" y="2000250"/>
            <a:ext cx="2219325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6875" y="22098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Insumo direto da Sprint 3, que começa no dia 15 e tem como objetivo declarado definir as tecnologias e os mecanismos da implementação.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Considerações finais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ABRIMOS E FECHAMOS NO MESMO LUGAR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8200"/>
            <a:ext cx="9525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sintoma ao arquivo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Uma linha de .gitattributes forçando LF nos scripts, porque o Git Bash quebra no Windows.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15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 arquivo que descreve o ambiente inteiro e que qualquer um dos quatro sobe com um comando.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84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E que vira o diagrama de implantação do item #60.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Fecho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8200"/>
            <a:ext cx="9525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Pendências, com número de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1550" y="2000250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Os itens #58 a #63 da Sprint 2 estão em To Do. Isto é insumo desses itens, não relato de item concluído.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6113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1550" y="2601849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#63, onde a stack será decidida, ainda não foi escrito.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74086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1550" y="2964561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Os itens #56 e #57 da Sprint 1 seguem em Doing.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336798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550" y="3327273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 Sprint 2 fecha no dia 14.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39200" y="2000250"/>
            <a:ext cx="28575" cy="8763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1125" y="2000250"/>
            <a:ext cx="2505075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1125" y="2209800"/>
            <a:ext cx="250507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/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/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Fecho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PARA CONSULTAR DEPOIS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8200"/>
            <a:ext cx="9525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1452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1550" y="190500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1612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1550" y="250659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78836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1550" y="286931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8043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550" y="347091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08203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550" y="407250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444746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1550" y="44352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SOMMERVILLE, I. Engenharia de Software. · FOWLER, M. Patterns of Enterprise Application Architecture.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807458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1550" y="479793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Fecho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