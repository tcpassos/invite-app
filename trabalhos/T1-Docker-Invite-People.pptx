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19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10"/>
    <p:sldId id="266" r:id="rId9"/>
    <p:sldId id="267" r:id="rId8"/>
    <p:sldId id="268" r:id="rId7"/>
    <p:sldId id="269" r:id="rId6"/>
    <p:sldId id="270" r:id="rId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85" r:id="rId4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0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9716C1-5024-8CCE-3203-86B75C2C8617}" v="3" dt="2026-03-04T18:26:21.527"/>
    <p1510:client id="{15EE4E26-2F7C-A8A7-F640-351793DF4648}" v="51" dt="2026-03-04T14:37:16.632"/>
    <p1510:client id="{1A042CCA-B3F5-4F3A-A55B-20F5A0164B7D}" v="24" dt="2026-03-04T14:05:53.570"/>
    <p1510:client id="{474E71F2-6943-508A-29C8-0B58041B59EA}" v="24" dt="2026-03-04T13:40:41.656"/>
    <p1510:client id="{610FBFFC-C927-4559-84E4-21F8025EFCC9}" v="4" dt="2026-03-04T18:41:12.929"/>
    <p1510:client id="{6B13FC13-F49B-3BCF-DC56-120CE7AD128B}" v="3" dt="2026-03-04T14:27:44.521"/>
    <p1510:client id="{6B418F69-DA30-9EA3-9484-1B1B7022BB9A}" v="26" dt="2026-03-04T18:46:59.600"/>
    <p1510:client id="{A6C34AF3-2CB0-9917-C57B-32A817E4D2F0}" v="15" dt="2026-03-04T19:28:10.596"/>
    <p1510:client id="{B4BCC3D1-ADA6-AE73-AB10-F1FD9D46F8AE}" v="1" dt="2026-03-04T18:45:27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FFF79-EEE3-444A-9BA1-1453A65B916B}" type="datetimeFigureOut"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DD6EE-BF3C-42FE-A967-089A0F35743B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1119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B12703BC-BA0D-49E1-5856-8172DFCF21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9BA904D1-772F-4932-8EC4-AC8ABD79784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98963" y="854211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CARTOLA </a:t>
            </a:r>
            <a:r>
              <a:rPr lang="pt-BR" dirty="0" err="1"/>
              <a:t>CARTOLA</a:t>
            </a:r>
            <a:endParaRPr lang="pt-BR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98E2A19-B017-4014-9BCE-0EDA90228A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98962" y="2685167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COMPLEMENTO </a:t>
            </a:r>
            <a:r>
              <a:rPr lang="pt-BR" err="1"/>
              <a:t>COMPLEMENTO</a:t>
            </a:r>
            <a:endParaRPr lang="pt-BR"/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0FAFA1B5-CB3C-4B76-9115-38A3CFEBBED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376961"/>
            <a:ext cx="9794071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DA CAPA</a:t>
            </a:r>
          </a:p>
          <a:p>
            <a:pPr lvl="0"/>
            <a:r>
              <a:rPr lang="pt-BR" dirty="0"/>
              <a:t>TÍTULO DA CAPA</a:t>
            </a:r>
          </a:p>
        </p:txBody>
      </p:sp>
    </p:spTree>
    <p:extLst>
      <p:ext uri="{BB962C8B-B14F-4D97-AF65-F5344CB8AC3E}">
        <p14:creationId xmlns:p14="http://schemas.microsoft.com/office/powerpoint/2010/main" val="74326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ntendo pessoa, segurando, raquete, homem&#10;&#10;O conteúdo gerado por IA pode estar incorreto.">
            <a:extLst>
              <a:ext uri="{FF2B5EF4-FFF2-40B4-BE49-F238E27FC236}">
                <a16:creationId xmlns:a16="http://schemas.microsoft.com/office/drawing/2014/main" id="{68201F9E-9442-51CA-D606-ADE185D21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641F0451-2034-4B4C-B5BB-323C5B96055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99028" y="1721616"/>
            <a:ext cx="3848744" cy="76677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br>
              <a:rPr lang="pt-BR" dirty="0"/>
            </a:br>
            <a:r>
              <a:rPr lang="pt-BR" dirty="0"/>
              <a:t>DE SEÇÃO</a:t>
            </a:r>
          </a:p>
        </p:txBody>
      </p:sp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271D91BB-59F7-42EE-91A0-E9E7DAE29B4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99026" y="2655324"/>
            <a:ext cx="3848743" cy="32882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861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&#10;&#10;O conteúdo gerado por IA pode estar incorreto.">
            <a:extLst>
              <a:ext uri="{FF2B5EF4-FFF2-40B4-BE49-F238E27FC236}">
                <a16:creationId xmlns:a16="http://schemas.microsoft.com/office/drawing/2014/main" id="{9D5AB3BD-B97C-7B52-83A2-3E5D5CD519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83A4AD6-7C2F-6DE8-E4EB-27627E6153B2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216203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832A813-B17C-DC29-723C-8DADDB8A2DE0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666615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50EE94-C4C8-17C8-8A38-D10AC5A0870E}"/>
              </a:ext>
            </a:extLst>
          </p:cNvPr>
          <p:cNvCxnSpPr>
            <a:cxnSpLocks/>
          </p:cNvCxnSpPr>
          <p:nvPr userDrawn="1"/>
        </p:nvCxnSpPr>
        <p:spPr>
          <a:xfrm>
            <a:off x="5161560" y="4078129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422CA4-13D9-5447-94BF-81DFA61CFA8C}"/>
              </a:ext>
            </a:extLst>
          </p:cNvPr>
          <p:cNvSpPr/>
          <p:nvPr userDrawn="1"/>
        </p:nvSpPr>
        <p:spPr>
          <a:xfrm>
            <a:off x="5057617" y="2922847"/>
            <a:ext cx="5277795" cy="537509"/>
          </a:xfrm>
          <a:prstGeom prst="roundRect">
            <a:avLst>
              <a:gd name="adj" fmla="val 50000"/>
            </a:avLst>
          </a:prstGeom>
          <a:solidFill>
            <a:srgbClr val="4328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33C47C-7543-6136-48FE-FFD7D5569582}"/>
              </a:ext>
            </a:extLst>
          </p:cNvPr>
          <p:cNvSpPr/>
          <p:nvPr userDrawn="1"/>
        </p:nvSpPr>
        <p:spPr>
          <a:xfrm>
            <a:off x="6067590" y="3387232"/>
            <a:ext cx="4267822" cy="537511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0FC918-C448-6DF0-E954-B06797063FAB}"/>
              </a:ext>
            </a:extLst>
          </p:cNvPr>
          <p:cNvSpPr/>
          <p:nvPr userDrawn="1"/>
        </p:nvSpPr>
        <p:spPr>
          <a:xfrm>
            <a:off x="7000073" y="3784591"/>
            <a:ext cx="3335340" cy="537512"/>
          </a:xfrm>
          <a:prstGeom prst="roundRect">
            <a:avLst>
              <a:gd name="adj" fmla="val 50000"/>
            </a:avLst>
          </a:prstGeom>
          <a:solidFill>
            <a:srgbClr val="2652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756E2B9B-2FC7-4B61-8475-1E6F5501EE2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164272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3B400B1A-A24E-4444-BD47-E24B33C087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41" y="2178956"/>
            <a:ext cx="3050460" cy="28756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9DA28D68-018D-419D-A736-E64ACB9206E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208200" y="3032630"/>
            <a:ext cx="4850199" cy="30737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431D2614-3827-4A58-A31E-D9102D6BE68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2644" y="3500419"/>
            <a:ext cx="3815756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5E3BB5D0-837A-4037-AC95-AB1D4F64986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20214" y="3902767"/>
            <a:ext cx="2938185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19239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8F673DBA-CB69-50BD-F973-A9E3A3FE1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6BE41F8E-4F22-46F6-B0AE-D58832BE3FC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637006" y="780986"/>
            <a:ext cx="4391941" cy="111804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NOME </a:t>
            </a:r>
            <a:br>
              <a:rPr lang="pt-BR" dirty="0"/>
            </a:br>
            <a:r>
              <a:rPr lang="pt-BR" dirty="0"/>
              <a:t>DA SEÇÃO</a:t>
            </a:r>
          </a:p>
        </p:txBody>
      </p:sp>
      <p:sp>
        <p:nvSpPr>
          <p:cNvPr id="18" name="Espaço Reservado para Conteúdo 4">
            <a:extLst>
              <a:ext uri="{FF2B5EF4-FFF2-40B4-BE49-F238E27FC236}">
                <a16:creationId xmlns:a16="http://schemas.microsoft.com/office/drawing/2014/main" id="{180BB7B2-EE70-4E52-A5A7-0F7F00EFB29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37006" y="2245217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1</a:t>
            </a:r>
          </a:p>
        </p:txBody>
      </p:sp>
      <p:sp>
        <p:nvSpPr>
          <p:cNvPr id="19" name="Espaço Reservado para Conteúdo 4">
            <a:extLst>
              <a:ext uri="{FF2B5EF4-FFF2-40B4-BE49-F238E27FC236}">
                <a16:creationId xmlns:a16="http://schemas.microsoft.com/office/drawing/2014/main" id="{664A7BCC-13C8-4944-BAC9-E32ACD6D1E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37006" y="2589090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2" name="Espaço Reservado para Conteúdo 4">
            <a:extLst>
              <a:ext uri="{FF2B5EF4-FFF2-40B4-BE49-F238E27FC236}">
                <a16:creationId xmlns:a16="http://schemas.microsoft.com/office/drawing/2014/main" id="{D2F372CA-7A81-4DC0-9C08-38BBC4518D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637006" y="4362546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2</a:t>
            </a:r>
          </a:p>
        </p:txBody>
      </p:sp>
      <p:sp>
        <p:nvSpPr>
          <p:cNvPr id="23" name="Espaço Reservado para Conteúdo 4">
            <a:extLst>
              <a:ext uri="{FF2B5EF4-FFF2-40B4-BE49-F238E27FC236}">
                <a16:creationId xmlns:a16="http://schemas.microsoft.com/office/drawing/2014/main" id="{99641B3D-FFEC-4170-9DE3-5965CE430D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637006" y="4706419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98231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3C9A769A-63A3-DE23-592B-55245BC352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8750"/>
            <a:ext cx="12192000" cy="6866749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1E1C6F54-8EED-6A4A-951E-8F53058EBB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7" name="Espaço Reservado para Conteúdo 4">
            <a:extLst>
              <a:ext uri="{FF2B5EF4-FFF2-40B4-BE49-F238E27FC236}">
                <a16:creationId xmlns:a16="http://schemas.microsoft.com/office/drawing/2014/main" id="{39251BE9-618E-42E3-99D7-A7567BEAC4F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92701" y="2865601"/>
            <a:ext cx="3927494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37BB87C6-3A52-4563-8FED-B6B3781BF21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2701" y="794269"/>
            <a:ext cx="3927494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4A45D75-7A9C-404D-BDF7-39D938D9204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31687" y="2271833"/>
            <a:ext cx="3927494" cy="111804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Tx/>
              <a:buChar char="•"/>
              <a:defRPr sz="1600">
                <a:solidFill>
                  <a:schemeClr val="bg1">
                    <a:lumMod val="85000"/>
                  </a:schemeClr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  <a:p>
            <a:pPr lvl="0"/>
            <a:r>
              <a:rPr lang="pt-BR" dirty="0"/>
              <a:t>ITEM 2</a:t>
            </a:r>
          </a:p>
          <a:p>
            <a:pPr lvl="0"/>
            <a:r>
              <a:rPr lang="pt-BR" dirty="0"/>
              <a:t>ITEM 3</a:t>
            </a:r>
          </a:p>
          <a:p>
            <a:pPr lvl="0"/>
            <a:r>
              <a:rPr lang="pt-BR" dirty="0"/>
              <a:t>ITEM 4</a:t>
            </a:r>
          </a:p>
          <a:p>
            <a:pPr lvl="0"/>
            <a:r>
              <a:rPr lang="pt-BR" dirty="0"/>
              <a:t>ITEM 5</a:t>
            </a:r>
          </a:p>
          <a:p>
            <a:pPr lvl="0"/>
            <a:r>
              <a:rPr lang="pt-BR" dirty="0"/>
              <a:t>ITEM 6</a:t>
            </a:r>
          </a:p>
          <a:p>
            <a:pPr lvl="0"/>
            <a:r>
              <a:rPr lang="pt-BR" dirty="0"/>
              <a:t>ITEM 7</a:t>
            </a:r>
          </a:p>
        </p:txBody>
      </p:sp>
    </p:spTree>
    <p:extLst>
      <p:ext uri="{BB962C8B-B14F-4D97-AF65-F5344CB8AC3E}">
        <p14:creationId xmlns:p14="http://schemas.microsoft.com/office/powerpoint/2010/main" val="346779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A036B0A-933A-2985-8269-6345DAD89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45D534F8-C499-4401-B371-2922E2FC60F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815738" y="2608895"/>
            <a:ext cx="9013371" cy="82010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BB3FE49F-E596-4FC6-AC93-7944FFF724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71518" y="3526859"/>
            <a:ext cx="6851751" cy="23514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6226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AF2EB98D-EF35-397E-FA18-F906466EB5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2B6F4DD1-33F3-4B49-95ED-C95B61876CA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6376" y="3916012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141E17BE-679D-4780-A50B-95ABDEA8341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76375" y="3083044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BB3C5678-B5DE-4BCA-900A-F36CE17308F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0601" y="482395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063FB4E0-9626-4EF4-806F-71DFF51C65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00600" y="3990985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188B0BB6-CE3D-4850-B5D3-213A7B0C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24825" y="3122148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07A0879C-E9A3-4A48-A4AC-1DE60387F7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24824" y="2289180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8" name="Espaço Reservado para Conteúdo 4">
            <a:extLst>
              <a:ext uri="{FF2B5EF4-FFF2-40B4-BE49-F238E27FC236}">
                <a16:creationId xmlns:a16="http://schemas.microsoft.com/office/drawing/2014/main" id="{C93AF59E-0B59-41F7-8D76-870509D7AAF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1040475"/>
            <a:ext cx="6734546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335595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Forma&#10;&#10;O conteúdo gerado por IA pode estar incorreto.">
            <a:extLst>
              <a:ext uri="{FF2B5EF4-FFF2-40B4-BE49-F238E27FC236}">
                <a16:creationId xmlns:a16="http://schemas.microsoft.com/office/drawing/2014/main" id="{412108E6-D36D-1E5D-A463-5DB8DA6A1B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82B24A9D-A588-4551-9139-9C6E041076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91887" y="378824"/>
            <a:ext cx="4602014" cy="612648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 err="1"/>
              <a:t>TÍTULO</a:t>
            </a:r>
            <a:endParaRPr lang="pt-BR" dirty="0"/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A21AE171-2175-4DAD-8189-61FFCBDB02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9264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56D3D759-453E-442D-AEC3-0FFF411B48A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8831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8" name="Espaço Reservado para Conteúdo 4">
            <a:extLst>
              <a:ext uri="{FF2B5EF4-FFF2-40B4-BE49-F238E27FC236}">
                <a16:creationId xmlns:a16="http://schemas.microsoft.com/office/drawing/2014/main" id="{8C3073B7-3423-46D9-8011-B23D48EB961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9665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49" name="Espaço Reservado para Conteúdo 4">
            <a:extLst>
              <a:ext uri="{FF2B5EF4-FFF2-40B4-BE49-F238E27FC236}">
                <a16:creationId xmlns:a16="http://schemas.microsoft.com/office/drawing/2014/main" id="{79C9CBE2-F540-4408-8EB3-A373311F163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9232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0" name="Espaço Reservado para Conteúdo 4">
            <a:extLst>
              <a:ext uri="{FF2B5EF4-FFF2-40B4-BE49-F238E27FC236}">
                <a16:creationId xmlns:a16="http://schemas.microsoft.com/office/drawing/2014/main" id="{7534DFE6-358C-4FF5-B3B9-6C34B07817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38828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51" name="Espaço Reservado para Conteúdo 4">
            <a:extLst>
              <a:ext uri="{FF2B5EF4-FFF2-40B4-BE49-F238E27FC236}">
                <a16:creationId xmlns:a16="http://schemas.microsoft.com/office/drawing/2014/main" id="{2D4FC50B-1040-4A33-9D53-F74DFB48C83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78395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2" name="Espaço Reservado para Conteúdo 4">
            <a:extLst>
              <a:ext uri="{FF2B5EF4-FFF2-40B4-BE49-F238E27FC236}">
                <a16:creationId xmlns:a16="http://schemas.microsoft.com/office/drawing/2014/main" id="{F847EBBC-8153-4D80-BBEA-981CCB037D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39229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53" name="Espaço Reservado para Conteúdo 4">
            <a:extLst>
              <a:ext uri="{FF2B5EF4-FFF2-40B4-BE49-F238E27FC236}">
                <a16:creationId xmlns:a16="http://schemas.microsoft.com/office/drawing/2014/main" id="{170C864E-D912-46D5-B580-C79231F833A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78796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4" name="Espaço Reservado para Conteúdo 4">
            <a:extLst>
              <a:ext uri="{FF2B5EF4-FFF2-40B4-BE49-F238E27FC236}">
                <a16:creationId xmlns:a16="http://schemas.microsoft.com/office/drawing/2014/main" id="{C4786A3E-B372-4DCC-B4F6-D10391BC6344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9264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5</a:t>
            </a:r>
          </a:p>
        </p:txBody>
      </p:sp>
      <p:sp>
        <p:nvSpPr>
          <p:cNvPr id="55" name="Espaço Reservado para Conteúdo 4">
            <a:extLst>
              <a:ext uri="{FF2B5EF4-FFF2-40B4-BE49-F238E27FC236}">
                <a16:creationId xmlns:a16="http://schemas.microsoft.com/office/drawing/2014/main" id="{B330D9FC-3804-478B-8B2F-BD1D550EB7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78831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6" name="Espaço Reservado para Conteúdo 4">
            <a:extLst>
              <a:ext uri="{FF2B5EF4-FFF2-40B4-BE49-F238E27FC236}">
                <a16:creationId xmlns:a16="http://schemas.microsoft.com/office/drawing/2014/main" id="{AADC77ED-B602-4D58-BF71-D63985E8F86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39665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6</a:t>
            </a:r>
          </a:p>
        </p:txBody>
      </p:sp>
      <p:sp>
        <p:nvSpPr>
          <p:cNvPr id="57" name="Espaço Reservado para Conteúdo 4">
            <a:extLst>
              <a:ext uri="{FF2B5EF4-FFF2-40B4-BE49-F238E27FC236}">
                <a16:creationId xmlns:a16="http://schemas.microsoft.com/office/drawing/2014/main" id="{E912F27E-5DAD-40E4-A876-B9139A7C486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79232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8" name="Espaço Reservado para Conteúdo 4">
            <a:extLst>
              <a:ext uri="{FF2B5EF4-FFF2-40B4-BE49-F238E27FC236}">
                <a16:creationId xmlns:a16="http://schemas.microsoft.com/office/drawing/2014/main" id="{70F43E27-89B9-4AFE-9DB9-4B4A0555AED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38828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7</a:t>
            </a:r>
          </a:p>
        </p:txBody>
      </p:sp>
      <p:sp>
        <p:nvSpPr>
          <p:cNvPr id="59" name="Espaço Reservado para Conteúdo 4">
            <a:extLst>
              <a:ext uri="{FF2B5EF4-FFF2-40B4-BE49-F238E27FC236}">
                <a16:creationId xmlns:a16="http://schemas.microsoft.com/office/drawing/2014/main" id="{7891A22C-0D7C-4E4E-B231-0A73D868DAF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78395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60" name="Espaço Reservado para Conteúdo 4">
            <a:extLst>
              <a:ext uri="{FF2B5EF4-FFF2-40B4-BE49-F238E27FC236}">
                <a16:creationId xmlns:a16="http://schemas.microsoft.com/office/drawing/2014/main" id="{9AA294D8-A530-4C47-987A-7D029688897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39229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8</a:t>
            </a:r>
          </a:p>
        </p:txBody>
      </p:sp>
      <p:sp>
        <p:nvSpPr>
          <p:cNvPr id="61" name="Espaço Reservado para Conteúdo 4">
            <a:extLst>
              <a:ext uri="{FF2B5EF4-FFF2-40B4-BE49-F238E27FC236}">
                <a16:creationId xmlns:a16="http://schemas.microsoft.com/office/drawing/2014/main" id="{14C76703-4040-4320-BD4F-1DD7CBE8C56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78796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6358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C8A2A5EB-55E9-818C-5100-8E3EC4E96C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F3DFFE69-5EB8-470E-B99B-54A3FB6EE3A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29" name="Espaço Reservado para Conteúdo 4">
            <a:extLst>
              <a:ext uri="{FF2B5EF4-FFF2-40B4-BE49-F238E27FC236}">
                <a16:creationId xmlns:a16="http://schemas.microsoft.com/office/drawing/2014/main" id="{2F7B3AF4-B738-4398-B67B-6BBE8A527D5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7669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30" name="Espaço Reservado para Conteúdo 4">
            <a:extLst>
              <a:ext uri="{FF2B5EF4-FFF2-40B4-BE49-F238E27FC236}">
                <a16:creationId xmlns:a16="http://schemas.microsoft.com/office/drawing/2014/main" id="{5D35BA6E-193D-4880-99D4-D6E40313A35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386076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1" name="Espaço Reservado para Conteúdo 4">
            <a:extLst>
              <a:ext uri="{FF2B5EF4-FFF2-40B4-BE49-F238E27FC236}">
                <a16:creationId xmlns:a16="http://schemas.microsoft.com/office/drawing/2014/main" id="{58CA9FBA-C6F6-48B4-8054-37886D57B89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02119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2" name="Espaço Reservado para Conteúdo 4">
            <a:extLst>
              <a:ext uri="{FF2B5EF4-FFF2-40B4-BE49-F238E27FC236}">
                <a16:creationId xmlns:a16="http://schemas.microsoft.com/office/drawing/2014/main" id="{3B524203-EAD3-4477-9209-B4351264128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17421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33" name="Espaço Reservado para Conteúdo 4">
            <a:extLst>
              <a:ext uri="{FF2B5EF4-FFF2-40B4-BE49-F238E27FC236}">
                <a16:creationId xmlns:a16="http://schemas.microsoft.com/office/drawing/2014/main" id="{01D447D5-A389-49AB-9939-1EC12515C6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025828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4" name="Espaço Reservado para Conteúdo 4">
            <a:extLst>
              <a:ext uri="{FF2B5EF4-FFF2-40B4-BE49-F238E27FC236}">
                <a16:creationId xmlns:a16="http://schemas.microsoft.com/office/drawing/2014/main" id="{B8D809D7-F1D1-4A2C-BB27-83433994B16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541871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5" name="Espaço Reservado para Conteúdo 4">
            <a:extLst>
              <a:ext uri="{FF2B5EF4-FFF2-40B4-BE49-F238E27FC236}">
                <a16:creationId xmlns:a16="http://schemas.microsoft.com/office/drawing/2014/main" id="{4705D9C3-A995-459D-AADF-DFDD6934707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7669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36" name="Espaço Reservado para Conteúdo 4">
            <a:extLst>
              <a:ext uri="{FF2B5EF4-FFF2-40B4-BE49-F238E27FC236}">
                <a16:creationId xmlns:a16="http://schemas.microsoft.com/office/drawing/2014/main" id="{48370BE8-A043-4995-BDFE-BDB113D9F98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1386076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7" name="Espaço Reservado para Conteúdo 4">
            <a:extLst>
              <a:ext uri="{FF2B5EF4-FFF2-40B4-BE49-F238E27FC236}">
                <a16:creationId xmlns:a16="http://schemas.microsoft.com/office/drawing/2014/main" id="{EF334FA5-EFEC-4880-AB74-FDA39A9CF3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902119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8" name="Espaço Reservado para Conteúdo 4">
            <a:extLst>
              <a:ext uri="{FF2B5EF4-FFF2-40B4-BE49-F238E27FC236}">
                <a16:creationId xmlns:a16="http://schemas.microsoft.com/office/drawing/2014/main" id="{C62A379B-D566-4D7A-B047-927E5BA2A08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317421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39" name="Espaço Reservado para Conteúdo 4">
            <a:extLst>
              <a:ext uri="{FF2B5EF4-FFF2-40B4-BE49-F238E27FC236}">
                <a16:creationId xmlns:a16="http://schemas.microsoft.com/office/drawing/2014/main" id="{265B2327-F611-4CB3-B79A-22014E2BDC2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025828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0" name="Espaço Reservado para Conteúdo 4">
            <a:extLst>
              <a:ext uri="{FF2B5EF4-FFF2-40B4-BE49-F238E27FC236}">
                <a16:creationId xmlns:a16="http://schemas.microsoft.com/office/drawing/2014/main" id="{875ADBDB-708D-40FF-B05B-63F736D2AC8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541871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164189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, Retângulo&#10;&#10;O conteúdo gerado por IA pode estar incorreto.">
            <a:extLst>
              <a:ext uri="{FF2B5EF4-FFF2-40B4-BE49-F238E27FC236}">
                <a16:creationId xmlns:a16="http://schemas.microsoft.com/office/drawing/2014/main" id="{755604ED-8D58-1615-3BD2-70AE34C5B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DD008399-5FBB-472F-8E3F-633534F80D1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492989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12" name="Espaço Reservado para Conteúdo 4">
            <a:extLst>
              <a:ext uri="{FF2B5EF4-FFF2-40B4-BE49-F238E27FC236}">
                <a16:creationId xmlns:a16="http://schemas.microsoft.com/office/drawing/2014/main" id="{22C20E1A-1706-435A-BF46-A7988122942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72937" y="2586445"/>
            <a:ext cx="3709852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8CB7D53B-6460-4A34-8124-84C3FBD464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96150" y="2586445"/>
            <a:ext cx="3709850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</p:spTree>
    <p:extLst>
      <p:ext uri="{BB962C8B-B14F-4D97-AF65-F5344CB8AC3E}">
        <p14:creationId xmlns:p14="http://schemas.microsoft.com/office/powerpoint/2010/main" val="103651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562E0AD-E4EE-02BD-8E08-C54B7CD54B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ADE5E87-BD9B-7C07-F239-DC95941763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91E17-4B22-43C4-BC9A-B85CBB295BD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2973777"/>
            <a:ext cx="5972545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2802591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5AE18F8-4C98-E987-C600-30B97C4E5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C2EFD695-3E61-27BB-FD99-9C489A1A73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C32784AB-7E2C-4D14-865A-F72AC13685F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8600" y="3821054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107E1770-8F3E-4B77-9943-2EEF8B2A663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F7E01A6-0BF4-4257-880E-0E0383602A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58600" y="2503501"/>
            <a:ext cx="4933333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BBAE76A-589A-1DC7-1848-FBCD1ED5F9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8EDDECBF-2EF9-4580-826D-41A2BE4FF0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94594" y="1287772"/>
            <a:ext cx="6098785" cy="1670102"/>
          </a:xfrm>
          <a:prstGeom prst="rect">
            <a:avLst/>
          </a:prstGeom>
        </p:spPr>
        <p:txBody>
          <a:bodyPr numCol="2" spcCol="18000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1895628F-1505-42BC-8AAC-324418E1197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094594" y="3900126"/>
            <a:ext cx="5708389" cy="1869743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Proin</a:t>
            </a:r>
            <a:r>
              <a:rPr lang="pt-BR" dirty="0"/>
              <a:t> </a:t>
            </a:r>
            <a:r>
              <a:rPr lang="pt-BR" dirty="0" err="1"/>
              <a:t>felis</a:t>
            </a:r>
            <a:r>
              <a:rPr lang="pt-BR" dirty="0"/>
              <a:t> </a:t>
            </a:r>
            <a:r>
              <a:rPr lang="pt-BR" dirty="0" err="1"/>
              <a:t>elit</a:t>
            </a:r>
            <a:r>
              <a:rPr lang="pt-BR" dirty="0"/>
              <a:t>, </a:t>
            </a:r>
            <a:r>
              <a:rPr lang="pt-BR" dirty="0" err="1"/>
              <a:t>pretium</a:t>
            </a:r>
            <a:r>
              <a:rPr lang="pt-BR" dirty="0"/>
              <a:t> </a:t>
            </a:r>
            <a:r>
              <a:rPr lang="pt-BR" dirty="0" err="1"/>
              <a:t>at</a:t>
            </a:r>
            <a:r>
              <a:rPr lang="pt-BR" dirty="0"/>
              <a:t> </a:t>
            </a:r>
            <a:r>
              <a:rPr lang="pt-BR" dirty="0" err="1"/>
              <a:t>ligula</a:t>
            </a:r>
            <a:r>
              <a:rPr lang="pt-BR" dirty="0"/>
              <a:t> et, </a:t>
            </a:r>
            <a:r>
              <a:rPr lang="pt-BR" dirty="0" err="1"/>
              <a:t>venenatis</a:t>
            </a:r>
            <a:r>
              <a:rPr lang="pt-BR" dirty="0"/>
              <a:t> </a:t>
            </a:r>
            <a:r>
              <a:rPr lang="pt-BR" dirty="0" err="1"/>
              <a:t>sollicitudin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pulvinar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67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04016A07-62CC-4FF1-A3F1-174AA42354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55A34FD8-10C0-48D2-935C-1995B1CAA5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418" t="-46144" b="-40859"/>
          <a:stretch>
            <a:fillRect/>
          </a:stretch>
        </p:blipFill>
        <p:spPr>
          <a:xfrm>
            <a:off x="8223477" y="4675844"/>
            <a:ext cx="3279336" cy="1945427"/>
          </a:xfrm>
          <a:prstGeom prst="rect">
            <a:avLst/>
          </a:prstGeom>
        </p:spPr>
      </p:pic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4951D684-8E9D-4D85-AFF1-60D706CBB3C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561342"/>
            <a:ext cx="9794071" cy="11180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7200">
                <a:ln>
                  <a:solidFill>
                    <a:schemeClr val="bg1"/>
                  </a:solidFill>
                </a:ln>
                <a:noFill/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TEXTO FINAL</a:t>
            </a:r>
          </a:p>
        </p:txBody>
      </p:sp>
    </p:spTree>
    <p:extLst>
      <p:ext uri="{BB962C8B-B14F-4D97-AF65-F5344CB8AC3E}">
        <p14:creationId xmlns:p14="http://schemas.microsoft.com/office/powerpoint/2010/main" val="2348373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08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18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ckup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52450"/>
            <a:ext cx="2038350" cy="7010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19050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SEMINÁRIO T1 · TECNOLOGIAS EMERGENTES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33600"/>
            <a:ext cx="7429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Docker e</a:t>
            </a:r>
          </a:p>
          <a:p>
            <a:pPr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conteinerização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848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114800"/>
            <a:ext cx="7620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80" b="0" i="0">
                <a:solidFill>
                  <a:srgbClr val="D6CFF0"/>
                </a:solidFill>
                <a:latin typeface="Roboto"/>
              </a:rPr>
              <a:t>Como o empacotamento em containers se aplica ao projeto Invite People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EQUIPE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Tiago Passos · Guilherme Toebe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Andreas Grings · Gabriel Tomasi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53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DISCIPLINA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053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Arquitetura de Software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Prof. Kleinner Farias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4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4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08 de setembro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Invite People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484501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474976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App web de convites virtuais, com confirmação de presença e consolidação de restrições alimentares.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323463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313938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Duas superfícies sobre o mesmo Model: o convite público sem login e o painel do anfitrião.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162425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15290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Arquitetura registrada no Guia da Arquitetura: MVC no front e três camadas no back.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001387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991862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Questão Norteadora da Sprint 2: como os componentes serão distribuídos e implantados no ambiente de execução?</a:t>
            </a:r>
          </a:p>
        </p:txBody>
      </p:sp>
      <p:sp>
        <p:nvSpPr>
          <p:cNvPr id="13" name="Donut 12"/>
          <p:cNvSpPr/>
          <p:nvPr/>
        </p:nvSpPr>
        <p:spPr>
          <a:xfrm>
            <a:off x="9124950" y="2474976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2484501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ESTAMOS HOJE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24950" y="2760726"/>
            <a:ext cx="38100" cy="832104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4500" y="2760726"/>
            <a:ext cx="2171700" cy="1403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Três camadas lógicas decididas.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Nenhuma separação física decidida.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Introdução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448050"/>
            <a:ext cx="1676400" cy="2476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953500" y="3143250"/>
            <a:ext cx="1676400" cy="247650"/>
          </a:xfrm>
          <a:prstGeom prst="roundRect">
            <a:avLst/>
          </a:prstGeom>
          <a:solidFill>
            <a:srgbClr val="C04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53500" y="2838450"/>
            <a:ext cx="1676400" cy="2476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8956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6800" y="28575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TIAGO · 6 MINUTOS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Definições e arquitetura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Antes de decidir onde cada parte roda, o que o kernel faz quando alguém digita docker run e por que a imagem é em camadas.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Definições e arquitetura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LINHA DO TEMPO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Marcos do isolamento de processos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028950"/>
            <a:ext cx="10820400" cy="2857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82486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1979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chroot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28257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31571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8721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primeiro namespace no kernel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4029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7343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34493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cgroups no mainline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198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23114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80264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Docker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65571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68886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26036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primeiras especificações comuns de container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11343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4657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1807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containerd na CNCF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657114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60429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7579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Kubernetes remove o dockershim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629150"/>
            <a:ext cx="28575" cy="477774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6300" y="4610100"/>
            <a:ext cx="10477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isolamento de processos existe desde 1979. O que é recente é a padronização da cadeia de execução, a partir de 2015.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DUAS DEFINIÇÕES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253359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CONTAINER · DEFINIÇÃO DO GRUPO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462909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75818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7486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ou mais processos executados com visão isolada por namespaces, consumo limitado por cgroups e privilégio reduzido por capabilities e seccomp, sobre um sistema de arquivos raiz próprio.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62700" y="3253359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IMAGEM · OPEN CONTAINER INITIATIVE, IMAGE SPEC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62700" y="3462909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62700" y="375818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48450" y="37486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Conjunto ordenado de camadas de sistema de arquivos mais a configuração de execução, identificado por um digest, que é o hash do próprio conteúdo.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QUE O KERNEL ENXERGA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Um container é um processo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 a visão restringida por namespaces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177415"/>
            <a:ext cx="10820400" cy="3286125"/>
          </a:xfrm>
          <a:prstGeom prst="roundRect">
            <a:avLst>
              <a:gd name="adj" fmla="val 2318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2500" y="2386965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329815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67271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run -d --name web nginx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91084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ps -eo pid,comm | grep nginx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14896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4821 nginx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38709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62521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lsns -p 4821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86334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     NS TYPE   NPROCS   PID USER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10146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4026532191 mnt         3  4821 root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33959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4026532192 uts         3  4821 root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57771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4026532193 ipc         3  4821 root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81584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4026532194 pid         3  4821 root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505396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4026532196 net         3  4821 root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5692140"/>
            <a:ext cx="28575" cy="18859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6300" y="5673090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Saída da distro docker-desktop do WSL. O mesmo processo tem PID 1 dentro do container e outro PID no host, que é o que o namespace de PID faz.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NAMESPACES E CGROUPS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Namespaces isolam a visão.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Cgroups limitam o consumo.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5906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NAMESPACES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80016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09543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0859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mnt dá árvore de montagem própria.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626168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61664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pid faz o processo virar PID 1 lá dentro.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156901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1473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net dá pilha de rede própria, por isso dois containers escutam na mesma porta.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2700" y="25906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CGROUPS V2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62700" y="280016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2700" y="309543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8450" y="30859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Não isolam nada, apenas contabilizam e limitam o consumo.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2700" y="3890200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38806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Estourar o limite de memória não deixa lento, o kernel mata o processo.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4684966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467544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Limite de CPU não mata, freia. Isso piora as requisições mais lentas e quase não mexe na média, por isso é mais difícil de perceber.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ESTRUTURA DA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Camadas somente leitura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 a camada de escrita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2343150"/>
            <a:ext cx="4381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60">
                <a:solidFill>
                  <a:srgbClr val="6B6B78"/>
                </a:solidFill>
                <a:latin typeface="Roboto"/>
              </a:rPr>
              <a:t>CAMADAS DE UMA IMAGEM E DO CONTAINER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405765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41910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camada base (debian, alpine)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356235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36957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dependências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306705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750" y="32004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código da aplicação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0550" y="3067050"/>
            <a:ext cx="28575" cy="14287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2950" y="462915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as três de baixo são somente leitura, endereçadas por digest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2514600"/>
            <a:ext cx="3429000" cy="495300"/>
          </a:xfrm>
          <a:prstGeom prst="roundRect">
            <a:avLst>
              <a:gd name="adj" fmla="val 7692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7750" y="260985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E94D1C"/>
                </a:solidFill>
                <a:latin typeface="Roboto"/>
              </a:rPr>
              <a:t>camada de escrita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" y="2790825"/>
            <a:ext cx="3048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criada pelo container, morre com ele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857750" y="2457450"/>
            <a:ext cx="0" cy="215265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257800" y="2914650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copy-up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3181350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alterar um byte de um arquivo grande copia o arquivo inteiro para cima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752850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whiteout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4019550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apagar cria uma marcação, o arquivo continua na camada de baixo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5638800"/>
            <a:ext cx="28575" cy="42748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6300" y="5619750"/>
            <a:ext cx="106299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Um Dockerfile que copia um .env e faz RUN rm na instrução seguinte produz uma imagem em que o segredo continua legível. No nosso caso o segredo seria a senha do banco e o segredo de sessão do login do anfitrião, o UC001.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 PILHA DE EXECUÇÃO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CLI, dockerd, containerd,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shim e runc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33337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7250" y="34480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 CLI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6576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cliente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52750" y="33337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52750" y="34480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09900" y="36576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daemon, roda como root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28900" y="3648075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048250" y="33337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48250" y="34480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containerd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05400" y="36576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ciclo de vida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24400" y="3648075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143750" y="33337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43750" y="34480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shim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00900" y="36576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um por container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19900" y="3648075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239250" y="33337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9250" y="34480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runc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6400" y="36576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cria e sai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915400" y="3648075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667250" y="3086100"/>
            <a:ext cx="8572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21049A"/>
                </a:solidFill>
                <a:latin typeface="Roboto"/>
              </a:rPr>
              <a:t>gRPC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250" y="4352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4343400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shim é pai do container e não filho do daemon. Foi esse desenho que fez reiniciar o daemon deixar de matar os containers em execução.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7250" y="4970907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4961382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runc cria os namespaces, configura cgroups, aplica capabilities e seccomp, faz pivot_root, dá execve e sai.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RESTRIÇÃO DE PRIVILÉGIO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Capabilities, seccomp e LSM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903982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894457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Capabilities fatiam o root do POSIX em privilégios independentes, que podem ser derrubados e devolvidos um a um.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742944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733419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perfil padrão de seccomp-bpf bloqueia parte das chamadas de sistema disponíveis.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581906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572381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AppArmor ou SELinux entram por cima de tudo, pelo módulo de segurança do próprio kernel.</a:t>
            </a:r>
          </a:p>
        </p:txBody>
      </p:sp>
      <p:sp>
        <p:nvSpPr>
          <p:cNvPr id="11" name="Isosceles Triangle 10"/>
          <p:cNvSpPr/>
          <p:nvPr/>
        </p:nvSpPr>
        <p:spPr>
          <a:xfrm>
            <a:off x="9124950" y="2894457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93530" y="2951607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72600" y="2903982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CUIDADO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24950" y="3180207"/>
            <a:ext cx="38100" cy="603504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34500" y="3180207"/>
            <a:ext cx="2171700" cy="11750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 opção --privileged devolve tudo de uma vez e ainda desliga o seccomp.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OCI, FUNDADA EM 2015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Docker implementa as</a:t>
            </a:r>
          </a:p>
          <a:p>
            <a:pPr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especificações da OCI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Fundada em 2015 sob a Linux Foundation, com a Runtime Spec, a Image Spec e a Distribution Spec. O runc é trocável por crun, gVisor ou Kata. O engine é trocável por Podman. É a substituibilidade por compatibilidade de interface da Aula 05, e o Bloco D traz um caso real.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Arquitetura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048000"/>
            <a:ext cx="590550" cy="5905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Arrow 4"/>
          <p:cNvSpPr/>
          <p:nvPr/>
        </p:nvSpPr>
        <p:spPr>
          <a:xfrm>
            <a:off x="9658350" y="3219450"/>
            <a:ext cx="419100" cy="247650"/>
          </a:xfrm>
          <a:prstGeom prst="rightArrow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191750" y="3048000"/>
            <a:ext cx="590550" cy="5905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8956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6800" y="28575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GABRIEL · 6 MINUTOS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Aplicação no Invite People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Mapeamento entre os diagramas da Sprint 2 e o arquivo de compose, com o número de cada task.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CAMADA LÓGICA E TIER, AULA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As mesmas três camadas lógicas,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empacotadas de três jeitos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2562225"/>
            <a:ext cx="100012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6B6B78"/>
                </a:solidFill>
                <a:latin typeface="Roboto"/>
              </a:rPr>
              <a:t>AS TRÊS CAMADAS LÓGICAS FICAM SEMPRE NA MESMA IMAGEM. O QUE MUDA É ONDE FRONT E BANCO RODAM.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2809875"/>
            <a:ext cx="2724150" cy="1504950"/>
          </a:xfrm>
          <a:prstGeom prst="roundRect">
            <a:avLst>
              <a:gd name="adj" fmla="val 316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9650" y="2886075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9650" y="2943225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3171825"/>
            <a:ext cx="24193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8225" y="3286125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225" y="3514725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8225" y="3743325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9650" y="3990975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9650" y="4048125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" y="4429125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1 tier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4638675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tudo num processo só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62425" y="2809875"/>
            <a:ext cx="1143000" cy="1504950"/>
          </a:xfrm>
          <a:prstGeom prst="roundRect">
            <a:avLst>
              <a:gd name="adj" fmla="val 4166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95775" y="3476625"/>
            <a:ext cx="8763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5775" y="3533775"/>
            <a:ext cx="8763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95925" y="2809875"/>
            <a:ext cx="1390650" cy="1504950"/>
          </a:xfrm>
          <a:prstGeom prst="roundRect">
            <a:avLst>
              <a:gd name="adj" fmla="val 342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562600" y="3028950"/>
            <a:ext cx="125730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91175" y="3143250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91175" y="3371850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91175" y="3600450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29275" y="3867150"/>
            <a:ext cx="11239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29275" y="3924300"/>
            <a:ext cx="11239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2425" y="4429125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2 tiers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62425" y="4638675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front separado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39000" y="2809875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353300" y="3476625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53300" y="3533775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05800" y="2809875"/>
            <a:ext cx="1619250" cy="1504950"/>
          </a:xfrm>
          <a:prstGeom prst="roundRect">
            <a:avLst>
              <a:gd name="adj" fmla="val 3164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420100" y="3171825"/>
            <a:ext cx="13906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48675" y="3286125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48675" y="3514725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48675" y="3743325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53650" y="2809875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267950" y="3476625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7950" y="3533775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39000" y="4429125"/>
            <a:ext cx="37528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3 tiers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39000" y="4638675"/>
            <a:ext cx="37528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banco isolado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85800" y="5638800"/>
            <a:ext cx="28575" cy="641223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6300" y="5619750"/>
            <a:ext cx="106299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Nenhuma das três muda uma linha do projeto lógico. Todas mudam o empacotamento, e essa escolha é entrada do ADR #63, o documento de decisões arquiteturais da Sprint 2. Cuidado com o vocabulário: Docker usa </a:t>
            </a:r>
            <a:r>
              <a:rPr sz="1280" b="0" i="1">
                <a:solidFill>
                  <a:srgbClr val="3A3A44"/>
                </a:solidFill>
                <a:latin typeface="Roboto"/>
              </a:rPr>
              <a:t>layer</a:t>
            </a:r>
            <a:r>
              <a:rPr sz="1280" b="0" i="0">
                <a:solidFill>
                  <a:srgbClr val="3A3A44"/>
                </a:solidFill>
                <a:latin typeface="Roboto"/>
              </a:rPr>
              <a:t> para o empilhamento do sistema de arquivos da imagem, que não tem relação com a camada lógica da Aula 03.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MODELAGEM UML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No diagrama de implantação, o container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é um nó e a imagem é um artefato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2771775"/>
            <a:ext cx="3810000" cy="2286000"/>
          </a:xfrm>
          <a:prstGeom prst="rect">
            <a:avLst/>
          </a:prstGeom>
          <a:noFill/>
          <a:ln w="317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7750" y="2924175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«device»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" y="3114675"/>
            <a:ext cx="3429000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Host de desenvolvimento</a:t>
            </a:r>
          </a:p>
        </p:txBody>
      </p:sp>
      <p:sp>
        <p:nvSpPr>
          <p:cNvPr id="8" name="Rectangle 7"/>
          <p:cNvSpPr/>
          <p:nvPr/>
        </p:nvSpPr>
        <p:spPr>
          <a:xfrm>
            <a:off x="1162050" y="3476625"/>
            <a:ext cx="3200400" cy="139065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52550" y="3609975"/>
            <a:ext cx="285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«executionEnvironment»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2550" y="3819525"/>
            <a:ext cx="285750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1" i="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6850" y="4143375"/>
            <a:ext cx="2590800" cy="552450"/>
          </a:xfrm>
          <a:prstGeom prst="roundRect">
            <a:avLst>
              <a:gd name="adj" fmla="val 5172"/>
            </a:avLst>
          </a:prstGeom>
          <a:solidFill>
            <a:srgbClr val="F2F2F5"/>
          </a:solidFill>
          <a:ln w="1270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57350" y="4257675"/>
            <a:ext cx="22860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1" i="0" spc="120">
                <a:solidFill>
                  <a:srgbClr val="6B6B78"/>
                </a:solidFill>
                <a:latin typeface="Roboto"/>
              </a:rPr>
              <a:t>«artifact»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57350" y="4448175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1A1A1E"/>
                </a:solidFill>
                <a:latin typeface="Roboto"/>
              </a:rPr>
              <a:t>imagem (tag + digest)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43500" y="2962275"/>
            <a:ext cx="4000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Ambiente de execução é</a:t>
            </a:r>
          </a:p>
          <a:p>
            <a:pPr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uma especialização de nó.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43500" y="3629025"/>
            <a:ext cx="4095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Por isso nunca dizer que container não é nó. O modelo fiel é o container aninhado no host, com a imagem implantada dentro dele.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143500" y="4410075"/>
            <a:ext cx="4095750" cy="0"/>
          </a:xfrm>
          <a:prstGeom prst="line">
            <a:avLst/>
          </a:prstGeom>
          <a:ln w="254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143500" y="4562475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Máquina virtual, essa sim, é um nó novo, com sistema operacional próprio.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RASCUNHOS DOS ITENS #59 E #60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Mapeamento dos componentes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para os nós do diagrama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3028950"/>
            <a:ext cx="3810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21049A"/>
                </a:solidFill>
                <a:latin typeface="Roboto"/>
              </a:rPr>
              <a:t>RASCUNHO #59, DIAGRAMA DE COMPONENTES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57250" y="3200400"/>
            <a:ext cx="3810000" cy="1866900"/>
          </a:xfrm>
          <a:prstGeom prst="rect">
            <a:avLst/>
          </a:prstGeom>
          <a:noFill/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23950" y="34480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3950" y="36004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Convite público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71800" y="34480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36004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Painel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47875" y="4114800"/>
            <a:ext cx="1428750" cy="419100"/>
          </a:xfrm>
          <a:prstGeom prst="roundRect">
            <a:avLst>
              <a:gd name="adj" fmla="val 6818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47875" y="42481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API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47875" y="4667250"/>
            <a:ext cx="1428750" cy="285750"/>
          </a:xfrm>
          <a:prstGeom prst="roundRect">
            <a:avLst>
              <a:gd name="adj" fmla="val 10000"/>
            </a:avLst>
          </a:prstGeom>
          <a:solidFill>
            <a:srgbClr val="6B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47875" y="4733925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Dados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838325" y="3905250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952750" y="3905250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762250" y="4533900"/>
            <a:ext cx="0" cy="1333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667250" y="4133850"/>
            <a:ext cx="1524000" cy="0"/>
          </a:xfrm>
          <a:prstGeom prst="line">
            <a:avLst/>
          </a:prstGeom>
          <a:ln w="3810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953000" y="3886200"/>
            <a:ext cx="95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E94D1C"/>
                </a:solidFill>
                <a:latin typeface="Roboto"/>
              </a:rPr>
              <a:t>#72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1250" y="3028950"/>
            <a:ext cx="4000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RASCUNHO #60, DIAGRAMA DE IMPLANTAÇÃO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91250" y="3200400"/>
            <a:ext cx="3810000" cy="186690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1750" y="331470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>
                <a:solidFill>
                  <a:srgbClr val="E94D1C"/>
                </a:solidFill>
                <a:latin typeface="Roboto"/>
              </a:rPr>
              <a:t>«device» host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817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628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19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19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API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448550" y="37909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87439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630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630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629650" y="37909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381750" y="4267200"/>
            <a:ext cx="3429000" cy="323850"/>
          </a:xfrm>
          <a:prstGeom prst="roundRect">
            <a:avLst>
              <a:gd name="adj" fmla="val 8823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1750" y="4362450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E94D1C"/>
                </a:solidFill>
                <a:latin typeface="Roboto"/>
              </a:rPr>
              <a:t>rede nomeada, resolução por nome de serviço  ·  #75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81750" y="4762500"/>
            <a:ext cx="36195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0" i="0">
                <a:solidFill>
                  <a:srgbClr val="6B6B78"/>
                </a:solidFill>
                <a:latin typeface="Roboto"/>
              </a:rPr>
              <a:t>#71 nós  ·  #73 imagem por tag e digest  ·  #74, #76 e #77 são passos de processo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INTERFACES NO ARQUIVO DE COMPOSE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Onde ficam a interface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provida e a requerida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505075"/>
            <a:ext cx="5905500" cy="2895600"/>
          </a:xfrm>
          <a:prstGeom prst="roundRect">
            <a:avLst>
              <a:gd name="adj" fmla="val 263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3450" y="27146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services: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3450" y="29622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api: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3450" y="32099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node:22-alpine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34575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ports: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37052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- "3000:3000"        # interface provida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450" y="39528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environment: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3450" y="42005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DATABASE_URL: ...    # interface requerida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450" y="44481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depends_on: [db]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450" y="46958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db: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450" y="49434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postgres:16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8500" y="2514600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34250" y="2505075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publicada mais o contrato HTTP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provida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, o pirulito da UML.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8500" y="3094482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34250" y="3084957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variável de conexão mais a dependência declarada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requerida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, o soquete.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8500" y="3674364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34250" y="3664839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da UML é literalmente a porta do container, com o mesmo desenho e o mesmo nome.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0" y="4254246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34250" y="4244721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As imagens do arquivo são exemplo. A stack ainda não foi decidida e é assunto do ADR #63.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COESÃO E ACOPLAMENTO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 fronteira aumenta a coesão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 muda a forma do acoplamento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COESÃO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7076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66035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imagem passa a ter uma responsabilidade só, que é mais coesão.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360801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3512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código do front não está na imagem da API, então a API não depende dele nem por acidente.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155567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14604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Só o serviço de fronteira publica porta. O banco fica na rede interna sem mapeamento.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50333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494080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regra escrita na wiki depende de alguém revisar. A mesma regra na topologia é verificada pela estrutura, o que reduz a degradação arquitetural da Aula 02.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ACOPLAMENTO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27076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2700" y="2566035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Entre as nossas três camadas o acoplamento continua igual, porque elas ficam na mesma imagem do back-end.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362483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36153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Onde há separação, o acoplamento não some, muda de forma e passa a ter latência, falha parcial e ordem de subida.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CONSEQUÊNCIA PARA 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convite público e o painel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têm cargas diferentes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903982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894457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Marina é a persona da anfitriã, e a jornada dela descreve o link caindo no grupo da família. Isso é pico no convite público, onde o convidado confirma presença, e uma pessoa só no painel, onde a anfitriã vê a lista.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019550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4010025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Replicar só o serviço público faz sentido. Replicar o painel não.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581906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572381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Para isso valer, o convite público não pode guardar sessão em memória nem gravar upload em disco local.</a:t>
            </a:r>
          </a:p>
        </p:txBody>
      </p:sp>
      <p:sp>
        <p:nvSpPr>
          <p:cNvPr id="11" name="Donut 10"/>
          <p:cNvSpPr/>
          <p:nvPr/>
        </p:nvSpPr>
        <p:spPr>
          <a:xfrm>
            <a:off x="9124950" y="2894457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72600" y="2903982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EM ABERTO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24950" y="3180207"/>
            <a:ext cx="38100" cy="10332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34500" y="3180207"/>
            <a:ext cx="2171700" cy="1604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Mesma imagem de front ou imagens separadas?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Entrada direta para o #59 e o #60. Ainda não decidida.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2876550"/>
            <a:ext cx="704850" cy="76200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829800" y="3219450"/>
            <a:ext cx="704850" cy="41910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953500" y="3714750"/>
            <a:ext cx="158115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8956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6800" y="28575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ANDREAS, COM TIAGO NA SEGURANÇA · 7 MINUTOS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Vantagens, desvantagens e demonstração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 demonstração é do ambiente e da topologia, não do produto. A implementação começa na Sprint 4.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DEMONSTRAÇÃO, 90 SEGUNDOS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dado sobrevive ao container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se ficar num volume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4055"/>
            <a:ext cx="10820400" cy="3524250"/>
          </a:xfrm>
          <a:prstGeom prst="roundRect">
            <a:avLst>
              <a:gd name="adj" fmla="val 2162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2500" y="2173605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116455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459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up -d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697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2935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NAME   IMAGE          STATUS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173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web    nginx:alpine   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4118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db     postgres:16    Up (healthy)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6499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38881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run --rm client psql -h db -c "create table t(); 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1262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&amp;&amp; docker compose up -d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364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 tabela continua lá, o volume sobreviveu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602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840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-v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2500" y="5078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agora o dado some junto com o volume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5716905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6300" y="5697855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 imagem de fundo que a anfitriã envia ao personalizar o convite e o CSV de restrições alimentares que ela exporta não podem morrer junto com o container. A decisão de implantação volta como restrição de projeto para as camadas de cima.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Demonstração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KUBERNETES 1.24, 2022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A remoção do dockershim</a:t>
            </a:r>
          </a:p>
          <a:p>
            <a:pPr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no Kubernetes 1.24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O que saiu foi o adaptador embutido que falava com o Docker Engine, não o formato das imagens. Como imagem é OCI, nada quebrou. É um caso real de substituição por compatibilidade de interface, no vocabulário da Aula 05.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Estudo de caso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LIMITAÇÕES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Limitações e custos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61107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751582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daemon roda como root. Estar no grupo docker equivale a root no host, sem sudo e sem trilha de auditoria.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600069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590544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regra de rede que o Docker escreve passa na frente da do administrador, então um deny de firewall na porta publicada não bloqueia nada.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439031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429506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Estado, que traz junto backup e upgrade de versão maior do banco.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001387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991862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Licenciamento do Docker Desktop.</a:t>
            </a:r>
          </a:p>
        </p:txBody>
      </p:sp>
      <p:sp>
        <p:nvSpPr>
          <p:cNvPr id="13" name="Isosceles Triangle 12"/>
          <p:cNvSpPr/>
          <p:nvPr/>
        </p:nvSpPr>
        <p:spPr>
          <a:xfrm>
            <a:off x="9124950" y="2751582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93530" y="2808732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2761107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REGRA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24950" y="3037332"/>
            <a:ext cx="38100" cy="8046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34500" y="3037332"/>
            <a:ext cx="2171700" cy="1376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Nenhum número entra neste slide sem medição feita pelo time, com o modelo da máquina e a data.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CONTAINER E MÁQUINA VIRTUAL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400" b="1" i="0">
                <a:solidFill>
                  <a:srgbClr val="21049A"/>
                </a:solidFill>
                <a:latin typeface="Roboto"/>
              </a:rPr>
              <a:t>Comparação pela</a:t>
            </a:r>
          </a:p>
          <a:p>
            <a:pPr>
              <a:lnSpc>
                <a:spcPct val="104000"/>
              </a:lnSpc>
            </a:pPr>
            <a:r>
              <a:rPr sz="2400" b="1" i="0">
                <a:solidFill>
                  <a:srgbClr val="21049A"/>
                </a:solidFill>
                <a:latin typeface="Roboto"/>
              </a:rPr>
              <a:t>superfície de ataque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226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MÁQUINA VIRTUAL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932176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227451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2179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Kernel próprio.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75818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7486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Fronteira imposta em hardware.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288917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2793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Superfície relativamente estreita.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2700" y="27226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62700" y="2932176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2700" y="3227451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8450" y="32179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Compartilha o kernel do host.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2700" y="375818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37486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fronteira é a interface de chamadas de sistema, mais de trezentas, mais /proc, /sys e ioctl.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4552950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454342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CVE-2019-5736 no runc: o processo de dentro sobrescrevia o binário do runtime pelo /proc/self/exe.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ALTERNATIVAS CONSIDERADAS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Comparação com as outras opções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864739"/>
            <a:ext cx="2190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OPÇÃO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48000" y="2864739"/>
            <a:ext cx="3429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A FAVOR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0" y="2864739"/>
            <a:ext cx="4762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CONTRA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093339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245739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README nativo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0" y="3245739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Custo zero para começar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67500" y="3245739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Quebra na primeira divergência de versão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57073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694557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VM compartilhada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48000" y="3694557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Isolamento imposto em hardware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0" y="3694557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Pesada e difícil de versionar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01955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143375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Podman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48000" y="4143375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Mesmo modelo, sem daemon root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7500" y="4143375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Menos material e menos gente do time conhece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468368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1500" y="4535043"/>
            <a:ext cx="28575" cy="3238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592193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E94D1C"/>
                </a:solidFill>
                <a:latin typeface="Roboto"/>
              </a:rPr>
              <a:t>Compose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48000" y="4592193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Ambiente igual para os quatro integrantes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500" y="4592193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Acrescenta uma camada de build e de orquestração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4917186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QUANDO NÃO COMPENSA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Quatro critérios para não conteinerizar,</a:t>
            </a:r>
          </a:p>
          <a:p>
            <a:pPr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e a nossa situação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2129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OS QUATRO CRITÉRIOS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930842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226118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2165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Monolito num servidor que nunca escala.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756850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74732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Time sem integração contínua, que só ganha um passo de build a mais.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551616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Aplicação sensível a latência de cauda.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082349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507282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Sistema dominado por estado.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72129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NÓS ESTAMOS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930842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2700" y="3226118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32165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Não temos integração contínua definida nem hospedagem decidida, então dois dos critérios ao lado se aplicam a nós.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4284916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42753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motivo que resta é o ambiente igual para quatro integrantes com stacks diferentes, com o banco rodando sem instalação local, antes de escrever a primeira linha.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VANTAGENS E CUSTOS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Efeito nos atributos da Aula 03</a:t>
            </a:r>
          </a:p>
          <a:p>
            <a:pPr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e das Questões Norteadoras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17598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GANHA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327148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622423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61289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Cada imagem tem uma responsabilidade e uma fronteira declarada, que é a modularidade e a reusabilidade da Aula 03.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510915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50139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O ambiente vira arquivo legível, versionado junto com o código, e com isso ganha compreensibilidade.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173093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41635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Extensibilidade sai barata, porque trocar runtime ou banco é editar uma linha de arquivo.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835271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482574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A mesma imagem atravessa notebook, pipeline e a demonstração funcional do T3, o que ajuda a manutenibilidade.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497449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1550" y="548792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A escalabilidade fica seletiva, e só vale se a aplicação for mesmo sem estado.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2700" y="2117598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CUSTA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62700" y="2327148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2700" y="2622423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261289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Segurança ganha isolamento e herda uma superfície nova, que é a imagem base e o privilégio de execução.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2700" y="3284601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450" y="32750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Desempenho custa, principalmente I/O nas máquinas Windows, e a Aula 03 já avisa que camada extra prejudica desempenho.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RECOMENDAÇÃO PARA O ADR #63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Recomendação do grupo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042285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303276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Adotamos conteinerização como estratégia de empacotamento e de ambiente de desenvolvimento, registrada como troca.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81247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871722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#60 deixa de ser caixa genérica e passa a ter um arquivo correspondente que roda, e esse arquivo vira artefato do repositório.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720209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710684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stack ainda não está decidida, e o ADR #63 é onde ela será registrada.</a:t>
            </a:r>
          </a:p>
        </p:txBody>
      </p:sp>
      <p:sp>
        <p:nvSpPr>
          <p:cNvPr id="11" name="Chevron 10"/>
          <p:cNvSpPr/>
          <p:nvPr/>
        </p:nvSpPr>
        <p:spPr>
          <a:xfrm>
            <a:off x="9124950" y="3042285"/>
            <a:ext cx="142875" cy="123825"/>
          </a:xfrm>
          <a:prstGeom prst="chevron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72600" y="3042285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PRÓXIMO PASSO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24950" y="3318510"/>
            <a:ext cx="38100" cy="1005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34500" y="3318510"/>
            <a:ext cx="2171700" cy="1577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Insumo direto da Sprint 3, que começa no dia 15 e tem como objetivo declarado definir as tecnologias e os mecanismos da implementação.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ANTES E DEPOIS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mudou no ambiente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120009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NO COMEÇO DO PROJETO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329559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62483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36153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linha de .gitattributes forçando LF nos scripts, porque o Git Bash quebra no Windows.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419600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441007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ambientes do time já divergem antes de existir a primeira linha de código do produto.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2700" y="3120009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AGORA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62700" y="3329559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2700" y="3624834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8450" y="36153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arquivo que descreve o ambiente inteiro e que qualquer um dos quatro sobe com um comando.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4419600"/>
            <a:ext cx="247650" cy="294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8450" y="441007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 que vira o diagrama de implantação do item #60.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QUE NÃO ESTAMOS AFIRMANDO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Pendências, com número de item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461766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3452241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Os itens #58 a #63 da Sprint 2 estão em To Do. Isto é insumo desses itens, não relato de item concluído.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300728"/>
            <a:ext cx="247650" cy="308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2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4291203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#63, onde a stack será decidida, ainda não foi escrito.</a:t>
            </a:r>
          </a:p>
        </p:txBody>
      </p:sp>
      <p:sp>
        <p:nvSpPr>
          <p:cNvPr id="9" name="Document 8"/>
          <p:cNvSpPr/>
          <p:nvPr/>
        </p:nvSpPr>
        <p:spPr>
          <a:xfrm>
            <a:off x="9124950" y="3452241"/>
            <a:ext cx="142875" cy="133350"/>
          </a:xfrm>
          <a:prstGeom prst="flowChartDocument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72600" y="3461766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PARA LEVAR PARA A P1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24950" y="3737991"/>
            <a:ext cx="38100" cy="1664208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34500" y="3737991"/>
            <a:ext cx="2171700" cy="22357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Container é processo isolado por mecanismo de kernel.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Imagem é artefato, container é ambiente de execução.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 decisão arquitetural é a granularidade de tier.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FONTES CITADAS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Referências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267712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25818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Open Container Initiative. Runtime Spec, Image Spec e Distribution Spec. Linux Foundation, fundada em 2015.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703576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694051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WIGGINS, A. The Twelve-Factor App, 2011.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139440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12991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FELTER, W. et al. An updated performance comparison of virtual machines and Linux containers. IBM Research Report, 2015.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801618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792093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MERKEL, D. Docker: lightweight Linux containers for consistent development and deployment. Linux Journal, 2014.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237482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422795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NIST SP 800-190. Application Container Security Guide.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673346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1550" y="4663821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SOMMERVILLE, I. Engenharia de Software. 6. ed. Addison Wesley, 2004.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109210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1550" y="509968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FOWLER, M. Patterns of Enterprise Application Architecture. Addison Wesley, 2002.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545074"/>
            <a:ext cx="247650" cy="252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1550" y="5535549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FARIAS, K. Aula 03, Arquiteturas em Camadas. Aula 05, Arquiteturas Baseadas em Componentes.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Referências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unisi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 unisinos" id="{0EDEEB91-0736-441F-A7F5-4FA5717EFDDE}" vid="{6FB48B3F-96BA-4BC3-92BE-A09E0B32FF4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85AD953FC666642937FCE52CC8B4A6A" ma:contentTypeVersion="21" ma:contentTypeDescription="Crie um novo documento." ma:contentTypeScope="" ma:versionID="a0f0a53631578753e0de4c39d7473101">
  <xsd:schema xmlns:xsd="http://www.w3.org/2001/XMLSchema" xmlns:xs="http://www.w3.org/2001/XMLSchema" xmlns:p="http://schemas.microsoft.com/office/2006/metadata/properties" xmlns:ns2="5fb5f026-dc7b-485f-82fe-577aafb4abaa" xmlns:ns3="9970e0e6-68bd-454a-b013-2dc3f312d27d" targetNamespace="http://schemas.microsoft.com/office/2006/metadata/properties" ma:root="true" ma:fieldsID="1cb42779a8c523c71ef9e1ae6bb42114" ns2:_="" ns3:_="">
    <xsd:import namespace="5fb5f026-dc7b-485f-82fe-577aafb4abaa"/>
    <xsd:import namespace="9970e0e6-68bd-454a-b013-2dc3f312d2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  <xsd:element ref="ns2:Na_x0020_sua_x0020_vis_x00e3_o_x002c__x0020_qual_x0020__x00e9__x0020_o_x0020_principal_x0020_diferencial_x0020_dos_x0020_cursos_x0020_em_x0020_rela_x00e7__x00e3_o_x0020_a_x0020_outras_x0020_especializa_x00e7__x00f5_es_x0020_semelhantes_x0020_no_x0020_Brasil_x003f_"/>
                <xsd:element ref="ns2: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b5f026-dc7b-485f-82fe-577aafb4a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aac08c5c-6fe0-4712-b828-e958a9361e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Na_x0020_sua_x0020_vis_x00e3_o_x002c__x0020_qual_x0020__x00e9__x0020_o_x0020_principal_x0020_diferencial_x0020_dos_x0020_cursos_x0020_em_x0020_rela_x00e7__x00e3_o_x0020_a_x0020_outras_x0020_especializa_x00e7__x00f5_es_x0020_semelhantes_x0020_no_x0020_Brasil_x003f_" ma:index="26" ma:displayName="Na sua visão, qual é o principal diferencial dos cursos em relação a outras especializações semelhantes no Brasil?" ma:internalName="Na_x0020_sua_x0020_vis_x00e3_o_x002c__x0020_qual_x0020__x00e9__x0020_o_x0020_principal_x0020_diferencial_x0020_dos_x0020_cursos_x0020_em_x0020_rela_x00e7__x00e3_o_x0020_a_x0020_outras_x0020_especializa_x00e7__x00f5_es_x0020_semelhantes_x0020_no_x0020_Brasil_x003f_">
      <xsd:simpleType>
        <xsd:restriction base="dms:Note">
          <xsd:maxLength value="255"/>
        </xsd:restriction>
      </xsd:simpleType>
    </xsd:element>
    <xsd:element 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 ma:index="27" ma:displayName="Que tipo de profissional você acredita que mais se beneficia deste curso hoje (perfil técnico, momento de carreira, lacunas que o curso supre)?" ma:internal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0e0e6-68bd-454a-b013-2dc3f312d27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04e90fd-b40d-4e8a-9052-aed8cdd6606b}" ma:internalName="TaxCatchAll" ma:showField="CatchAllData" ma:web="9970e0e6-68bd-454a-b013-2dc3f312d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fb5f026-dc7b-485f-82fe-577aafb4abaa">
      <Terms xmlns="http://schemas.microsoft.com/office/infopath/2007/PartnerControls"/>
    </lcf76f155ced4ddcb4097134ff3c332f>
    <TaxCatchAll xmlns="9970e0e6-68bd-454a-b013-2dc3f312d27d" xsi:nil="true"/>
    <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 xmlns="5fb5f026-dc7b-485f-82fe-577aafb4abaa">a</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>
    <Na_x0020_sua_x0020_vis_x00e3_o_x002c__x0020_qual_x0020__x00e9__x0020_o_x0020_principal_x0020_diferencial_x0020_dos_x0020_cursos_x0020_em_x0020_rela_x00e7__x00e3_o_x0020_a_x0020_outras_x0020_especializa_x00e7__x00f5_es_x0020_semelhantes_x0020_no_x0020_Brasil_x003f_ xmlns="5fb5f026-dc7b-485f-82fe-577aafb4abaa">a</Na_x0020_sua_x0020_vis_x00e3_o_x002c__x0020_qual_x0020__x00e9__x0020_o_x0020_principal_x0020_diferencial_x0020_dos_x0020_cursos_x0020_em_x0020_rela_x00e7__x00e3_o_x0020_a_x0020_outras_x0020_especializa_x00e7__x00f5_es_x0020_semelhantes_x0020_no_x0020_Brasil_x003f_>
  </documentManagement>
</p:properties>
</file>

<file path=customXml/itemProps1.xml><?xml version="1.0" encoding="utf-8"?>
<ds:datastoreItem xmlns:ds="http://schemas.openxmlformats.org/officeDocument/2006/customXml" ds:itemID="{8EFE6DF0-C827-427D-A5C4-577D5E296F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b5f026-dc7b-485f-82fe-577aafb4abaa"/>
    <ds:schemaRef ds:uri="9970e0e6-68bd-454a-b013-2dc3f312d2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04F551-2F4B-4ED5-8A86-9AF9523D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329F00-2A8C-46E7-9764-248AFFF1202A}">
  <ds:schemaRefs>
    <ds:schemaRef ds:uri="http://purl.org/dc/elements/1.1/"/>
    <ds:schemaRef ds:uri="http://schemas.openxmlformats.org/package/2006/metadata/core-properties"/>
    <ds:schemaRef ds:uri="http://purl.org/dc/terms/"/>
    <ds:schemaRef ds:uri="5fb5f026-dc7b-485f-82fe-577aafb4abaa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9970e0e6-68bd-454a-b013-2dc3f312d27d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unisinos</Template>
  <TotalTime>60</TotalTime>
  <Words>1142</Words>
  <Application>Microsoft Office PowerPoint</Application>
  <PresentationFormat>Widescreen</PresentationFormat>
  <Paragraphs>120</Paragraphs>
  <Slides>15</Slides>
  <Notes>2</Notes>
  <HiddenSlides>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tema unisinos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TÍTULO TÍTULO</vt:lpstr>
      <vt:lpstr>Apresentação do PowerPoint</vt:lpstr>
      <vt:lpstr>Apresentação do PowerPoint</vt:lpstr>
      <vt:lpstr>TÍTULO TÍTULO TÍTULO TÍTULO TÍTULO TÍTULO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Marcelo Krause de Verney</dc:creator>
  <cp:lastModifiedBy>Roberto Ferrari</cp:lastModifiedBy>
  <cp:revision>15</cp:revision>
  <dcterms:created xsi:type="dcterms:W3CDTF">2012-07-30T23:50:35Z</dcterms:created>
  <dcterms:modified xsi:type="dcterms:W3CDTF">2026-03-06T20:44:32Z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0x010100585AD953FC666642937FCE52CC8B4A6A</vt:lpwstr>
  </property>
  <property fmtid="{D5CDD505-2E9C-101B-9397-08002B2CF9AE}" pid="3" name="MediaServiceImageTags">
    <vt:lpwstr/>
  </property>
</Properties>
</file>