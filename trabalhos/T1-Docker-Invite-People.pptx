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pic>
        <p:nvPicPr>
          <p:cNvPr id="8" name="Picture 7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2038350"/>
            <a:ext cx="2667000" cy="19126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 ·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projeto Invite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4106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3210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800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7106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01002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na documentação do projeto, com MVC no front-end e três camadas no back-end.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84898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Como esses componentes serão distribuídos e implantados no ambiente de execução.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332101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389251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34162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PONTO DE PARTIDA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617851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617851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no back-end.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é em quantos processos separados elas rodam.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que o grupo quer usar 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988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898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Ambiente de desenvolvimento igual para os quatro, com o banco rodando sem ninguém instalar nada na própria máquina.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2884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Um arquivo no repositório que descreve esse ambiente inteiro, versionado junto com o código, e que qualquer um sobe com um comando.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767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6780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Na entrega e na apresentação do produto, o mesmo ambiente do desenvolvimento.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5" name="Picture 4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2381250"/>
            <a:ext cx="2476500" cy="17759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isolamento de processos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A padronização da cadeia de execução é de 2015.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9405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03601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29336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8935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269405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2700" y="2903601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81750" y="329336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8450" y="318935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o hash do próprio conteúdo.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1750" y="461619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451218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No diagrama de implantação, a imagem é artefato e o container é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um processo comum,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40242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49792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092642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35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73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11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49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388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26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64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02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40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78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16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454968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" y="5435918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Linux. No Windows, o Docker Desktop roda o engine sobre o WSL2, uma máquina virtual leve com kernel Linux. O mesmo processo tem PID 1 dentro do container e outro PID no host. Por isso, no diagrama de implantação, o container fica dentro do nó do host.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própria. Dois containers conseguem escutar na mesma porta.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contabilizam e limitam o consumo de recursos, sem isolar nada.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Estourar o limite de memória encerra o processo, sem degradação gradual.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só reduz a velocidade. As requisições mais lentas pioram e a média quase não muda.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Dockerfile, imagem e container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403298"/>
            <a:ext cx="3149600" cy="2546414"/>
          </a:xfrm>
          <a:prstGeom prst="roundRect">
            <a:avLst>
              <a:gd name="adj" fmla="val 2992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93798"/>
            <a:ext cx="26924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RECEITA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22398"/>
            <a:ext cx="2692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Dockerfile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3398"/>
            <a:ext cx="2692400" cy="15939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Arquivo de texto com a imagem base, as dependências e o comando de inicialização.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8200" y="3940062"/>
            <a:ext cx="2844800" cy="781050"/>
          </a:xfrm>
          <a:prstGeom prst="roundRect">
            <a:avLst>
              <a:gd name="adj" fmla="val 4878"/>
            </a:avLst>
          </a:prstGeom>
          <a:solidFill>
            <a:srgbClr val="E6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2500" y="4016262"/>
            <a:ext cx="26162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 Mono"/>
              </a:rPr>
              <a:t>FROM node:22-alpine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4225812"/>
            <a:ext cx="26162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 Mono"/>
              </a:rPr>
              <a:t>COPY . /app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4435362"/>
            <a:ext cx="26162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 Mono"/>
              </a:rPr>
              <a:t>CMD ["node", "/app/api.js"]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49700" y="3676505"/>
            <a:ext cx="457200" cy="0"/>
          </a:xfrm>
          <a:prstGeom prst="line">
            <a:avLst/>
          </a:prstGeom>
          <a:ln w="25400">
            <a:solidFill>
              <a:srgbClr val="E94D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835400" y="3390755"/>
            <a:ext cx="685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build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1200" y="2403298"/>
            <a:ext cx="3149600" cy="2546414"/>
          </a:xfrm>
          <a:prstGeom prst="roundRect">
            <a:avLst>
              <a:gd name="adj" fmla="val 2992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49800" y="2593798"/>
            <a:ext cx="26924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ARTEFATO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9800" y="2822398"/>
            <a:ext cx="2692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Imagem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49800" y="3203398"/>
            <a:ext cx="2692400" cy="15939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Resultado do build. Pacote em camadas, imutável, publicado num registry.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73600" y="3732607"/>
            <a:ext cx="2844800" cy="571500"/>
          </a:xfrm>
          <a:prstGeom prst="roundRect">
            <a:avLst>
              <a:gd name="adj" fmla="val 6666"/>
            </a:avLst>
          </a:prstGeom>
          <a:solidFill>
            <a:srgbClr val="E6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87900" y="3808807"/>
            <a:ext cx="26162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 Mono"/>
              </a:rPr>
              <a:t>$ docker build -t api:1.0 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87900" y="4018357"/>
            <a:ext cx="26162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 Mono"/>
              </a:rPr>
              <a:t>api:1.0  sha256:9f2c4e…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85100" y="3676505"/>
            <a:ext cx="457200" cy="0"/>
          </a:xfrm>
          <a:prstGeom prst="line">
            <a:avLst/>
          </a:prstGeom>
          <a:ln w="25400">
            <a:solidFill>
              <a:srgbClr val="E94D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670800" y="3390755"/>
            <a:ext cx="685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run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56600" y="2403298"/>
            <a:ext cx="3149600" cy="2546414"/>
          </a:xfrm>
          <a:prstGeom prst="roundRect">
            <a:avLst>
              <a:gd name="adj" fmla="val 2992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85200" y="2593798"/>
            <a:ext cx="26924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EXECUÇÃO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85200" y="2822398"/>
            <a:ext cx="2692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85200" y="3203398"/>
            <a:ext cx="2692400" cy="15939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Resultado do run. Processo criado a partir da imagem, com uma camada gravável própria.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09000" y="3940062"/>
            <a:ext cx="2844800" cy="571500"/>
          </a:xfrm>
          <a:prstGeom prst="roundRect">
            <a:avLst>
              <a:gd name="adj" fmla="val 6666"/>
            </a:avLst>
          </a:prstGeom>
          <a:solidFill>
            <a:srgbClr val="E6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23300" y="4016262"/>
            <a:ext cx="26162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 Mono"/>
              </a:rPr>
              <a:t>$ docker run -p 3000:3000 api:1.0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23300" y="4225812"/>
            <a:ext cx="26162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 Mono"/>
              </a:rPr>
              <a:t>PID 1  node /app/api.js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9242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" y="59052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Um registry, como o Docker Hub, guarda e distribui as imagens. As imagens da demonstração vêm de lá prontas, sem build local.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Imagens em camadas e union filesystem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162175"/>
            <a:ext cx="2190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Container 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390775"/>
            <a:ext cx="2190750" cy="457200"/>
          </a:xfrm>
          <a:prstGeom prst="roundRect">
            <a:avLst>
              <a:gd name="adj" fmla="val 833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0600" y="2457450"/>
            <a:ext cx="19240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camada gravável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2638425"/>
            <a:ext cx="19240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>
                <a:solidFill>
                  <a:srgbClr val="6B6B78"/>
                </a:solidFill>
                <a:latin typeface="Roboto"/>
              </a:rPr>
              <a:t>só deste container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52625" y="2847975"/>
            <a:ext cx="0" cy="190500"/>
          </a:xfrm>
          <a:prstGeom prst="line">
            <a:avLst/>
          </a:prstGeom>
          <a:ln w="190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352800" y="2162175"/>
            <a:ext cx="2190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Container 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2800" y="2390775"/>
            <a:ext cx="2190750" cy="457200"/>
          </a:xfrm>
          <a:prstGeom prst="roundRect">
            <a:avLst>
              <a:gd name="adj" fmla="val 833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6150" y="2457450"/>
            <a:ext cx="19240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camada gravável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6150" y="2638425"/>
            <a:ext cx="19240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>
                <a:solidFill>
                  <a:srgbClr val="6B6B78"/>
                </a:solidFill>
                <a:latin typeface="Roboto"/>
              </a:rPr>
              <a:t>só deste container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48175" y="2847975"/>
            <a:ext cx="0" cy="190500"/>
          </a:xfrm>
          <a:prstGeom prst="line">
            <a:avLst/>
          </a:prstGeom>
          <a:ln w="190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57250" y="3038475"/>
            <a:ext cx="4686300" cy="381000"/>
          </a:xfrm>
          <a:prstGeom prst="roundRect">
            <a:avLst>
              <a:gd name="adj" fmla="val 1000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9650" y="3143250"/>
            <a:ext cx="4381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código da API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476625"/>
            <a:ext cx="4686300" cy="381000"/>
          </a:xfrm>
          <a:prstGeom prst="roundRect">
            <a:avLst>
              <a:gd name="adj" fmla="val 1000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9650" y="3581400"/>
            <a:ext cx="4381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runtime: node 22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3914775"/>
            <a:ext cx="4686300" cy="381000"/>
          </a:xfrm>
          <a:prstGeom prst="roundRect">
            <a:avLst>
              <a:gd name="adj" fmla="val 1000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9650" y="4019550"/>
            <a:ext cx="4381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base: alpine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410075"/>
            <a:ext cx="46863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imagem: camadas somente leitura, guardadas uma vez no disco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00750" y="2200275"/>
            <a:ext cx="0" cy="27241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00800" y="2181225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Somente leitura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409825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A imagem é uma pilha de camadas que não muda depois de construída.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867025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Compartilhadas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095625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Camadas iguais existem uma vez no disco e servem a todos os containers criados da imagem.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552825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Copy-on-write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781425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Cada container tem uma camada gravável própria. Alterar um arquivo o copia inteiro para essa camada.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238625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467225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Apagar um arquivo cria uma marcação na camada gravável. O arquivo continua na camada de baixo.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Cada instrução do Dockerfile gera uma camada. Um Dockerfile que copia um .env e o apaga na instrução seguinte deixa o segredo legível na camada anterior. No nosso caso, a senha do banco e o segredo de sessão do anfitrião.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pilha de execução do Docker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7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7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527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289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48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8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5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244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437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7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99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9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9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154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7250" y="307657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6300" y="44180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33387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processo pai do container é o shim. Reiniciar o daemon não encerra os containers.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" y="482231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4738116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Como o privilégio do container é reduzido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605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5158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dividem os privilégios de root em unidades independentes, removidas uma a uma.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95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9054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aplicam uma restrição adicional pelo módulo de segurança do kernel.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4" name="Picture 3" descr="oci-br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0" y="1962150"/>
            <a:ext cx="3048000" cy="8390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66900"/>
            <a:ext cx="666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pode ser trocado por crun, gVisor ou Kata, e o engine por Podman. Em 2022 o Kubernetes removeu o adaptador que falava com o Docker Engine e as imagens continuaram funcionando, porque o formato é o da OCI.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de arquitetura e o arquivo de compose.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1935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TIER É CADA PROCESSO SEPARADO EM QUE O SISTEMA RODA. AS TRÊS CAMADAS DO BACK-END FICAM SEMPRE JUNTAS NUM SÓ.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9650" y="27432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9650" y="28003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9650" y="3028950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8225" y="31432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3718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6004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9650" y="38481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9650" y="39052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42862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958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2425" y="266700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5775" y="33337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5775" y="33909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5925" y="266700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62600" y="2886075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1175" y="30003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1175" y="32289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4575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9275" y="3724275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9275" y="3781425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2425" y="42862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958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9000" y="26670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53300" y="33337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3300" y="33909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05800" y="2667000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0100" y="3028950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48675" y="31432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8675" y="33718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6004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53650" y="26670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67950" y="33337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7950" y="33909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9000" y="4286250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95800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 projeto lógico é o mesmo nas três opções. Os rascunhos dos próximos slides seguem a de três, e a escolha final é registrada no documento de decisões arquiteturais. No Docker,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se refere às camadas do sistema de arquivos da imagem. A camada lógica da arquitetura é outro conceito.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50" y="2609850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27622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2952750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2050" y="3314700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2550" y="3448050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2550" y="3657600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6850" y="3981450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7350" y="4095750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7350" y="428625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2800350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3467100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Container é um nó aninhado no host, com a imagem implantada dentro dele.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43500" y="4248150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43500" y="44005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 é um nó separado, com sistema operacional próprio.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Dos componentes para os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771775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943225"/>
            <a:ext cx="3810000" cy="20574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950" y="319087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950" y="33432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319087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3432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7875" y="3857625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7875" y="39909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47875" y="4410075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7875" y="44767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38325" y="364807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52750" y="364807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62250" y="4276725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7250" y="3876675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7250" y="3609975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1250" y="2771775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1250" y="2943225"/>
            <a:ext cx="3810000" cy="20574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305752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28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19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19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48550" y="353377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7439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29650" y="353377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81750" y="4010025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1750" y="41052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4429125"/>
            <a:ext cx="3390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corresponde a um serviço no arquivo de compose, com a imagem por tag e digest.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interfaces no arquivo de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95500"/>
            <a:ext cx="5905500" cy="3390900"/>
          </a:xfrm>
          <a:prstGeom prst="roundRect">
            <a:avLst>
              <a:gd name="adj" fmla="val 2247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3450" y="23050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" y="25527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front-end: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8003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nginx:alpine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0480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 ["8080:80"]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2956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5433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7909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 ["3000:3000"]     # interface provida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0386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2862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  # interface requerida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5339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7815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" y="50292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550" y="21797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34250" y="2095500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interface provida da UML.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7550" y="275958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4250" y="2675382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interface requerida.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7550" y="333946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4250" y="3255264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corresponde à porta publicada do container.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67550" y="3919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34250" y="3835146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é decisão do documento de decisões arquiteturais.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Cada imagem tem uma responsabilidade.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613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573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9561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8521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os serviços de fronteira publicam porta para fora. O banco fica sem mapeamento nenhum.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2789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1749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só documentada depende de revisão manual. Na topologia ela é imposta pela estrutura.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6894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continua, agora com latência, falha parcial e ordem de subida.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Área pública e área com login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70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CONVITE PÚBLICO, SEM LOGIN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70251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1600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05600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Qualquer pessoa com o link acessa.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907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67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link é compartilhado no grupo da família e as confirmações de presença chegam em pico.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855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381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É por esta área que o container da API ganha réplicas, e para isso ela não pode guardar sessão em memória nem gravar upload em disco local.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2700" y="256070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PAINEL DO ANFITRIÃO, COM LOGIN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2700" y="2770251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1750" y="31600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305600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Só a anfitriã acessa.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81750" y="36907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5867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pessoa por evento, carga baixa, sem necessidade de réplica.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mostra o ambiente e a topologia. A implementação do produto começa em outubro.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02118"/>
            <a:ext cx="10820400" cy="3762375"/>
          </a:xfrm>
          <a:prstGeom prst="roundRect">
            <a:avLst>
              <a:gd name="adj" fmla="val 2025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1911668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54518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197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35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73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     IMAGE           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11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front-end   nginx:alpine     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49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api         node:22-alpine 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388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     postgres:16   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26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64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exec db psql -U app -c "create table t()"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02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40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578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16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54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693092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74042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ser perdidos quando o container é removido. A decisão de implantação impõe uma restrição às camadas superiores.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Casos de uso na infraestrutura moderna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57400"/>
            <a:ext cx="5295900" cy="1714500"/>
          </a:xfrm>
          <a:prstGeom prst="roundRect">
            <a:avLst>
              <a:gd name="adj" fmla="val 4444"/>
            </a:avLst>
          </a:prstGeom>
          <a:solidFill>
            <a:srgbClr val="F2F2F5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47900"/>
            <a:ext cx="483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76500"/>
            <a:ext cx="4838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E94D1C"/>
                </a:solidFill>
                <a:latin typeface="Roboto"/>
              </a:rPr>
              <a:t>Paridade entre ambientes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57500"/>
            <a:ext cx="48387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A3A44"/>
                </a:solidFill>
                <a:latin typeface="Roboto"/>
              </a:rPr>
              <a:t>A mesma imagem roda na máquina de cada integrante, no teste e na apresentação do produto. É o caso do projeto.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300" y="2057400"/>
            <a:ext cx="5295900" cy="1714500"/>
          </a:xfrm>
          <a:prstGeom prst="roundRect">
            <a:avLst>
              <a:gd name="adj" fmla="val 4444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8900" y="2247900"/>
            <a:ext cx="483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8900" y="2476500"/>
            <a:ext cx="4838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Integração e entrega contínuas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8900" y="2857500"/>
            <a:ext cx="48387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A3A44"/>
                </a:solidFill>
                <a:latin typeface="Roboto"/>
              </a:rPr>
              <a:t>Cada commit constrói uma imagem e roda os testes num ambiente limpo e descartável.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000500"/>
            <a:ext cx="5295900" cy="1714500"/>
          </a:xfrm>
          <a:prstGeom prst="roundRect">
            <a:avLst>
              <a:gd name="adj" fmla="val 4444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191000"/>
            <a:ext cx="483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19600"/>
            <a:ext cx="4838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Microsserviços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48387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A3A44"/>
                </a:solidFill>
                <a:latin typeface="Roboto"/>
              </a:rPr>
              <a:t>Cada serviço roda no próprio container e é escalado de forma independente por um orquestrador como o Kubernetes.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300" y="4000500"/>
            <a:ext cx="5295900" cy="1714500"/>
          </a:xfrm>
          <a:prstGeom prst="roundRect">
            <a:avLst>
              <a:gd name="adj" fmla="val 4444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8900" y="4191000"/>
            <a:ext cx="483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8900" y="4419600"/>
            <a:ext cx="4838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Escala e densidade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8900" y="4800600"/>
            <a:ext cx="48387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A3A44"/>
                </a:solidFill>
                <a:latin typeface="Roboto"/>
              </a:rPr>
              <a:t>Réplicas sobem em segundos e dezenas de serviços isolados dividem o mesmo host.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vs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57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sistema operacional do host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857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hipervisor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250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50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50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50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24125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24125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24125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4125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24125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4125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9575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9575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9575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2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72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72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72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72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kernel do host, compartilhado por todos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72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72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Docker Engine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50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6750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750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39125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39125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39125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39125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81075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1075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1075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1075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inteiro para cada serviço. A fronteira é imposta pelo hardware.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72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só, dividido entre todos. A fronteira é a interface de chamadas de sistema.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CVE-2019-5736 confirmou o risco: o processo de dentro conseguia sobrescrever o binário do runtime. Por isso o documento de decisões arquiteturais precisa registrar que container não dá o mesmo isolamento de uma máquina virtual.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02230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2602230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2602230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830830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983230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Instalação manual pelo README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000" y="2983230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2983230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50939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633216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3633216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0" y="3633216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958209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082034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4082034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4082034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40702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473702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530852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530852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4530852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85584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5936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68918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1586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0546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monolito num servidor só, que nunca vai escalar.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894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time sem integração contínua, para quem é só um passo de build a mais.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aplicação sensível a latência de cauda.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sistema dominado por estado.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55936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768918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31586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0546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Dois dos quatro se aplicam a nós, porque não temos integração contínua definida nem hospedagem decidida.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2174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1134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para adotar é o ambiente igual para os quatro antes da primeira linha de código.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Vantagens e 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9263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VANTAGENS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0218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5869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879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responsabilidade por imagem, com a fronteira declarada.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3375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238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ambiente fica descrito num arquivo legível, versionado junto com o código.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0881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98907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Trocar runtime ou banco é editar uma linha do arquivo.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5872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48818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mesma imagem roda no notebook, no pipeline e na apresentação do produto.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53378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523875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Dá para replicar só a API, se o caminho do convite público for mesmo sem estado.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199263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2700" y="220218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81750" y="25869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24879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superfície de ataque nova, na imagem base e no privilégio de execução.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33375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3238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I/O mais lento, principalmente nas máquinas Windows.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8366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8450" y="37376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Container com estado continua exigindo backup e upgrade de versão maior do banco.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81750" y="45872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48450" y="448818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camada a mais de build e orquestração para os quatro aprenderem.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0861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199205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25536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5954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0211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292703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7275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63340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1950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100894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46624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456838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850" y="512997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1550" y="503586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850" y="559746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550" y="550335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