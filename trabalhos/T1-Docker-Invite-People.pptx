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0" y="381000"/>
            <a:ext cx="4000500" cy="4000500"/>
          </a:xfrm>
          <a:prstGeom prst="roundRect">
            <a:avLst>
              <a:gd name="adj" fmla="val 50000"/>
            </a:avLst>
          </a:prstGeom>
          <a:solidFill>
            <a:srgbClr val="331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6286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DEFINIÇÃO DE COMPONENTE, AULA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A definição da disciplina descreve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um serviço de container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SOMMERVILLE, 2004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componente é uma unidade de composição com </a:t>
            </a:r>
            <a:r>
              <a:rPr sz="1280" b="0" i="1">
                <a:solidFill>
                  <a:srgbClr val="1A1A1E"/>
                </a:solidFill>
                <a:latin typeface="Roboto"/>
              </a:rPr>
              <a:t>interfaces (contratos) especificadas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e com </a:t>
            </a:r>
            <a:r>
              <a:rPr sz="1280" b="0" i="1">
                <a:solidFill>
                  <a:srgbClr val="1A1A1E"/>
                </a:solidFill>
                <a:latin typeface="Roboto"/>
              </a:rPr>
              <a:t>dependências de contexto explícitas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; um componente de software </a:t>
            </a:r>
            <a:r>
              <a:rPr sz="1280" b="0" i="1">
                <a:solidFill>
                  <a:srgbClr val="1A1A1E"/>
                </a:solidFill>
                <a:latin typeface="Roboto"/>
              </a:rPr>
              <a:t>pode ser implantado de forma independente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ou se combinar com outros.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0766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39813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Citado na Aula 05, Arquiteturas Baseadas em Componentes.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NUM SERVIÇO DE CONTAINER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Interface especificada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a porta publicada mais o contrato HTTP.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Dependência de contexto explícita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Dockerfile mais as variáveis de ambiente.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5124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50291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Implantável de forma independente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subir aquele serviço sozinho.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ORIGEM DO 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tema saiu de um item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da Sprint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WORK ITEM #78 · CRIADO EM 05/09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T1, seminário sobre Docker e conteinerização.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Da descrição: o tema foi escolhido para alimentar o item #60.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WORK ITEM #60 · SPRINT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Modelar o diagrama de implantação (UML).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Sete tasks, de identificar os nós até a revisão por pares.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7568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5661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00025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250" b="1" i="0">
                <a:solidFill>
                  <a:srgbClr val="21049A"/>
                </a:solidFill>
                <a:latin typeface="Roboto"/>
              </a:rPr>
              <a:t>Escopo e divisão</a:t>
            </a:r>
          </a:p>
          <a:p>
            <a:pPr>
              <a:lnSpc>
                <a:spcPct val="104000"/>
              </a:lnSpc>
            </a:pPr>
            <a:r>
              <a:rPr sz="2250" b="1" i="0">
                <a:solidFill>
                  <a:srgbClr val="21049A"/>
                </a:solidFill>
                <a:latin typeface="Roboto"/>
              </a:rPr>
              <a:t>da apresentação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955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7300" y="20574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Introdução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0" y="20859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Guilherme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193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289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25908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Definições e arquitetura da tecnologia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8750" y="26193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Tiago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9527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1623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300" y="31242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no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8750" y="31527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Gabriel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861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6957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36576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8750" y="36861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Andreas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291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7300" y="41910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Considerações finais e referências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8750" y="42195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Andreas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5529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A implementação do produto começa na Sprint 4, em 06/10, então a demonstração de hoje é do ambiente e não do produto. Cada integrante responde pelo próprio bloco na arguição.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352800"/>
            <a:ext cx="990600" cy="19050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39225" y="3105150"/>
            <a:ext cx="990600" cy="19050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24950" y="2857500"/>
            <a:ext cx="990600" cy="190500"/>
          </a:xfrm>
          <a:prstGeom prst="roundRect">
            <a:avLst/>
          </a:prstGeom>
          <a:solidFill>
            <a:srgbClr val="E94D1C"/>
          </a:solidFill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O que o kernel faz quando alguém digita docker run, e por que a imagem é em camadas.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chroot à padronização OCI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0510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92011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37782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3554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9325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75096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OCI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20868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66639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Kubernetes remove o Docker 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6667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2915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 · SÍNTESE DOS MECANISMOS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 · OCI IMAGE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digest.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215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170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455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7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5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3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1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099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80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62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43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2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0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38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457825"/>
            <a:ext cx="10820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Capturado em [máquina] em [data]. Na distro docker-desktop do WSL. No Docker Desktop em Windows o daemon e os containers rodam numa distro própria, com namespace de PID separado, então ps na distro de trabalho não mostraria container nenhum.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1721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60768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clone e unshare criam um namespace. setns entra num que já existe.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Não isolam. Contabilizam e limitam.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Estourar memory.max não deixa lento: o kernel mata e o Docker reporta 137.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Limite de CPU é throttling. Degrada latência de cauda, não a média, e por isso é mais difícil de diagnosticar.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86690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SOMENTE LEITURA, ENDEREÇADAS POR DIGEST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35433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36766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0480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1813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5527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6860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00025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750" y="20955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227647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67250" y="2057400"/>
            <a:ext cx="0" cy="18859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48250" y="2400300"/>
            <a:ext cx="361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8250" y="2647950"/>
            <a:ext cx="3714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8250" y="3238500"/>
            <a:ext cx="361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8250" y="3486150"/>
            <a:ext cx="3714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B6B78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UC001.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2114550"/>
            <a:ext cx="8572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gRPC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3200400"/>
            <a:ext cx="9906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3638550"/>
            <a:ext cx="9906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Capabilities.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O root do POSIX fatiado em cerca de quarenta bits independentes, derrubados e devolvidos um a 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Seccomp-bpf.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O perfil padrão bloqueia cerca de 44 chamadas de sistema de mais de trezentas.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LSM.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AppArmor ou SELinux por cima de tudo.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00025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05740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600200"/>
            <a:ext cx="857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OCI, FUNDADA EM 2015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C9C1EC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um exemplo da substituibilidade por compatibilidade de interface da Aula 05.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 · Arquitetura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09900"/>
            <a:ext cx="438150" cy="43815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486900" y="3143250"/>
            <a:ext cx="323850" cy="1714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06000" y="3009900"/>
            <a:ext cx="438150" cy="4381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VOCABULÁRIO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Componente, artefato, nó,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e container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 DISCIPLINA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Componente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uma unidade coesa e de baixo acoplamento que denota a abstração de um serviço (Sommerville, 2004).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Artefato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conjunto de arquivos de código, bibliotecas e executáveis.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124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50291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Nó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host.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DOCKER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Imagem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artefato mais o runtime e as bibliotecas de sistema.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Container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esse artefato em execução.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Docker usa </a:t>
            </a:r>
            <a:r>
              <a:rPr sz="1280" b="0" i="1">
                <a:solidFill>
                  <a:srgbClr val="1A1A1E"/>
                </a:solidFill>
                <a:latin typeface="Roboto"/>
              </a:rPr>
              <a:t>layer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para empilhamento de arquivos, sem relação com a camada lógica da Aula 03.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 </a:t>
            </a:r>
            <a:r>
              <a:rPr sz="1280" b="0" i="1">
                <a:solidFill>
                  <a:srgbClr val="1A1A1E"/>
                </a:solidFill>
                <a:latin typeface="Roboto"/>
              </a:rPr>
              <a:t>artefato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aparece na disciplina em dois sentidos: executável no diagrama de componentes, entregável no Scrum.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Layer é camada lógica.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 é separação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01930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26695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41935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47650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2724150"/>
            <a:ext cx="24193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28384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30289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32194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44805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350520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388620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09575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26695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24193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24765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26695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29275" y="2724150"/>
            <a:ext cx="11239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7375" y="28384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7375" y="30289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7375" y="32194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4480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5052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388620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09575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67600" y="226695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1900" y="24193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1900" y="24765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20100" y="2266950"/>
            <a:ext cx="933450" cy="1504950"/>
          </a:xfrm>
          <a:prstGeom prst="roundRect">
            <a:avLst>
              <a:gd name="adj" fmla="val 510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515350" y="2724150"/>
            <a:ext cx="7429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53450" y="28384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53450" y="30289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53450" y="32194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67850" y="226695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82150" y="24193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82150" y="24765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67600" y="3886200"/>
            <a:ext cx="28384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7600" y="4095750"/>
            <a:ext cx="28384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B6B78"/>
                </a:solidFill>
                <a:latin typeface="Roboto"/>
              </a:rPr>
              <a:t>Nenhuma das três muda uma linha do projeto lógico. Todas mudam o empacotamento. Docker obriga a escolher a granularidade em vez de deixá-la implícita, e essa escolha é entrada do ADR #63.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ambiente de execução,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é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000250"/>
            <a:ext cx="3810000" cy="2286000"/>
          </a:xfrm>
          <a:prstGeom prst="rect">
            <a:avLst/>
          </a:prstGeom>
          <a:noFill/>
          <a:ln w="254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1526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23431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27051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28384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0480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33718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34861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36766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1907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28575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3638550"/>
            <a:ext cx="409575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37909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0383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22098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24574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26098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24574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6098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31242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32575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36766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37433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2914650"/>
            <a:ext cx="733425" cy="2095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2914650"/>
            <a:ext cx="733425" cy="2095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3543300"/>
            <a:ext cx="0" cy="1333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7750" y="3124200"/>
            <a:ext cx="952500" cy="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33950" y="2914650"/>
            <a:ext cx="571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20383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22098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23241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28003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28003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32766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33718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37719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2150"/>
            <a:ext cx="5905500" cy="4381500"/>
          </a:xfrm>
          <a:prstGeom prst="roundRect">
            <a:avLst>
              <a:gd name="adj" fmla="val 1739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171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419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2667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914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162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409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3657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3905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152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400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  condition: service_healthy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" y="46482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50" y="48958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3450" y="51435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healthcheck: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450" y="53911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test: ["CMD-SHELL", "pg_isready -U app"]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" y="56388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volumes: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450" y="58864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dados:/var/lib/postgresql/data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197167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196215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0" y="25134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4250" y="250393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0" y="30552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4250" y="304571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500" y="359702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34250" y="358749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As imagens são exemplo.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 stack ainda não foi decidida, é assunto do ADR #63.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 fronteira garante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o que ela não garante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GARANTE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Mais coesão: uma responsabilidade por imagem.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NÃO GARANTE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regra entre as nossas três camadas. Elas ficam na mesma imagem do back-end.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Redução de acoplamento. Ele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Duas views sobre o mesmo Model,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dois perfis de 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jornada da Marina descreve o link caindo no grupo da família. Pico no convite público (UC005), uma pessoa no painel (UC007).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408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6456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00025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95600"/>
            <a:ext cx="381000" cy="6858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467850" y="3200400"/>
            <a:ext cx="381000" cy="38100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77300" y="3638550"/>
            <a:ext cx="104775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Volume nomeado e persistência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entre execuções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215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170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455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7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5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3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1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099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80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62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43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2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0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38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6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95950"/>
            <a:ext cx="10820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Capturado em [máquina] em [data]. A imagem de fundo do UC003 e o CSV do UC008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600200"/>
            <a:ext cx="857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KUBERNETES 1.24, 2022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C9C1EC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 · Estudo de caso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Vantagens no vocabulário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da Aula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 QUE ELE CREDITA A CAMADAS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Modularidade.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Reusabilidade.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Compreensibilidade.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03473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39394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Extensibilidade.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 QUE CADA UMA VIRA AQUI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responsabilidade por imagem, com fronteira declarada.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7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84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Trocar runtime ou banco é editar uma linha, não reinstalar quatro notebooks.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335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92405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351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525649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Docker escreve a regra de DNAT antes das regras do administrador, então um deny de firewall na porta publicada não bloqueia 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67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2724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I/O de bind mount atravessando a fronteira da máquina virtual no WSL2.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9948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48996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62197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85267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9124950" y="200025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93530" y="205740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Limitações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Segurança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0250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000250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000250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28850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812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23812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23812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7062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300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28300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Isola de verdade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28300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1550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78886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3278886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3278886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0387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2770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372770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Escolhido, com o custo declarado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372770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Move complexidade em vez de apagá-la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05269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Alternativas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Critérios de contraindicação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1721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60768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726180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71665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Compose é de host único. O MVP cabe num host. Kubernetes entraria com múltiplos nós, e é tema de outro grupo.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Honestidade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CONSIDERAÇÕES FINAIS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Ganho e custo, nos quatro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Manutenibilidade.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O ambiente passa a ser versionado junto com o código.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Escalabilidade,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de forma seletiva, e isso impõe que a aplicação seja mesmo sem estado.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124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50291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Ganha isolamento.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Herda uma superfície nova: imagem base e privilégio de execução.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Desempenho.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Principalmente I/O nas máquinas Windows. A Aula 03 já avisa que camada extra prejudica desempenho.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stack ainda não está decidida. Com Dockerfile, trocar runtime ou banco é editar uma linha de arquivo em vez de reinstalar em quatro notebooks.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200977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RETOMANDO A EVIDÊNCIA INICIAL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problema de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ao arquivo de compose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408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6456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Os itens #56 e #57 da Sprint 1 seguem em Doing.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36798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32727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Sprint 2 fecha no dia 14.</a:t>
            </a:r>
          </a:p>
        </p:txBody>
      </p:sp>
      <p:sp>
        <p:nvSpPr>
          <p:cNvPr id="13" name="Document 12"/>
          <p:cNvSpPr/>
          <p:nvPr/>
        </p:nvSpPr>
        <p:spPr>
          <a:xfrm>
            <a:off x="8839200" y="2000250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7800" y="2009775"/>
            <a:ext cx="24384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3920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1125" y="2286000"/>
            <a:ext cx="250507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PARA CONSULTAR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1452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90500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612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50659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7883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86931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8043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47091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8203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0725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4474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4352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 · FOWLER, M. Patterns of Enterprise Application Architecture.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4634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503682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