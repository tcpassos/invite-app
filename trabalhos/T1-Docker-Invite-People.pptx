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9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10"/>
    <p:sldId id="266" r:id="rId9"/>
    <p:sldId id="267" r:id="rId8"/>
    <p:sldId id="268" r:id="rId7"/>
    <p:sldId id="269" r:id="rId6"/>
    <p:sldId id="270" r:id="rId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716C1-5024-8CCE-3203-86B75C2C8617}" v="3" dt="2026-03-04T18:26:21.527"/>
    <p1510:client id="{15EE4E26-2F7C-A8A7-F640-351793DF4648}" v="51" dt="2026-03-04T14:37:16.632"/>
    <p1510:client id="{1A042CCA-B3F5-4F3A-A55B-20F5A0164B7D}" v="24" dt="2026-03-04T14:05:53.570"/>
    <p1510:client id="{474E71F2-6943-508A-29C8-0B58041B59EA}" v="24" dt="2026-03-04T13:40:41.656"/>
    <p1510:client id="{610FBFFC-C927-4559-84E4-21F8025EFCC9}" v="4" dt="2026-03-04T18:41:12.929"/>
    <p1510:client id="{6B13FC13-F49B-3BCF-DC56-120CE7AD128B}" v="3" dt="2026-03-04T14:27:44.521"/>
    <p1510:client id="{6B418F69-DA30-9EA3-9484-1B1B7022BB9A}" v="26" dt="2026-03-04T18:46:59.600"/>
    <p1510:client id="{A6C34AF3-2CB0-9917-C57B-32A817E4D2F0}" v="15" dt="2026-03-04T19:28:10.596"/>
    <p1510:client id="{B4BCC3D1-ADA6-AE73-AB10-F1FD9D46F8AE}" v="1" dt="2026-03-04T18:45:27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06/03/2026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ckup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2450"/>
            <a:ext cx="2038350" cy="701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05000"/>
            <a:ext cx="6667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 spc="160">
                <a:solidFill>
                  <a:srgbClr val="E94D1C"/>
                </a:solidFill>
                <a:latin typeface="Roboto"/>
              </a:rPr>
              <a:t>SEMINÁRIO T1 · TECNOLOGIAS EMERGENTES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7429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50" b="1" i="0">
                <a:solidFill>
                  <a:srgbClr val="FFFFFF"/>
                </a:solidFill>
                <a:latin typeface="Roboto"/>
              </a:rPr>
              <a:t>Docker e</a:t>
            </a:r>
          </a:p>
          <a:p>
            <a:pPr>
              <a:lnSpc>
                <a:spcPct val="102000"/>
              </a:lnSpc>
            </a:pPr>
            <a:r>
              <a:rPr sz="5250" b="1" i="0">
                <a:solidFill>
                  <a:srgbClr val="FFFFFF"/>
                </a:solidFill>
                <a:latin typeface="Roboto"/>
              </a:rPr>
              <a:t>conteinerização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8100"/>
            <a:ext cx="609600" cy="47625"/>
          </a:xfrm>
          <a:prstGeom prst="roundRect">
            <a:avLst>
              <a:gd name="adj" fmla="val 4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80" b="0" i="0">
                <a:solidFill>
                  <a:srgbClr val="D6CFF0"/>
                </a:solidFill>
                <a:latin typeface="Roboto"/>
              </a:rPr>
              <a:t>Como o empacotamento em containers se aplica ao projeto Invite People</a:t>
            </a:r>
          </a:p>
        </p:txBody>
      </p:sp>
      <p:pic>
        <p:nvPicPr>
          <p:cNvPr id="8" name="Picture 7" descr="do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038350"/>
            <a:ext cx="2667000" cy="1912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Andreas Grings · Gabriel Tomasi</a:t>
            </a:r>
          </a:p>
          <a:p>
            <a:pPr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Guilherme Toebe · Tiago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53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Arquitetura de Software</a:t>
            </a:r>
          </a:p>
          <a:p>
            <a:pPr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Prof. Kleinner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 projeto Invite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44106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332101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É um app web de convites virtuais, onde o convidado confirma presença e o anfitrião consolida as restrições alimentares.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280029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171063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São duas superfícies sobre o mesmo Model, o convite público, que não pede login, e o painel do anfitrião.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11899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010025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A arquitetura já está registrada na documentação do projeto, com MVC no front-end e três camadas no back-end.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95795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848987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Como esses componentes serão distribuídos e implantados no ambiente de execução.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9124950" y="2332101"/>
            <a:ext cx="152400" cy="133350"/>
          </a:xfrm>
          <a:prstGeom prst="triangle">
            <a:avLst/>
          </a:prstGeom>
          <a:noFill/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93530" y="2389251"/>
            <a:ext cx="15240" cy="381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341626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PONTO DE PARTIDA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4950" y="2617851"/>
            <a:ext cx="38100" cy="1033272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0" y="2617851"/>
            <a:ext cx="2171700" cy="1604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 i="0">
                <a:solidFill>
                  <a:srgbClr val="3A3A44"/>
                </a:solidFill>
                <a:latin typeface="Roboto"/>
              </a:rPr>
              <a:t>Três camadas lógicas no back-end.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 i="0">
                <a:solidFill>
                  <a:srgbClr val="3A3A44"/>
                </a:solidFill>
                <a:latin typeface="Roboto"/>
              </a:rPr>
              <a:t/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 i="0">
                <a:solidFill>
                  <a:srgbClr val="3A3A44"/>
                </a:solidFill>
                <a:latin typeface="Roboto"/>
              </a:rPr>
              <a:t>A decisão é em quantos processos separados elas rodam.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Introdução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Para que o grupo quer usar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99885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889885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Ambiente de desenvolvimento igual para os quatro, com o banco rodando sem ninguém instalar nada na própria máquina.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8378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728847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Um arquivo no repositório que descreve esse ambiente inteiro, versionado junto com o código, e que qualquer um sobe com um comando.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67677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567809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Na entrega e na apresentação do produto, o mesmo ambiente do desenvolvimento.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Introdução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pic>
        <p:nvPicPr>
          <p:cNvPr id="5" name="Picture 4" descr="do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2381250"/>
            <a:ext cx="2476500" cy="1775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1219200"/>
            <a:ext cx="38100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750" b="1" i="0">
                <a:solidFill>
                  <a:srgbClr val="6E59D2"/>
                </a:solidFill>
                <a:latin typeface="Robot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5150"/>
            <a:ext cx="8191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 i="0">
                <a:solidFill>
                  <a:srgbClr val="FFFFFF"/>
                </a:solidFill>
                <a:latin typeface="Roboto"/>
              </a:rPr>
              <a:t>Definições e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76750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Antes de decidir onde cada parte roda, o que o kernel faz quando alguém digita docker run e por que a imagem é em camadas.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01 · Definições e arquitetura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Linha do tempo do isolamento de processos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28950"/>
            <a:ext cx="10820400" cy="2857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82486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1979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chroot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8257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571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8721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primeiro namespace no kernel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4029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7343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4493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cgroups no mainline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98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3114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0264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5571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8886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6036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primeiras especificações comuns de container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1343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4657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1807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containerd na CNCF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57114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0429" y="3238500"/>
            <a:ext cx="15457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7579" y="3505200"/>
            <a:ext cx="1431471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Kubernetes remove o dockershim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629150"/>
            <a:ext cx="28575" cy="238887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300" y="46101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O isolamento de processos existe desde 1979. A padronização da cadeia de execução é de 2015.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Definições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Container e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4051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03601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329336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189351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ou mais processos executados com visão isolada por namespaces, consumo limitado por cgroups e privilégio reduzido por capabilities e seccomp, sobre um sistema de arquivos raiz próprio.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2700" y="2694051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IMAGEM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2700" y="2903601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1750" y="329336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8450" y="3189351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Conjunto ordenado de camadas de sistema de arquivos mais a configuração de execução, identificado por um digest, o hash do próprio conteúdo.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1750" y="461619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8450" y="4512183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No diagrama de implantação, a imagem é artefato e o container é nó.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Definições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Container é um processo comum,</a:t>
            </a:r>
          </a:p>
          <a:p>
            <a:pPr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com a visão restringida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40242"/>
            <a:ext cx="10820400" cy="3286125"/>
          </a:xfrm>
          <a:prstGeom prst="roundRect">
            <a:avLst>
              <a:gd name="adj" fmla="val 2318"/>
            </a:avLst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2149792"/>
            <a:ext cx="323850" cy="28575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92642"/>
            <a:ext cx="1905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 spc="140">
                <a:solidFill>
                  <a:srgbClr val="8A8A9A"/>
                </a:solidFill>
                <a:latin typeface="Roboto"/>
              </a:rPr>
              <a:t>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4355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run -d --name web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736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ps -eo pid,comm | grep nginx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9117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   4821 nginx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1499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3880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lsns -p 4821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6261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        NS TYPE   NPROCS   PID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8642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4026532191 mnt         3  4821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1024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4026532192 uts         3  4821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3405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4026532193 ipc         3  4821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5786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4026532194 pid         3  4821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8167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4026532196 net         3  4821 root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454968"/>
            <a:ext cx="28575" cy="37719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5435918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Namespaces e cgroups são recursos do kernel Linux. No Windows, o Docker Desktop roda o engine sobre o WSL2, uma máquina virtual leve com kernel Linux. O mesmo processo tem PID 1 dentro do container e outro PID no host. Por isso, no diagrama de implantação, o container fica dentro do nó do host.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Arquitetura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Namespaces e cgroups</a:t>
            </a:r>
          </a:p>
          <a:p>
            <a:pPr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fazem coisas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NAMESPACES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40852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namespace mnt dá ao processo uma árvore de montagem própria.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4253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321368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namespace pid faz o processo enxergar a si mesmo como PID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22014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116134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namespace net dá uma pilha de rede própria. Dois containers conseguem escutar na mesma porta.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501491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4910899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Esse é o mecanismo que permite o front-end, a API e o banco do projeto rodarem no mesmo host sem conflito de porta.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CGROUPS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2700" y="2240852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17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Os cgroups contabilizam e limitam o consumo de recursos, sem isolar nada.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34253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8450" y="3321368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Estourar o limite de memória encerra o processo, sem degradação gradual.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50" y="422014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8450" y="4116134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limite de CPU só reduz a velocidade. As requisições mais lentas pioram e a média quase não muda.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Arquitetura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As camadas de uma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200275"/>
            <a:ext cx="4381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60">
                <a:solidFill>
                  <a:srgbClr val="6B6B78"/>
                </a:solidFill>
                <a:latin typeface="Roboto"/>
              </a:rPr>
              <a:t>CAMADAS DE UMA IMAGEM E DO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3914775"/>
            <a:ext cx="3429000" cy="438150"/>
          </a:xfrm>
          <a:prstGeom prst="roundRect">
            <a:avLst>
              <a:gd name="adj" fmla="val 8695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4048125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camada base (debian, alpine)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3419475"/>
            <a:ext cx="3429000" cy="438150"/>
          </a:xfrm>
          <a:prstGeom prst="roundRect">
            <a:avLst>
              <a:gd name="adj" fmla="val 8695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3552825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dependências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2924175"/>
            <a:ext cx="3429000" cy="438150"/>
          </a:xfrm>
          <a:prstGeom prst="roundRect">
            <a:avLst>
              <a:gd name="adj" fmla="val 8695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3057525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código da aplicação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0550" y="2924175"/>
            <a:ext cx="28575" cy="14287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950" y="4486275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as três de baixo são somente leitura, endereçadas por digest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" y="2371725"/>
            <a:ext cx="3429000" cy="495300"/>
          </a:xfrm>
          <a:prstGeom prst="roundRect">
            <a:avLst>
              <a:gd name="adj" fmla="val 7692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66975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94D1C"/>
                </a:solidFill>
                <a:latin typeface="Roboto"/>
              </a:rPr>
              <a:t>camada de escrita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2647950"/>
            <a:ext cx="304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criada pelo container, removida com ele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7750" y="2314575"/>
            <a:ext cx="0" cy="215265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57800" y="2771775"/>
            <a:ext cx="36195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049A"/>
                </a:solidFill>
                <a:latin typeface="Roboto"/>
              </a:rPr>
              <a:t>copy-up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038475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alterar um byte de um arquivo grande copia o arquivo inteiro para cima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09975"/>
            <a:ext cx="36195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049A"/>
                </a:solidFill>
                <a:latin typeface="Roboto"/>
              </a:rPr>
              <a:t>whiteout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876675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apagar cria uma marcação, o arquivo continua na camada de baixo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763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" y="56572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A imagem é construída a partir de um Dockerfile e distribuída por um registry. Cada instrução gera uma camada. Um Dockerfile que copia um .env e o apaga na instrução seguinte deixa o segredo legível na camada anterior. No nosso caso, a senha do banco e o segredo de sessão do anfitrião.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Arquitetura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A pilha de execução do Docker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7250" y="3324225"/>
            <a:ext cx="1771650" cy="628650"/>
          </a:xfrm>
          <a:prstGeom prst="roundRect">
            <a:avLst>
              <a:gd name="adj" fmla="val 7575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3438525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docker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48075"/>
            <a:ext cx="165735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0" i="0">
                <a:solidFill>
                  <a:srgbClr val="FFFFFF"/>
                </a:solidFill>
                <a:latin typeface="Roboto"/>
              </a:rPr>
              <a:t>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2750" y="3324225"/>
            <a:ext cx="1771650" cy="628650"/>
          </a:xfrm>
          <a:prstGeom prst="roundRect">
            <a:avLst>
              <a:gd name="adj" fmla="val 7575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2750" y="3438525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dockerd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9900" y="3648075"/>
            <a:ext cx="165735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0" i="0">
                <a:solidFill>
                  <a:srgbClr val="FFFFFF"/>
                </a:solidFill>
                <a:latin typeface="Roboto"/>
              </a:rPr>
              <a:t>daemon, roda como root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8900" y="3638550"/>
            <a:ext cx="323850" cy="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8250" y="3324225"/>
            <a:ext cx="1771650" cy="628650"/>
          </a:xfrm>
          <a:prstGeom prst="roundRect">
            <a:avLst>
              <a:gd name="adj" fmla="val 7575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8250" y="3438525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containerd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5400" y="3648075"/>
            <a:ext cx="165735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0" i="0">
                <a:solidFill>
                  <a:srgbClr val="FFFFFF"/>
                </a:solidFill>
                <a:latin typeface="Roboto"/>
              </a:rPr>
              <a:t>ciclo de vida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24400" y="3638550"/>
            <a:ext cx="323850" cy="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43750" y="3324225"/>
            <a:ext cx="1771650" cy="628650"/>
          </a:xfrm>
          <a:prstGeom prst="roundRect">
            <a:avLst>
              <a:gd name="adj" fmla="val 7575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3750" y="3438525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shim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900" y="3648075"/>
            <a:ext cx="165735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0" i="0">
                <a:solidFill>
                  <a:srgbClr val="FFFFFF"/>
                </a:solidFill>
                <a:latin typeface="Roboto"/>
              </a:rPr>
              <a:t>um por container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9900" y="3638550"/>
            <a:ext cx="323850" cy="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9250" y="3324225"/>
            <a:ext cx="1771650" cy="628650"/>
          </a:xfrm>
          <a:prstGeom prst="roundRect">
            <a:avLst>
              <a:gd name="adj" fmla="val 7575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9250" y="3438525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runc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3648075"/>
            <a:ext cx="165735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0" i="0">
                <a:solidFill>
                  <a:srgbClr val="FFFFFF"/>
                </a:solidFill>
                <a:latin typeface="Roboto"/>
              </a:rPr>
              <a:t>cria e sai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15400" y="3638550"/>
            <a:ext cx="323850" cy="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7250" y="3076575"/>
            <a:ext cx="8572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21049A"/>
                </a:solidFill>
                <a:latin typeface="Roboto"/>
              </a:rPr>
              <a:t>gRPC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300" y="441807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333875"/>
            <a:ext cx="96202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O processo pai do container é o shim. Reiniciar o daemon não encerra os containers.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0" y="482231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738116"/>
            <a:ext cx="96202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Cada peça tem uma responsabilidade e pode ser trocada por outra que respeite a mesma interface.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Arquitetura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Como o privilégio do container é reduzido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86054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751582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Capabilities dividem os privilégios de root em unidades independentes, removidas uma a uma.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69951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590544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perfil padrão de seccomp-bpf bloqueia parte das chamadas de sistema disponíveis.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53847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429506"/>
            <a:ext cx="7677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AppArmor ou SELinux aplicam uma restrição adicional pelo módulo de segurança do kernel.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01 · 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pic>
        <p:nvPicPr>
          <p:cNvPr id="4" name="Picture 3" descr="oci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1962150"/>
            <a:ext cx="3048000" cy="839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66900"/>
            <a:ext cx="666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50" b="1" i="0">
                <a:solidFill>
                  <a:srgbClr val="FFFFFF"/>
                </a:solidFill>
                <a:latin typeface="Roboto"/>
              </a:rPr>
              <a:t>Docker implementa as</a:t>
            </a:r>
          </a:p>
          <a:p>
            <a:pPr>
              <a:lnSpc>
                <a:spcPct val="106000"/>
              </a:lnSpc>
            </a:pPr>
            <a:r>
              <a:rPr sz="3450" b="1" i="0">
                <a:solidFill>
                  <a:srgbClr val="FFFFFF"/>
                </a:solidFill>
                <a:latin typeface="Roboto"/>
              </a:rPr>
              <a:t>especificações da OCI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5750"/>
            <a:ext cx="8572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Fundada em 2015 sob a Linux Foundation, com a Runtime Spec, a Image Spec e a Distribution Spec. O runc pode ser trocado por crun, gVisor ou Kata, e o engine por Podman. Em 2022 o Kubernetes removeu o adaptador que falava com o Docker Engine e as imagens continuaram funcionando, porque o formato é o da OCI.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01 ·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53500" y="3048000"/>
            <a:ext cx="590550" cy="590550"/>
          </a:xfrm>
          <a:prstGeom prst="roundRect">
            <a:avLst/>
          </a:prstGeom>
          <a:solidFill>
            <a:srgbClr val="8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9658350" y="3219450"/>
            <a:ext cx="419100" cy="247650"/>
          </a:xfrm>
          <a:prstGeom prst="rightArrow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91750" y="3048000"/>
            <a:ext cx="590550" cy="590550"/>
          </a:xfrm>
          <a:prstGeom prst="round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1219200"/>
            <a:ext cx="38100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750" b="1" i="0">
                <a:solidFill>
                  <a:srgbClr val="6E59D2"/>
                </a:solidFill>
                <a:latin typeface="Robot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5150"/>
            <a:ext cx="8191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 i="0">
                <a:solidFill>
                  <a:srgbClr val="FFFFFF"/>
                </a:solidFill>
                <a:latin typeface="Roboto"/>
              </a:rPr>
              <a:t>Aplicação no Invite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76750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Mapeamento entre os diagramas de arquitetura e o arquivo de compose.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Camada lógica 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419350"/>
            <a:ext cx="100012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6B6B78"/>
                </a:solidFill>
                <a:latin typeface="Roboto"/>
              </a:rPr>
              <a:t>TIER É CADA PROCESSO SEPARADO EM QUE O SISTEMA RODA. AS TRÊS CAMADAS DO BACK-END FICAM SEMPRE JUNTAS NUM SÓ.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2724150" cy="1504950"/>
          </a:xfrm>
          <a:prstGeom prst="roundRect">
            <a:avLst>
              <a:gd name="adj" fmla="val 3164"/>
            </a:avLst>
          </a:prstGeom>
          <a:solidFill>
            <a:srgbClr val="EEEBF7"/>
          </a:solidFill>
          <a:ln w="12700">
            <a:solidFill>
              <a:srgbClr val="2104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9650" y="2743200"/>
            <a:ext cx="241935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9650" y="2800350"/>
            <a:ext cx="24193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front-end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9650" y="3028950"/>
            <a:ext cx="2419350" cy="781050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25" y="3143250"/>
            <a:ext cx="2362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Apresentação 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371850"/>
            <a:ext cx="2362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Domínio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600450"/>
            <a:ext cx="2362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" y="3848100"/>
            <a:ext cx="241935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50" y="3905250"/>
            <a:ext cx="24193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286250"/>
            <a:ext cx="2724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21049A"/>
                </a:solidFill>
                <a:latin typeface="Roboto"/>
              </a:rPr>
              <a:t>1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495800"/>
            <a:ext cx="27241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tudo num processo só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2425" y="2667000"/>
            <a:ext cx="1143000" cy="1504950"/>
          </a:xfrm>
          <a:prstGeom prst="roundRect">
            <a:avLst>
              <a:gd name="adj" fmla="val 4166"/>
            </a:avLst>
          </a:prstGeom>
          <a:solidFill>
            <a:srgbClr val="EEEBF7"/>
          </a:solidFill>
          <a:ln w="12700">
            <a:solidFill>
              <a:srgbClr val="2104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5775" y="3333750"/>
            <a:ext cx="8763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5775" y="3390900"/>
            <a:ext cx="8763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front-end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95925" y="2667000"/>
            <a:ext cx="1390650" cy="1504950"/>
          </a:xfrm>
          <a:prstGeom prst="roundRect">
            <a:avLst>
              <a:gd name="adj" fmla="val 3424"/>
            </a:avLst>
          </a:prstGeom>
          <a:solidFill>
            <a:srgbClr val="EEEBF7"/>
          </a:solidFill>
          <a:ln w="12700">
            <a:solidFill>
              <a:srgbClr val="2104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62600" y="2886075"/>
            <a:ext cx="1257300" cy="781050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1175" y="3000375"/>
            <a:ext cx="1200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Apresentação 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1175" y="3228975"/>
            <a:ext cx="1200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Domínio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1175" y="3457575"/>
            <a:ext cx="1200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9275" y="3724275"/>
            <a:ext cx="112395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9275" y="3781425"/>
            <a:ext cx="11239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A1E"/>
                </a:solidFill>
                <a:latin typeface="Roboto"/>
              </a:rPr>
              <a:t>banco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2425" y="4286250"/>
            <a:ext cx="2724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21049A"/>
                </a:solidFill>
                <a:latin typeface="Roboto"/>
              </a:rPr>
              <a:t>2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4495800"/>
            <a:ext cx="27241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front-end separado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9000" y="2667000"/>
            <a:ext cx="838200" cy="1504950"/>
          </a:xfrm>
          <a:prstGeom prst="roundRect">
            <a:avLst>
              <a:gd name="adj" fmla="val 5681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53300" y="3333750"/>
            <a:ext cx="6096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3300" y="339090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A1E"/>
                </a:solidFill>
                <a:latin typeface="Roboto"/>
              </a:rPr>
              <a:t>front-end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5800" y="2667000"/>
            <a:ext cx="1619250" cy="1504950"/>
          </a:xfrm>
          <a:prstGeom prst="roundRect">
            <a:avLst>
              <a:gd name="adj" fmla="val 3164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20100" y="3028950"/>
            <a:ext cx="1390650" cy="781050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48675" y="3143250"/>
            <a:ext cx="133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Apresentação 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8675" y="3371850"/>
            <a:ext cx="133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Domínio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8675" y="3600450"/>
            <a:ext cx="133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Dados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53650" y="2667000"/>
            <a:ext cx="838200" cy="1504950"/>
          </a:xfrm>
          <a:prstGeom prst="roundRect">
            <a:avLst>
              <a:gd name="adj" fmla="val 5681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67950" y="3333750"/>
            <a:ext cx="6096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7950" y="339090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A1E"/>
                </a:solidFill>
                <a:latin typeface="Roboto"/>
              </a:rPr>
              <a:t>banco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0" y="4286250"/>
            <a:ext cx="3752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21049A"/>
                </a:solidFill>
                <a:latin typeface="Roboto"/>
              </a:rPr>
              <a:t>3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9000" y="4495800"/>
            <a:ext cx="37528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banco isolado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6763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300" y="56572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O projeto lógico é o mesmo nas três opções. Os rascunhos dos próximos slides seguem a de três, e a escolha final é registrada no documento de decisões arquiteturais. No Docker, </a:t>
            </a:r>
            <a:r>
              <a:rPr sz="1280" b="0" i="1">
                <a:solidFill>
                  <a:srgbClr val="3A3A44"/>
                </a:solidFill>
                <a:latin typeface="Roboto"/>
              </a:rPr>
              <a:t>layer</a:t>
            </a:r>
            <a:r>
              <a:rPr sz="1280" b="0" i="0">
                <a:solidFill>
                  <a:srgbClr val="3A3A44"/>
                </a:solidFill>
                <a:latin typeface="Roboto"/>
              </a:rPr>
              <a:t> se refere às camadas do sistema de arquivos da imagem. A camada lógica da arquitetura é outro conceito.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Container e imagem</a:t>
            </a:r>
          </a:p>
          <a:p>
            <a:pPr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no diagrama de implantação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857250" y="2609850"/>
            <a:ext cx="3810000" cy="2286000"/>
          </a:xfrm>
          <a:prstGeom prst="rect">
            <a:avLst/>
          </a:prstGeom>
          <a:noFill/>
          <a:ln w="317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276225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21049A"/>
                </a:solidFill>
                <a:latin typeface="Roboto"/>
              </a:rPr>
              <a:t>«device»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952750"/>
            <a:ext cx="34290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20" b="1" i="0">
                <a:solidFill>
                  <a:srgbClr val="21049A"/>
                </a:solidFill>
                <a:latin typeface="Roboto"/>
              </a:rPr>
              <a:t>Host de desenvolvimento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2050" y="3314700"/>
            <a:ext cx="3200400" cy="1390650"/>
          </a:xfrm>
          <a:prstGeom prst="rect">
            <a:avLst/>
          </a:prstGeom>
          <a:noFill/>
          <a:ln w="254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3448050"/>
            <a:ext cx="285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«executionEnvironment»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2550" y="3657600"/>
            <a:ext cx="28575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E94D1C"/>
                </a:solidFill>
                <a:latin typeface="Roboto"/>
              </a:rPr>
              <a:t>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6850" y="3981450"/>
            <a:ext cx="2590800" cy="552450"/>
          </a:xfrm>
          <a:prstGeom prst="roundRect">
            <a:avLst>
              <a:gd name="adj" fmla="val 5172"/>
            </a:avLst>
          </a:prstGeom>
          <a:solidFill>
            <a:srgbClr val="F2F2F5"/>
          </a:solidFill>
          <a:ln w="12700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7350" y="4095750"/>
            <a:ext cx="22860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 i="0" spc="120">
                <a:solidFill>
                  <a:srgbClr val="6B6B78"/>
                </a:solidFill>
                <a:latin typeface="Roboto"/>
              </a:rPr>
              <a:t>«artifact»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7350" y="428625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1A1A1E"/>
                </a:solidFill>
                <a:latin typeface="Roboto"/>
              </a:rPr>
              <a:t>imagem (tag + digest)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2800350"/>
            <a:ext cx="4000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80" b="1" i="0">
                <a:solidFill>
                  <a:srgbClr val="21049A"/>
                </a:solidFill>
                <a:latin typeface="Roboto"/>
              </a:rPr>
              <a:t>Ambiente de execução é</a:t>
            </a:r>
          </a:p>
          <a:p>
            <a:pPr>
              <a:lnSpc>
                <a:spcPct val="128000"/>
              </a:lnSpc>
            </a:pPr>
            <a:r>
              <a:rPr sz="1280" b="1" i="0">
                <a:solidFill>
                  <a:srgbClr val="21049A"/>
                </a:solidFill>
                <a:latin typeface="Roboto"/>
              </a:rPr>
              <a:t>uma especialização de nó.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3467100"/>
            <a:ext cx="4095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1A1A1E"/>
                </a:solidFill>
                <a:latin typeface="Roboto"/>
              </a:rPr>
              <a:t>Container é um nó aninhado no host, com a imagem implantada dentro dele.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43500" y="4248150"/>
            <a:ext cx="409575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43500" y="4400550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1A1A1E"/>
                </a:solidFill>
                <a:latin typeface="Roboto"/>
              </a:rPr>
              <a:t>Máquina virtual é um nó separado, com sistema operacional próprio.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Dos componentes para os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771775"/>
            <a:ext cx="3810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21049A"/>
                </a:solidFill>
                <a:latin typeface="Roboto"/>
              </a:rPr>
              <a:t>RASCUNHO DO DIAGRAMA DE COMPONENTES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2943225"/>
            <a:ext cx="3810000" cy="20574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3950" y="3190875"/>
            <a:ext cx="1428750" cy="457200"/>
          </a:xfrm>
          <a:prstGeom prst="roundRect">
            <a:avLst>
              <a:gd name="adj" fmla="val 625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950" y="3343275"/>
            <a:ext cx="14287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FFFFFF"/>
                </a:solidFill>
                <a:latin typeface="Roboto"/>
              </a:rPr>
              <a:t>Convite público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190875"/>
            <a:ext cx="1428750" cy="457200"/>
          </a:xfrm>
          <a:prstGeom prst="roundRect">
            <a:avLst>
              <a:gd name="adj" fmla="val 625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343275"/>
            <a:ext cx="14287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FFFFFF"/>
                </a:solidFill>
                <a:latin typeface="Roboto"/>
              </a:rPr>
              <a:t>Painel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7875" y="3857625"/>
            <a:ext cx="1428750" cy="419100"/>
          </a:xfrm>
          <a:prstGeom prst="roundRect">
            <a:avLst>
              <a:gd name="adj" fmla="val 6818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7875" y="3990975"/>
            <a:ext cx="142875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FFFFFF"/>
                </a:solidFill>
                <a:latin typeface="Roboto"/>
              </a:rPr>
              <a:t>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7875" y="4410075"/>
            <a:ext cx="1428750" cy="285750"/>
          </a:xfrm>
          <a:prstGeom prst="roundRect">
            <a:avLst>
              <a:gd name="adj" fmla="val 10000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7875" y="44767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Dados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38325" y="3648075"/>
            <a:ext cx="733425" cy="20955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952750" y="3648075"/>
            <a:ext cx="733425" cy="20955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62250" y="4276725"/>
            <a:ext cx="0" cy="133350"/>
          </a:xfrm>
          <a:prstGeom prst="line">
            <a:avLst/>
          </a:prstGeom>
          <a:ln w="25400">
            <a:solidFill>
              <a:srgbClr val="210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7250" y="3876675"/>
            <a:ext cx="1524000" cy="0"/>
          </a:xfrm>
          <a:prstGeom prst="line">
            <a:avLst/>
          </a:prstGeom>
          <a:ln w="38100"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67250" y="3609975"/>
            <a:ext cx="15240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E94D1C"/>
                </a:solidFill>
                <a:latin typeface="Roboto"/>
              </a:rPr>
              <a:t>mapeamento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250" y="2771775"/>
            <a:ext cx="4000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RASCUNHO DO DIAGRAMA DE IMPLANTAÇÃO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0" y="2943225"/>
            <a:ext cx="3810000" cy="2057400"/>
          </a:xfrm>
          <a:prstGeom prst="rect">
            <a:avLst/>
          </a:prstGeom>
          <a:noFill/>
          <a:ln w="254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750" y="3057525"/>
            <a:ext cx="1905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>
                <a:solidFill>
                  <a:srgbClr val="E94D1C"/>
                </a:solidFill>
                <a:latin typeface="Roboto"/>
              </a:rPr>
              <a:t>«device»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1750" y="3286125"/>
            <a:ext cx="1066800" cy="495300"/>
          </a:xfrm>
          <a:prstGeom prst="rect">
            <a:avLst/>
          </a:prstGeom>
          <a:noFill/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362325"/>
            <a:ext cx="10287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1" i="0">
                <a:solidFill>
                  <a:srgbClr val="21049A"/>
                </a:solidFill>
                <a:latin typeface="Roboto"/>
              </a:rPr>
              <a:t>«executionEnv»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33775"/>
            <a:ext cx="1028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19" b="0" i="0">
                <a:solidFill>
                  <a:srgbClr val="1A1A1E"/>
                </a:solidFill>
                <a:latin typeface="Roboto"/>
              </a:rPr>
              <a:t>front-end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2850" y="3286125"/>
            <a:ext cx="1066800" cy="495300"/>
          </a:xfrm>
          <a:prstGeom prst="rect">
            <a:avLst/>
          </a:prstGeom>
          <a:noFill/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1900" y="3362325"/>
            <a:ext cx="10287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1" i="0">
                <a:solidFill>
                  <a:srgbClr val="21049A"/>
                </a:solidFill>
                <a:latin typeface="Roboto"/>
              </a:rPr>
              <a:t>«executionEnv»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1900" y="3533775"/>
            <a:ext cx="1028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19" b="0" i="0">
                <a:solidFill>
                  <a:srgbClr val="1A1A1E"/>
                </a:solidFill>
                <a:latin typeface="Roboto"/>
              </a:rPr>
              <a:t>API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48550" y="3533775"/>
            <a:ext cx="114300" cy="0"/>
          </a:xfrm>
          <a:prstGeom prst="line">
            <a:avLst/>
          </a:prstGeom>
          <a:ln w="20320"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743950" y="3286125"/>
            <a:ext cx="1066800" cy="495300"/>
          </a:xfrm>
          <a:prstGeom prst="rect">
            <a:avLst/>
          </a:prstGeom>
          <a:noFill/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0" y="3362325"/>
            <a:ext cx="1028700" cy="17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" b="1" i="0">
                <a:solidFill>
                  <a:srgbClr val="21049A"/>
                </a:solidFill>
                <a:latin typeface="Roboto"/>
              </a:rPr>
              <a:t>«executionEnv»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0" y="3533775"/>
            <a:ext cx="1028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19" b="0" i="0">
                <a:solidFill>
                  <a:srgbClr val="1A1A1E"/>
                </a:solidFill>
                <a:latin typeface="Roboto"/>
              </a:rPr>
              <a:t>banco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29650" y="3533775"/>
            <a:ext cx="114300" cy="0"/>
          </a:xfrm>
          <a:prstGeom prst="line">
            <a:avLst/>
          </a:prstGeom>
          <a:ln w="20320"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81750" y="4010025"/>
            <a:ext cx="3429000" cy="323850"/>
          </a:xfrm>
          <a:prstGeom prst="roundRect">
            <a:avLst>
              <a:gd name="adj" fmla="val 8823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1750" y="4105275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94D1C"/>
                </a:solidFill>
                <a:latin typeface="Roboto"/>
              </a:rPr>
              <a:t>rede nomeada, com resolução por nome de serviço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4429125"/>
            <a:ext cx="3390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Cada nó corresponde a um serviço no arquivo de compose, com a imagem por tag e digest.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As interfaces no arquivo de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95500"/>
            <a:ext cx="5905500" cy="3390900"/>
          </a:xfrm>
          <a:prstGeom prst="roundRect">
            <a:avLst>
              <a:gd name="adj" fmla="val 2247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50" y="23050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services: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25527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front: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8003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image: nginx:alpine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0480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ports: ["8080:80"]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2956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api: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433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image: node:22-alpine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7909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ports: ["3000:3000"]     # interface provida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0386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environment: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2862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  DATABASE_URL: ...      # interface requerida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5339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depends_on: [db]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78155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db: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50292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image: postgres:16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7550" y="217970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4250" y="2095500"/>
            <a:ext cx="41719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porta publicada mais o contrato HTTP é a interface provida da UML.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67550" y="275958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4250" y="2675382"/>
            <a:ext cx="41719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variável de conexão mais a dependência declarada é a interface requerida.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7550" y="333946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4250" y="3255264"/>
            <a:ext cx="41719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porta da UML corresponde à porta publicada do container.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67550" y="391934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4250" y="3835146"/>
            <a:ext cx="41719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As imagens do arquivo são exemplo. A stack é decisão do documento de decisões arquiteturais.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Coesão e 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COESÃO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40852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Cada imagem tem uma responsabilidade.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16134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057334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código do front-end não está na imagem da API, então a API não depende dele.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39561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38521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Os serviços conversam por uma rede interna, onde cada um é achado pelo nome. Só os serviços de fronteira publicam porta para fora. O banco fica sem mapeamento nenhum.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527894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517493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Uma regra só documentada depende de revisão manual. Na topologia ela é imposta pela estrutura.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ACOPLAMENTO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2700" y="2240852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17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Entre as nossas três camadas o acoplamento continua igual, porque elas ficam na mesma imagem do back-end.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36894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8450" y="35854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Onde há separação, o acoplamento continua, agora com latência, falha parcial e ordem de subida.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Área pública e área com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701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CONVITE PÚBLICO, SEM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70251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31600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056001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Qualquer pessoa com o link acessa.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69074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586734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link é compartilhado no grupo da família e as confirmações de presença chegam em pico.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4855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3815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É por esta área que o container da API ganha réplicas, e para isso ela não pode guardar sessão em memória nem gravar upload em disco local.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560701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PAINEL DO ANFITRIÃO, COM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2700" y="2770251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31600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8450" y="3056001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Só a anfitriã acessa.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1750" y="3690747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586734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Uma pessoa por evento, carga baixa, sem necessidade de réplica.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02 · Aplicação no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53500" y="2876550"/>
            <a:ext cx="704850" cy="762000"/>
          </a:xfrm>
          <a:prstGeom prst="round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3219450"/>
            <a:ext cx="704850" cy="419100"/>
          </a:xfrm>
          <a:prstGeom prst="roundRect">
            <a:avLst/>
          </a:prstGeom>
          <a:solidFill>
            <a:srgbClr val="8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53500" y="3714750"/>
            <a:ext cx="1581150" cy="381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1219200"/>
            <a:ext cx="38100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750" b="1" i="0">
                <a:solidFill>
                  <a:srgbClr val="6E59D2"/>
                </a:solidFill>
                <a:latin typeface="Robot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5150"/>
            <a:ext cx="8191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 i="0">
                <a:solidFill>
                  <a:srgbClr val="FFFFFF"/>
                </a:solidFill>
                <a:latin typeface="Roboto"/>
              </a:rPr>
              <a:t>Vantagens, desvantagens e demonstração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76750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A demonstração mostra o ambiente e a topologia. A implementação do produto começa em outubro.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 que acontece com o dado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02118"/>
            <a:ext cx="10820400" cy="3762375"/>
          </a:xfrm>
          <a:prstGeom prst="roundRect">
            <a:avLst>
              <a:gd name="adj" fmla="val 2025"/>
            </a:avLst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1911668"/>
            <a:ext cx="323850" cy="28575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54518"/>
            <a:ext cx="1905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 spc="140">
                <a:solidFill>
                  <a:srgbClr val="8A8A9A"/>
                </a:solidFill>
                <a:latin typeface="Roboto"/>
              </a:rPr>
              <a:t>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1974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compose up 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4355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compose 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6736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NAME    IMAGE            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9117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front   nginx:alpine     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1499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api     node:22-alpine   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880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db      postgres:16       Up (healthy)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6261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642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compose exec db psql -U app -c "create table t()"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1024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compose down &amp;&amp; docker compose up 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34054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8A8A9A"/>
                </a:solidFill>
                <a:latin typeface="Roboto Mono"/>
              </a:rPr>
              <a:t># a tabela continua lá, o volume sobreviveu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57866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E4E4EC"/>
                </a:solidFill>
                <a:latin typeface="Roboto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816792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7FE3A1"/>
                </a:solidFill>
                <a:latin typeface="Roboto Mono"/>
              </a:rPr>
              <a:t>$ docker compose down 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5054918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0">
                <a:solidFill>
                  <a:srgbClr val="8A8A9A"/>
                </a:solidFill>
                <a:latin typeface="Roboto Mono"/>
              </a:rPr>
              <a:t># agora o dado some junto com o 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93092"/>
            <a:ext cx="28575" cy="37719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5674042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A imagem de fundo que a anfitriã envia ao personalizar o convite e o CSV de restrições alimentares que ela exporta não podem ser perdidos quando o container é removido. A decisão de implantação impõe uma restrição às camadas superiores.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Demonstração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Limitações e custos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57937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470404"/>
            <a:ext cx="7772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daemon roda como root. Estar no grupo docker equivale a root no host, sem sudo e sem trilha de auditoria.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41833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309366"/>
            <a:ext cx="7772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A regra de rede que o Docker escreve é aplicada antes das regras do administrador, então um bloqueio de firewall na porta publicada não tem efeito.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25729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148328"/>
            <a:ext cx="7772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Container com estado continua exigindo backup e upgrade de versão maior do banco.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509625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987290"/>
            <a:ext cx="7772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O Docker Desktop é pago para empresa acima de certo porte.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9124950" y="2470404"/>
            <a:ext cx="152400" cy="133350"/>
          </a:xfrm>
          <a:prstGeom prst="triangle">
            <a:avLst/>
          </a:prstGeom>
          <a:noFill/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93530" y="2527554"/>
            <a:ext cx="15240" cy="3810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479929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NO NOSSO CASO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4950" y="2756154"/>
            <a:ext cx="38100" cy="1005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0" y="2756154"/>
            <a:ext cx="2171700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 i="0">
                <a:solidFill>
                  <a:srgbClr val="3A3A44"/>
                </a:solidFill>
                <a:latin typeface="Roboto"/>
              </a:rPr>
              <a:t>Dos quatro, o do daemon como root é o que atinge o projeto hoje, porque os quatro integrantes rodam na própria máquina.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Container e máquina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114550"/>
            <a:ext cx="4762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21049A"/>
                </a:solidFill>
                <a:latin typeface="Roboto"/>
              </a:rPr>
              <a:t>MÁQUINA VIRTUAL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4076700"/>
            <a:ext cx="4762500" cy="3238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4162425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3714750"/>
            <a:ext cx="4762500" cy="342900"/>
          </a:xfrm>
          <a:prstGeom prst="rect">
            <a:avLst/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3810000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sistema operacional do host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3352800"/>
            <a:ext cx="4762500" cy="34290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3448050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FFFFFF"/>
                </a:solidFill>
                <a:latin typeface="Roboto"/>
              </a:rPr>
              <a:t>hipervisor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2990850"/>
            <a:ext cx="1428750" cy="342900"/>
          </a:xfrm>
          <a:prstGeom prst="roundRect">
            <a:avLst>
              <a:gd name="adj" fmla="val 5555"/>
            </a:avLst>
          </a:prstGeom>
          <a:solidFill>
            <a:srgbClr val="FDEAE3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30861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94D1C"/>
                </a:solidFill>
                <a:latin typeface="Roboto"/>
              </a:rPr>
              <a:t>SO convidado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00" y="27051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27622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" y="24193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24765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4125" y="2990850"/>
            <a:ext cx="1428750" cy="342900"/>
          </a:xfrm>
          <a:prstGeom prst="roundRect">
            <a:avLst>
              <a:gd name="adj" fmla="val 5555"/>
            </a:avLst>
          </a:prstGeom>
          <a:solidFill>
            <a:srgbClr val="FDEAE3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4125" y="30861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94D1C"/>
                </a:solidFill>
                <a:latin typeface="Roboto"/>
              </a:rPr>
              <a:t>SO convidado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24125" y="27051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4125" y="27622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24125" y="24193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4125" y="24765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0" y="2990850"/>
            <a:ext cx="1428750" cy="342900"/>
          </a:xfrm>
          <a:prstGeom prst="roundRect">
            <a:avLst>
              <a:gd name="adj" fmla="val 5555"/>
            </a:avLst>
          </a:prstGeom>
          <a:solidFill>
            <a:srgbClr val="FDEAE3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5750" y="30861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94D1C"/>
                </a:solidFill>
                <a:latin typeface="Roboto"/>
              </a:rPr>
              <a:t>SO convidado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0" y="27051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5750" y="27622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0" y="24193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750" y="24765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2114550"/>
            <a:ext cx="4762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E94D1C"/>
                </a:solidFill>
                <a:latin typeface="Roboto"/>
              </a:rPr>
              <a:t>CONTAINER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2250" y="4076700"/>
            <a:ext cx="4762500" cy="3238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2250" y="4162425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72250" y="3714750"/>
            <a:ext cx="4762500" cy="342900"/>
          </a:xfrm>
          <a:prstGeom prst="rect">
            <a:avLst/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2250" y="3810000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1A1A1E"/>
                </a:solidFill>
                <a:latin typeface="Roboto"/>
              </a:rPr>
              <a:t>kernel do host, compartilhado por todos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72250" y="3352800"/>
            <a:ext cx="4762500" cy="34290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2250" y="3448050"/>
            <a:ext cx="4762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FFFFFF"/>
                </a:solidFill>
                <a:latin typeface="Roboto"/>
              </a:rPr>
              <a:t>Docker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500" y="30480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500" y="31051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0" y="27622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0" y="28194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9125" y="30480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9125" y="31051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39125" y="27622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9125" y="28194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0750" y="304800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10750" y="310515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bibliotecas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10750" y="2762250"/>
            <a:ext cx="1428750" cy="2667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0750" y="2819400"/>
            <a:ext cx="1428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app 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" y="45148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A3A44"/>
                </a:solidFill>
                <a:latin typeface="Roboto"/>
              </a:rPr>
              <a:t>Um kernel inteiro para cada serviço. A fronteira é imposta pelo hardware.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2250" y="45148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A3A44"/>
                </a:solidFill>
                <a:latin typeface="Roboto"/>
              </a:rPr>
              <a:t>Um kernel só, dividido entre todos. A fronteira é a interface de chamadas de sistema.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6763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6300" y="56572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A CVE-2019-5736 confirmou o risco: o processo de dentro conseguia sobrescrever o binário do runtime. Por isso o documento de decisões arquiteturais precisa registrar que container não dá o mesmo isolamento de uma máquina virtual.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Alternativas consideradas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02814"/>
            <a:ext cx="21907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OPÇÃO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2702814"/>
            <a:ext cx="3429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A FAVOR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702814"/>
            <a:ext cx="4762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CONTRA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31414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83814"/>
            <a:ext cx="2019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README nativo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3083814"/>
            <a:ext cx="3257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Custo zero para começar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3083814"/>
            <a:ext cx="4591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Quebra na primeira divergência de versão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408807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32632"/>
            <a:ext cx="2019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VM compartilhada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3532632"/>
            <a:ext cx="3257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Isolamento imposto em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532632"/>
            <a:ext cx="4591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Pesada e difícil de versionar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5762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81450"/>
            <a:ext cx="2019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Podman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3981450"/>
            <a:ext cx="3257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Mesmo modelo, sem daemon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981450"/>
            <a:ext cx="4591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Menos material e menos gente do time conhece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06443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4373118"/>
            <a:ext cx="28575" cy="3238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30268"/>
            <a:ext cx="2019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E94D1C"/>
                </a:solidFill>
                <a:latin typeface="Roboto"/>
              </a:rPr>
              <a:t>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4430268"/>
            <a:ext cx="3257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Ambiente igual para os quatro integrantes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430268"/>
            <a:ext cx="4591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Acrescenta uma camada de build e de orquestração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55261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50" b="1" i="0">
                <a:solidFill>
                  <a:srgbClr val="21049A"/>
                </a:solidFill>
                <a:latin typeface="Roboto"/>
              </a:rPr>
              <a:t>Quando não compensa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59368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OS QUATRO CRITÉRIOS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68918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31586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054668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monolito num servidor só, que nunca vai escalar.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6894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5854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time sem integração contínua, para quem é só um passo de build a mais.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4841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380166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Uma aplicação sensível a latência de cauda.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501491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4910899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sistema dominado por estado.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559368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ONDE NÓS ESTAMOS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2700" y="2768918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1750" y="31586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054668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Dois dos quatro se aplicam a nós, porque não temos integração contínua definida nem hospedagem decidida.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42174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8450" y="4113466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motivo para adotar é o ambiente igual para os quatro antes da primeira linha de código.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50" b="1" i="0">
                <a:solidFill>
                  <a:srgbClr val="21049A"/>
                </a:solidFill>
                <a:latin typeface="Roboto"/>
              </a:rPr>
              <a:t>Vantagens e custos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92630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VANTAGENS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02180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258699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248793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Uma responsabilidade por imagem, com a fronteira declarada.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33756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2385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O ambiente fica descrito num arquivo legível, versionado junto com o código.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08813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398907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Trocar runtime ou banco é editar uma linha do arquivo.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458724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448818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A mesma imagem roda no notebook, no pipeline e na apresentação do produto.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850" y="533781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523875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Dá para replicar só a API, se o caminho do convite público for mesmo sem estado.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1992630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CUSTOS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2700" y="2202180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1750" y="258699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8450" y="248793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Uma superfície de ataque nova, na imagem base e no privilégio de execução.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50" y="333756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8450" y="32385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E"/>
                </a:solidFill>
                <a:latin typeface="Roboto"/>
              </a:rPr>
              <a:t>I/O mais lento, principalmente nas máquinas 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03 · Vantagens e desvantagens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 que mudou no ambiente do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409825"/>
            <a:ext cx="4762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21049A"/>
                </a:solidFill>
                <a:latin typeface="Roboto"/>
              </a:rPr>
              <a:t>NO COMEÇO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2619375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7250" y="2790825"/>
            <a:ext cx="4762500" cy="1752600"/>
          </a:xfrm>
          <a:prstGeom prst="roundRect">
            <a:avLst>
              <a:gd name="adj" fmla="val 3260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29622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78"/>
                </a:solidFill>
                <a:latin typeface="Roboto Mono"/>
              </a:rPr>
              <a:t># .gitattributes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1908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*.sh text eol=lf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4194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6480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8766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1052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95825"/>
            <a:ext cx="476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Uma linha no repositório, necessária porque o Git Bash falha no Windows sem ela. Os ambientes do time já divergiam antes do primeiro código do produto.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2409825"/>
            <a:ext cx="4762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40">
                <a:solidFill>
                  <a:srgbClr val="E94D1C"/>
                </a:solidFill>
                <a:latin typeface="Roboto"/>
              </a:rPr>
              <a:t>AGORA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2250" y="2619375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72250" y="2790825"/>
            <a:ext cx="4762500" cy="1752600"/>
          </a:xfrm>
          <a:prstGeom prst="roundRect">
            <a:avLst>
              <a:gd name="adj" fmla="val 3260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1800" y="29622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78"/>
                </a:solidFill>
                <a:latin typeface="Roboto Mono"/>
              </a:rPr>
              <a:t># docker-compose.yml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1908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services: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4194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api: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36480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image: node:22-alpine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38766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db: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4105275"/>
            <a:ext cx="4381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 Mono"/>
              </a:rPr>
              <a:t>    image: postgres:16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4695825"/>
            <a:ext cx="476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Um arquivo que descreve o ambiente inteiro e que qualquer um dos quatro sobe com um comando. Esse arquivo é a base do diagrama de implantação.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Considerações finais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08616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1992059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Open Container Initiative. Runtime Spec, Image Spec e Distribution Spec. Linux Foundation, fundada em 2015.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255365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2459546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WIGGINS, A. The Twelve-Factor App, 2011.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02114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2927032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FELTER, W. et al. An updated performance comparison of virtual machines and Linux containers. IBM Research Report, 2015.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37275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3633407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MERKEL, D. Docker: lightweight Linux containers for consistent development and deployment. Linux Journal, 2014.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419500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4100894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NIST SP 800-190. Application Container Security Guide.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850" y="466248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4568380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SOMMERVILLE, I. Engenharia de Software. 6. ed. Addison Wesley, 2004.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" y="512997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550" y="5035868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FOWLER, M. Patterns of Enterprise Application Architecture. Addison Wesley, 2002.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850" y="5597462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550" y="5503355"/>
            <a:ext cx="96774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FARIAS, K. Aula 03, Arquiteturas em Camadas. Aula 05, Arquiteturas Baseadas em Componentes.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Referências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Props1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329F00-2A8C-46E7-9764-248AFFF1202A}">
  <ds:schemaRefs>
    <ds:schemaRef ds:uri="http://purl.org/dc/elements/1.1/"/>
    <ds:schemaRef ds:uri="http://schemas.openxmlformats.org/package/2006/metadata/core-properties"/>
    <ds:schemaRef ds:uri="http://purl.org/dc/terms/"/>
    <ds:schemaRef ds:uri="5fb5f026-dc7b-485f-82fe-577aafb4aba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970e0e6-68bd-454a-b013-2dc3f312d27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60</TotalTime>
  <Words>1142</Words>
  <Application>Microsoft Office PowerPoint</Application>
  <PresentationFormat>Widescreen</PresentationFormat>
  <Paragraphs>120</Paragraphs>
  <Slides>15</Slides>
  <Notes>2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unisinos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TÍTULO TÍTULO</vt:lpstr>
      <vt:lpstr>Apresentação do PowerPoint</vt:lpstr>
      <vt:lpstr>Apresentação do PowerPoint</vt:lpstr>
      <vt:lpstr>TÍTULO TÍTULO TÍTULO TÍTULO TÍTULO TÍTULO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Roberto Ferrari</cp:lastModifiedBy>
  <cp:revision>15</cp:revision>
  <dcterms:created xsi:type="dcterms:W3CDTF">2012-07-30T23:50:35Z</dcterms:created>
  <dcterms:modified xsi:type="dcterms:W3CDTF">2026-03-06T20:44:32Z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