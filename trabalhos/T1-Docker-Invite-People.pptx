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4.svg" ContentType="image/svg+xml"/>
  <Override PartName="/ppt/media/image19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0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10"/>
    <p:sldId id="266" r:id="rId9"/>
    <p:sldId id="267" r:id="rId8"/>
    <p:sldId id="268" r:id="rId7"/>
    <p:sldId id="269" r:id="rId6"/>
    <p:sldId id="270" r:id="rId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04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9716C1-5024-8CCE-3203-86B75C2C8617}" v="3" dt="2026-03-04T18:26:21.527"/>
    <p1510:client id="{15EE4E26-2F7C-A8A7-F640-351793DF4648}" v="51" dt="2026-03-04T14:37:16.632"/>
    <p1510:client id="{1A042CCA-B3F5-4F3A-A55B-20F5A0164B7D}" v="24" dt="2026-03-04T14:05:53.570"/>
    <p1510:client id="{474E71F2-6943-508A-29C8-0B58041B59EA}" v="24" dt="2026-03-04T13:40:41.656"/>
    <p1510:client id="{610FBFFC-C927-4559-84E4-21F8025EFCC9}" v="4" dt="2026-03-04T18:41:12.929"/>
    <p1510:client id="{6B13FC13-F49B-3BCF-DC56-120CE7AD128B}" v="3" dt="2026-03-04T14:27:44.521"/>
    <p1510:client id="{6B418F69-DA30-9EA3-9484-1B1B7022BB9A}" v="26" dt="2026-03-04T18:46:59.600"/>
    <p1510:client id="{A6C34AF3-2CB0-9917-C57B-32A817E4D2F0}" v="15" dt="2026-03-04T19:28:10.596"/>
    <p1510:client id="{B4BCC3D1-ADA6-AE73-AB10-F1FD9D46F8AE}" v="1" dt="2026-03-04T18:45:27.9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5.xml"/><Relationship Id="rId6" Type="http://schemas.openxmlformats.org/officeDocument/2006/relationships/slide" Target="slides/slide14.xml"/><Relationship Id="rId7" Type="http://schemas.openxmlformats.org/officeDocument/2006/relationships/slide" Target="slides/slide13.xml"/><Relationship Id="rId8" Type="http://schemas.openxmlformats.org/officeDocument/2006/relationships/slide" Target="slides/slide12.xml"/><Relationship Id="rId9" Type="http://schemas.openxmlformats.org/officeDocument/2006/relationships/slide" Target="slides/slide11.xml"/><Relationship Id="rId10" Type="http://schemas.openxmlformats.org/officeDocument/2006/relationships/slide" Target="slides/slide10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5/10/relationships/revisionInfo" Target="revisionInfo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EFFF79-EEE3-444A-9BA1-1453A65B916B}" type="datetimeFigureOut">
              <a:t>06/03/2026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BDD6EE-BF3C-42FE-A967-089A0F35743B}" type="slidenum"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1119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6.png"/><Relationship Id="rId4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Relationship Id="rId3" Type="http://schemas.openxmlformats.org/officeDocument/2006/relationships/image" Target="../media/image18.png"/><Relationship Id="rId4" Type="http://schemas.openxmlformats.org/officeDocument/2006/relationships/image" Target="../media/image19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B12703BC-BA0D-49E1-5856-8172DFCF21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9BA904D1-772F-4932-8EC4-AC8ABD79784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198963" y="854211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CARTOLA </a:t>
            </a:r>
            <a:r>
              <a:rPr lang="pt-BR" dirty="0" err="1"/>
              <a:t>CARTOLA</a:t>
            </a:r>
            <a:endParaRPr lang="pt-BR" dirty="0"/>
          </a:p>
        </p:txBody>
      </p:sp>
      <p:sp>
        <p:nvSpPr>
          <p:cNvPr id="11" name="Espaço Reservado para Conteúdo 4">
            <a:extLst>
              <a:ext uri="{FF2B5EF4-FFF2-40B4-BE49-F238E27FC236}">
                <a16:creationId xmlns:a16="http://schemas.microsoft.com/office/drawing/2014/main" id="{798E2A19-B017-4014-9BCE-0EDA90228A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198962" y="2685167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/>
              <a:t>COMPLEMENTO </a:t>
            </a:r>
            <a:r>
              <a:rPr lang="pt-BR" err="1"/>
              <a:t>COMPLEMENTO</a:t>
            </a:r>
            <a:endParaRPr lang="pt-BR"/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0FAFA1B5-CB3C-4B76-9115-38A3CFEBBED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376961"/>
            <a:ext cx="9794071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DA CAPA</a:t>
            </a:r>
          </a:p>
          <a:p>
            <a:pPr lvl="0"/>
            <a:r>
              <a:rPr lang="pt-BR" dirty="0"/>
              <a:t>TÍTULO DA CAPA</a:t>
            </a:r>
          </a:p>
        </p:txBody>
      </p:sp>
    </p:spTree>
    <p:extLst>
      <p:ext uri="{BB962C8B-B14F-4D97-AF65-F5344CB8AC3E}">
        <p14:creationId xmlns:p14="http://schemas.microsoft.com/office/powerpoint/2010/main" val="743268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Uma imagem contendo pessoa, segurando, raquete, homem&#10;&#10;O conteúdo gerado por IA pode estar incorreto.">
            <a:extLst>
              <a:ext uri="{FF2B5EF4-FFF2-40B4-BE49-F238E27FC236}">
                <a16:creationId xmlns:a16="http://schemas.microsoft.com/office/drawing/2014/main" id="{68201F9E-9442-51CA-D606-ADE185D215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641F0451-2034-4B4C-B5BB-323C5B96055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99028" y="1721616"/>
            <a:ext cx="3848744" cy="76677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br>
              <a:rPr lang="pt-BR" dirty="0"/>
            </a:br>
            <a:r>
              <a:rPr lang="pt-BR" dirty="0"/>
              <a:t>DE SEÇÃO</a:t>
            </a:r>
          </a:p>
        </p:txBody>
      </p:sp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271D91BB-59F7-42EE-91A0-E9E7DAE29B4D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99026" y="2655324"/>
            <a:ext cx="3848743" cy="328827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88615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&#10;&#10;O conteúdo gerado por IA pode estar incorreto.">
            <a:extLst>
              <a:ext uri="{FF2B5EF4-FFF2-40B4-BE49-F238E27FC236}">
                <a16:creationId xmlns:a16="http://schemas.microsoft.com/office/drawing/2014/main" id="{9D5AB3BD-B97C-7B52-83A2-3E5D5CD519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883A4AD6-7C2F-6DE8-E4EB-27627E6153B2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216203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D832A813-B17C-DC29-723C-8DADDB8A2DE0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666615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7950EE94-C4C8-17C8-8A38-D10AC5A0870E}"/>
              </a:ext>
            </a:extLst>
          </p:cNvPr>
          <p:cNvCxnSpPr>
            <a:cxnSpLocks/>
          </p:cNvCxnSpPr>
          <p:nvPr userDrawn="1"/>
        </p:nvCxnSpPr>
        <p:spPr>
          <a:xfrm>
            <a:off x="5161560" y="4078129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A8422CA4-13D9-5447-94BF-81DFA61CFA8C}"/>
              </a:ext>
            </a:extLst>
          </p:cNvPr>
          <p:cNvSpPr/>
          <p:nvPr userDrawn="1"/>
        </p:nvSpPr>
        <p:spPr>
          <a:xfrm>
            <a:off x="5057617" y="2922847"/>
            <a:ext cx="5277795" cy="537509"/>
          </a:xfrm>
          <a:prstGeom prst="roundRect">
            <a:avLst>
              <a:gd name="adj" fmla="val 50000"/>
            </a:avLst>
          </a:prstGeom>
          <a:solidFill>
            <a:srgbClr val="4328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CF33C47C-7543-6136-48FE-FFD7D5569582}"/>
              </a:ext>
            </a:extLst>
          </p:cNvPr>
          <p:cNvSpPr/>
          <p:nvPr userDrawn="1"/>
        </p:nvSpPr>
        <p:spPr>
          <a:xfrm>
            <a:off x="6067590" y="3387232"/>
            <a:ext cx="4267822" cy="537511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00FC918-C448-6DF0-E954-B06797063FAB}"/>
              </a:ext>
            </a:extLst>
          </p:cNvPr>
          <p:cNvSpPr/>
          <p:nvPr userDrawn="1"/>
        </p:nvSpPr>
        <p:spPr>
          <a:xfrm>
            <a:off x="7000073" y="3784591"/>
            <a:ext cx="3335340" cy="537512"/>
          </a:xfrm>
          <a:prstGeom prst="roundRect">
            <a:avLst>
              <a:gd name="adj" fmla="val 50000"/>
            </a:avLst>
          </a:prstGeom>
          <a:solidFill>
            <a:srgbClr val="2652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756E2B9B-2FC7-4B61-8475-1E6F5501EE2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164272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3B400B1A-A24E-4444-BD47-E24B33C087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62141" y="2178956"/>
            <a:ext cx="3050460" cy="28756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9DA28D68-018D-419D-A736-E64ACB9206E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208200" y="3032630"/>
            <a:ext cx="4850199" cy="30737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431D2614-3827-4A58-A31E-D9102D6BE68E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42644" y="3500419"/>
            <a:ext cx="3815756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5E3BB5D0-837A-4037-AC95-AB1D4F649860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7120214" y="3902767"/>
            <a:ext cx="2938185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</p:spTree>
    <p:extLst>
      <p:ext uri="{BB962C8B-B14F-4D97-AF65-F5344CB8AC3E}">
        <p14:creationId xmlns:p14="http://schemas.microsoft.com/office/powerpoint/2010/main" val="19239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8F673DBA-CB69-50BD-F973-A9E3A3FE152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Espaço Reservado para Conteúdo 4">
            <a:extLst>
              <a:ext uri="{FF2B5EF4-FFF2-40B4-BE49-F238E27FC236}">
                <a16:creationId xmlns:a16="http://schemas.microsoft.com/office/drawing/2014/main" id="{6BE41F8E-4F22-46F6-B0AE-D58832BE3FC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637006" y="780986"/>
            <a:ext cx="4391941" cy="1118045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NOME </a:t>
            </a:r>
            <a:br>
              <a:rPr lang="pt-BR" dirty="0"/>
            </a:br>
            <a:r>
              <a:rPr lang="pt-BR" dirty="0"/>
              <a:t>DA SEÇÃO</a:t>
            </a:r>
          </a:p>
        </p:txBody>
      </p:sp>
      <p:sp>
        <p:nvSpPr>
          <p:cNvPr id="18" name="Espaço Reservado para Conteúdo 4">
            <a:extLst>
              <a:ext uri="{FF2B5EF4-FFF2-40B4-BE49-F238E27FC236}">
                <a16:creationId xmlns:a16="http://schemas.microsoft.com/office/drawing/2014/main" id="{180BB7B2-EE70-4E52-A5A7-0F7F00EFB29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637006" y="2245217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1</a:t>
            </a:r>
          </a:p>
        </p:txBody>
      </p:sp>
      <p:sp>
        <p:nvSpPr>
          <p:cNvPr id="19" name="Espaço Reservado para Conteúdo 4">
            <a:extLst>
              <a:ext uri="{FF2B5EF4-FFF2-40B4-BE49-F238E27FC236}">
                <a16:creationId xmlns:a16="http://schemas.microsoft.com/office/drawing/2014/main" id="{664A7BCC-13C8-4944-BAC9-E32ACD6D1E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37006" y="2589090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2" name="Espaço Reservado para Conteúdo 4">
            <a:extLst>
              <a:ext uri="{FF2B5EF4-FFF2-40B4-BE49-F238E27FC236}">
                <a16:creationId xmlns:a16="http://schemas.microsoft.com/office/drawing/2014/main" id="{D2F372CA-7A81-4DC0-9C08-38BBC4518D5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637006" y="4362546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2</a:t>
            </a:r>
          </a:p>
        </p:txBody>
      </p:sp>
      <p:sp>
        <p:nvSpPr>
          <p:cNvPr id="23" name="Espaço Reservado para Conteúdo 4">
            <a:extLst>
              <a:ext uri="{FF2B5EF4-FFF2-40B4-BE49-F238E27FC236}">
                <a16:creationId xmlns:a16="http://schemas.microsoft.com/office/drawing/2014/main" id="{99641B3D-FFEC-4170-9DE3-5965CE430DC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637006" y="4706419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982311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 descr="Forma&#10;&#10;O conteúdo gerado por IA pode estar incorreto.">
            <a:extLst>
              <a:ext uri="{FF2B5EF4-FFF2-40B4-BE49-F238E27FC236}">
                <a16:creationId xmlns:a16="http://schemas.microsoft.com/office/drawing/2014/main" id="{3C9A769A-63A3-DE23-592B-55245BC352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8750"/>
            <a:ext cx="12192000" cy="6866749"/>
          </a:xfrm>
          <a:prstGeom prst="rect">
            <a:avLst/>
          </a:prstGeom>
        </p:spPr>
      </p:pic>
      <p:pic>
        <p:nvPicPr>
          <p:cNvPr id="14" name="Gráfico 13">
            <a:extLst>
              <a:ext uri="{FF2B5EF4-FFF2-40B4-BE49-F238E27FC236}">
                <a16:creationId xmlns:a16="http://schemas.microsoft.com/office/drawing/2014/main" id="{1E1C6F54-8EED-6A4A-951E-8F53058EBB6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7" name="Espaço Reservado para Conteúdo 4">
            <a:extLst>
              <a:ext uri="{FF2B5EF4-FFF2-40B4-BE49-F238E27FC236}">
                <a16:creationId xmlns:a16="http://schemas.microsoft.com/office/drawing/2014/main" id="{39251BE9-618E-42E3-99D7-A7567BEAC4F4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92701" y="2865601"/>
            <a:ext cx="3927494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37BB87C6-3A52-4563-8FED-B6B3781BF21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2701" y="794269"/>
            <a:ext cx="3927494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4A45D75-7A9C-404D-BDF7-39D938D9204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31687" y="2271833"/>
            <a:ext cx="3927494" cy="1118045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Tx/>
              <a:buChar char="•"/>
              <a:defRPr sz="1600">
                <a:solidFill>
                  <a:schemeClr val="bg1">
                    <a:lumMod val="85000"/>
                  </a:schemeClr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  <a:p>
            <a:pPr lvl="0"/>
            <a:r>
              <a:rPr lang="pt-BR" dirty="0"/>
              <a:t>ITEM 2</a:t>
            </a:r>
          </a:p>
          <a:p>
            <a:pPr lvl="0"/>
            <a:r>
              <a:rPr lang="pt-BR" dirty="0"/>
              <a:t>ITEM 3</a:t>
            </a:r>
          </a:p>
          <a:p>
            <a:pPr lvl="0"/>
            <a:r>
              <a:rPr lang="pt-BR" dirty="0"/>
              <a:t>ITEM 4</a:t>
            </a:r>
          </a:p>
          <a:p>
            <a:pPr lvl="0"/>
            <a:r>
              <a:rPr lang="pt-BR" dirty="0"/>
              <a:t>ITEM 5</a:t>
            </a:r>
          </a:p>
          <a:p>
            <a:pPr lvl="0"/>
            <a:r>
              <a:rPr lang="pt-BR" dirty="0"/>
              <a:t>ITEM 6</a:t>
            </a:r>
          </a:p>
          <a:p>
            <a:pPr lvl="0"/>
            <a:r>
              <a:rPr lang="pt-BR" dirty="0"/>
              <a:t>ITEM 7</a:t>
            </a:r>
          </a:p>
        </p:txBody>
      </p:sp>
    </p:spTree>
    <p:extLst>
      <p:ext uri="{BB962C8B-B14F-4D97-AF65-F5344CB8AC3E}">
        <p14:creationId xmlns:p14="http://schemas.microsoft.com/office/powerpoint/2010/main" val="3467792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m 13">
            <a:extLst>
              <a:ext uri="{FF2B5EF4-FFF2-40B4-BE49-F238E27FC236}">
                <a16:creationId xmlns:a16="http://schemas.microsoft.com/office/drawing/2014/main" id="{4A036B0A-933A-2985-8269-6345DAD892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45D534F8-C499-4401-B371-2922E2FC60F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815738" y="2608895"/>
            <a:ext cx="9013371" cy="82010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BB3FE49F-E596-4FC6-AC93-7944FFF7244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971518" y="3526859"/>
            <a:ext cx="6851751" cy="235142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bg1"/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462264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 descr="Ícone&#10;&#10;O conteúdo gerado por IA pode estar incorreto.">
            <a:extLst>
              <a:ext uri="{FF2B5EF4-FFF2-40B4-BE49-F238E27FC236}">
                <a16:creationId xmlns:a16="http://schemas.microsoft.com/office/drawing/2014/main" id="{AF2EB98D-EF35-397E-FA18-F906466EB53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2B6F4DD1-33F3-4B49-95ED-C95B61876CA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76376" y="3916012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141E17BE-679D-4780-A50B-95ABDEA8341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476375" y="3083044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BB3C5678-B5DE-4BCA-900A-F36CE17308F5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800601" y="482395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063FB4E0-9626-4EF4-806F-71DFF51C6511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800600" y="3990985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188B0BB6-CE3D-4850-B5D3-213A7B0CB16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124825" y="3122148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07A0879C-E9A3-4A48-A4AC-1DE60387F7C4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124824" y="2289180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8" name="Espaço Reservado para Conteúdo 4">
            <a:extLst>
              <a:ext uri="{FF2B5EF4-FFF2-40B4-BE49-F238E27FC236}">
                <a16:creationId xmlns:a16="http://schemas.microsoft.com/office/drawing/2014/main" id="{C93AF59E-0B59-41F7-8D76-870509D7AAF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1040475"/>
            <a:ext cx="6734546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3355958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m 25" descr="Forma&#10;&#10;O conteúdo gerado por IA pode estar incorreto.">
            <a:extLst>
              <a:ext uri="{FF2B5EF4-FFF2-40B4-BE49-F238E27FC236}">
                <a16:creationId xmlns:a16="http://schemas.microsoft.com/office/drawing/2014/main" id="{412108E6-D36D-1E5D-A463-5DB8DA6A1B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82B24A9D-A588-4551-9139-9C6E041076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91887" y="378824"/>
            <a:ext cx="4602014" cy="6126480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 err="1"/>
              <a:t>TÍTULO</a:t>
            </a:r>
            <a:endParaRPr lang="pt-BR" dirty="0"/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A21AE171-2175-4DAD-8189-61FFCBDB02B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39264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56D3D759-453E-442D-AEC3-0FFF411B48A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78831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8" name="Espaço Reservado para Conteúdo 4">
            <a:extLst>
              <a:ext uri="{FF2B5EF4-FFF2-40B4-BE49-F238E27FC236}">
                <a16:creationId xmlns:a16="http://schemas.microsoft.com/office/drawing/2014/main" id="{8C3073B7-3423-46D9-8011-B23D48EB9616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9665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49" name="Espaço Reservado para Conteúdo 4">
            <a:extLst>
              <a:ext uri="{FF2B5EF4-FFF2-40B4-BE49-F238E27FC236}">
                <a16:creationId xmlns:a16="http://schemas.microsoft.com/office/drawing/2014/main" id="{79C9CBE2-F540-4408-8EB3-A373311F163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79232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0" name="Espaço Reservado para Conteúdo 4">
            <a:extLst>
              <a:ext uri="{FF2B5EF4-FFF2-40B4-BE49-F238E27FC236}">
                <a16:creationId xmlns:a16="http://schemas.microsoft.com/office/drawing/2014/main" id="{7534DFE6-358C-4FF5-B3B9-6C34B0781772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38828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51" name="Espaço Reservado para Conteúdo 4">
            <a:extLst>
              <a:ext uri="{FF2B5EF4-FFF2-40B4-BE49-F238E27FC236}">
                <a16:creationId xmlns:a16="http://schemas.microsoft.com/office/drawing/2014/main" id="{2D4FC50B-1040-4A33-9D53-F74DFB48C83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578395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2" name="Espaço Reservado para Conteúdo 4">
            <a:extLst>
              <a:ext uri="{FF2B5EF4-FFF2-40B4-BE49-F238E27FC236}">
                <a16:creationId xmlns:a16="http://schemas.microsoft.com/office/drawing/2014/main" id="{F847EBBC-8153-4D80-BBEA-981CCB037D67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39229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53" name="Espaço Reservado para Conteúdo 4">
            <a:extLst>
              <a:ext uri="{FF2B5EF4-FFF2-40B4-BE49-F238E27FC236}">
                <a16:creationId xmlns:a16="http://schemas.microsoft.com/office/drawing/2014/main" id="{170C864E-D912-46D5-B580-C79231F833A0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78796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4" name="Espaço Reservado para Conteúdo 4">
            <a:extLst>
              <a:ext uri="{FF2B5EF4-FFF2-40B4-BE49-F238E27FC236}">
                <a16:creationId xmlns:a16="http://schemas.microsoft.com/office/drawing/2014/main" id="{C4786A3E-B372-4DCC-B4F6-D10391BC6344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39264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5</a:t>
            </a:r>
          </a:p>
        </p:txBody>
      </p:sp>
      <p:sp>
        <p:nvSpPr>
          <p:cNvPr id="55" name="Espaço Reservado para Conteúdo 4">
            <a:extLst>
              <a:ext uri="{FF2B5EF4-FFF2-40B4-BE49-F238E27FC236}">
                <a16:creationId xmlns:a16="http://schemas.microsoft.com/office/drawing/2014/main" id="{B330D9FC-3804-478B-8B2F-BD1D550EB7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578831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6" name="Espaço Reservado para Conteúdo 4">
            <a:extLst>
              <a:ext uri="{FF2B5EF4-FFF2-40B4-BE49-F238E27FC236}">
                <a16:creationId xmlns:a16="http://schemas.microsoft.com/office/drawing/2014/main" id="{AADC77ED-B602-4D58-BF71-D63985E8F86D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39665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6</a:t>
            </a:r>
          </a:p>
        </p:txBody>
      </p:sp>
      <p:sp>
        <p:nvSpPr>
          <p:cNvPr id="57" name="Espaço Reservado para Conteúdo 4">
            <a:extLst>
              <a:ext uri="{FF2B5EF4-FFF2-40B4-BE49-F238E27FC236}">
                <a16:creationId xmlns:a16="http://schemas.microsoft.com/office/drawing/2014/main" id="{E912F27E-5DAD-40E4-A876-B9139A7C4862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879232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8" name="Espaço Reservado para Conteúdo 4">
            <a:extLst>
              <a:ext uri="{FF2B5EF4-FFF2-40B4-BE49-F238E27FC236}">
                <a16:creationId xmlns:a16="http://schemas.microsoft.com/office/drawing/2014/main" id="{70F43E27-89B9-4AFE-9DB9-4B4A0555AEDA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538828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7</a:t>
            </a:r>
          </a:p>
        </p:txBody>
      </p:sp>
      <p:sp>
        <p:nvSpPr>
          <p:cNvPr id="59" name="Espaço Reservado para Conteúdo 4">
            <a:extLst>
              <a:ext uri="{FF2B5EF4-FFF2-40B4-BE49-F238E27FC236}">
                <a16:creationId xmlns:a16="http://schemas.microsoft.com/office/drawing/2014/main" id="{7891A22C-0D7C-4E4E-B231-0A73D868DAF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578395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60" name="Espaço Reservado para Conteúdo 4">
            <a:extLst>
              <a:ext uri="{FF2B5EF4-FFF2-40B4-BE49-F238E27FC236}">
                <a16:creationId xmlns:a16="http://schemas.microsoft.com/office/drawing/2014/main" id="{9AA294D8-A530-4C47-987A-7D029688897B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39229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8</a:t>
            </a:r>
          </a:p>
        </p:txBody>
      </p:sp>
      <p:sp>
        <p:nvSpPr>
          <p:cNvPr id="61" name="Espaço Reservado para Conteúdo 4">
            <a:extLst>
              <a:ext uri="{FF2B5EF4-FFF2-40B4-BE49-F238E27FC236}">
                <a16:creationId xmlns:a16="http://schemas.microsoft.com/office/drawing/2014/main" id="{14C76703-4040-4320-BD4F-1DD7CBE8C563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878796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56358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áfico 7">
            <a:extLst>
              <a:ext uri="{FF2B5EF4-FFF2-40B4-BE49-F238E27FC236}">
                <a16:creationId xmlns:a16="http://schemas.microsoft.com/office/drawing/2014/main" id="{C8A2A5EB-55E9-818C-5100-8E3EC4E96C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F3DFFE69-5EB8-470E-B99B-54A3FB6EE3A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29" name="Espaço Reservado para Conteúdo 4">
            <a:extLst>
              <a:ext uri="{FF2B5EF4-FFF2-40B4-BE49-F238E27FC236}">
                <a16:creationId xmlns:a16="http://schemas.microsoft.com/office/drawing/2014/main" id="{2F7B3AF4-B738-4398-B67B-6BBE8A527D5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77669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30" name="Espaço Reservado para Conteúdo 4">
            <a:extLst>
              <a:ext uri="{FF2B5EF4-FFF2-40B4-BE49-F238E27FC236}">
                <a16:creationId xmlns:a16="http://schemas.microsoft.com/office/drawing/2014/main" id="{5D35BA6E-193D-4880-99D4-D6E40313A35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386076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1" name="Espaço Reservado para Conteúdo 4">
            <a:extLst>
              <a:ext uri="{FF2B5EF4-FFF2-40B4-BE49-F238E27FC236}">
                <a16:creationId xmlns:a16="http://schemas.microsoft.com/office/drawing/2014/main" id="{58CA9FBA-C6F6-48B4-8054-37886D57B89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2902119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2" name="Espaço Reservado para Conteúdo 4">
            <a:extLst>
              <a:ext uri="{FF2B5EF4-FFF2-40B4-BE49-F238E27FC236}">
                <a16:creationId xmlns:a16="http://schemas.microsoft.com/office/drawing/2014/main" id="{3B524203-EAD3-4477-9209-B4351264128B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317421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33" name="Espaço Reservado para Conteúdo 4">
            <a:extLst>
              <a:ext uri="{FF2B5EF4-FFF2-40B4-BE49-F238E27FC236}">
                <a16:creationId xmlns:a16="http://schemas.microsoft.com/office/drawing/2014/main" id="{01D447D5-A389-49AB-9939-1EC12515C69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7025828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4" name="Espaço Reservado para Conteúdo 4">
            <a:extLst>
              <a:ext uri="{FF2B5EF4-FFF2-40B4-BE49-F238E27FC236}">
                <a16:creationId xmlns:a16="http://schemas.microsoft.com/office/drawing/2014/main" id="{B8D809D7-F1D1-4A2C-BB27-83433994B162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541871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5" name="Espaço Reservado para Conteúdo 4">
            <a:extLst>
              <a:ext uri="{FF2B5EF4-FFF2-40B4-BE49-F238E27FC236}">
                <a16:creationId xmlns:a16="http://schemas.microsoft.com/office/drawing/2014/main" id="{4705D9C3-A995-459D-AADF-DFDD6934707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77669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36" name="Espaço Reservado para Conteúdo 4">
            <a:extLst>
              <a:ext uri="{FF2B5EF4-FFF2-40B4-BE49-F238E27FC236}">
                <a16:creationId xmlns:a16="http://schemas.microsoft.com/office/drawing/2014/main" id="{48370BE8-A043-4995-BDFE-BDB113D9F98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1386076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7" name="Espaço Reservado para Conteúdo 4">
            <a:extLst>
              <a:ext uri="{FF2B5EF4-FFF2-40B4-BE49-F238E27FC236}">
                <a16:creationId xmlns:a16="http://schemas.microsoft.com/office/drawing/2014/main" id="{EF334FA5-EFEC-4880-AB74-FDA39A9CF3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2902119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8" name="Espaço Reservado para Conteúdo 4">
            <a:extLst>
              <a:ext uri="{FF2B5EF4-FFF2-40B4-BE49-F238E27FC236}">
                <a16:creationId xmlns:a16="http://schemas.microsoft.com/office/drawing/2014/main" id="{C62A379B-D566-4D7A-B047-927E5BA2A089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317421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39" name="Espaço Reservado para Conteúdo 4">
            <a:extLst>
              <a:ext uri="{FF2B5EF4-FFF2-40B4-BE49-F238E27FC236}">
                <a16:creationId xmlns:a16="http://schemas.microsoft.com/office/drawing/2014/main" id="{265B2327-F611-4CB3-B79A-22014E2BDC29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7025828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0" name="Espaço Reservado para Conteúdo 4">
            <a:extLst>
              <a:ext uri="{FF2B5EF4-FFF2-40B4-BE49-F238E27FC236}">
                <a16:creationId xmlns:a16="http://schemas.microsoft.com/office/drawing/2014/main" id="{875ADBDB-708D-40FF-B05B-63F736D2AC8D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541871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164189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, Retângulo&#10;&#10;O conteúdo gerado por IA pode estar incorreto.">
            <a:extLst>
              <a:ext uri="{FF2B5EF4-FFF2-40B4-BE49-F238E27FC236}">
                <a16:creationId xmlns:a16="http://schemas.microsoft.com/office/drawing/2014/main" id="{755604ED-8D58-1615-3BD2-70AE34C5B63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DD008399-5FBB-472F-8E3F-633534F80D1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492989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12" name="Espaço Reservado para Conteúdo 4">
            <a:extLst>
              <a:ext uri="{FF2B5EF4-FFF2-40B4-BE49-F238E27FC236}">
                <a16:creationId xmlns:a16="http://schemas.microsoft.com/office/drawing/2014/main" id="{22C20E1A-1706-435A-BF46-A7988122942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272937" y="2586445"/>
            <a:ext cx="3709852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8CB7D53B-6460-4A34-8124-84C3FBD464E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196150" y="2586445"/>
            <a:ext cx="3709850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</p:spTree>
    <p:extLst>
      <p:ext uri="{BB962C8B-B14F-4D97-AF65-F5344CB8AC3E}">
        <p14:creationId xmlns:p14="http://schemas.microsoft.com/office/powerpoint/2010/main" val="1036511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0562E0AD-E4EE-02BD-8E08-C54B7CD54B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1ADE5E87-BD9B-7C07-F239-DC95941763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A5F91E17-4B22-43C4-BC9A-B85CBB295BD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2973777"/>
            <a:ext cx="5972545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28025919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 descr="Logotipo&#10;&#10;O conteúdo gerado por IA pode estar incorreto.">
            <a:extLst>
              <a:ext uri="{FF2B5EF4-FFF2-40B4-BE49-F238E27FC236}">
                <a16:creationId xmlns:a16="http://schemas.microsoft.com/office/drawing/2014/main" id="{D5AE18F8-4C98-E987-C600-30B97C4E563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Gráfico 11">
            <a:extLst>
              <a:ext uri="{FF2B5EF4-FFF2-40B4-BE49-F238E27FC236}">
                <a16:creationId xmlns:a16="http://schemas.microsoft.com/office/drawing/2014/main" id="{C2EFD695-3E61-27BB-FD99-9C489A1A73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C32784AB-7E2C-4D14-865A-F72AC13685F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58600" y="3821054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107E1770-8F3E-4B77-9943-2EEF8B2A663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F7E01A6-0BF4-4257-880E-0E0383602A4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58600" y="2503501"/>
            <a:ext cx="4933333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Uma imagem contendo 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1BBAE76A-589A-1DC7-1848-FBCD1ED5F99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8EDDECBF-2EF9-4580-826D-41A2BE4FF0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094594" y="1287772"/>
            <a:ext cx="6098785" cy="1670102"/>
          </a:xfrm>
          <a:prstGeom prst="rect">
            <a:avLst/>
          </a:prstGeom>
        </p:spPr>
        <p:txBody>
          <a:bodyPr numCol="2" spcCol="18000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1895628F-1505-42BC-8AAC-324418E1197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094594" y="3900126"/>
            <a:ext cx="5708389" cy="1869743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Proin</a:t>
            </a:r>
            <a:r>
              <a:rPr lang="pt-BR" dirty="0"/>
              <a:t> </a:t>
            </a:r>
            <a:r>
              <a:rPr lang="pt-BR" dirty="0" err="1"/>
              <a:t>felis</a:t>
            </a:r>
            <a:r>
              <a:rPr lang="pt-BR" dirty="0"/>
              <a:t> </a:t>
            </a:r>
            <a:r>
              <a:rPr lang="pt-BR" dirty="0" err="1"/>
              <a:t>elit</a:t>
            </a:r>
            <a:r>
              <a:rPr lang="pt-BR" dirty="0"/>
              <a:t>, </a:t>
            </a:r>
            <a:r>
              <a:rPr lang="pt-BR" dirty="0" err="1"/>
              <a:t>pretium</a:t>
            </a:r>
            <a:r>
              <a:rPr lang="pt-BR" dirty="0"/>
              <a:t> </a:t>
            </a:r>
            <a:r>
              <a:rPr lang="pt-BR" dirty="0" err="1"/>
              <a:t>at</a:t>
            </a:r>
            <a:r>
              <a:rPr lang="pt-BR" dirty="0"/>
              <a:t> </a:t>
            </a:r>
            <a:r>
              <a:rPr lang="pt-BR" dirty="0" err="1"/>
              <a:t>ligula</a:t>
            </a:r>
            <a:r>
              <a:rPr lang="pt-BR" dirty="0"/>
              <a:t> et, </a:t>
            </a:r>
            <a:r>
              <a:rPr lang="pt-BR" dirty="0" err="1"/>
              <a:t>venenatis</a:t>
            </a:r>
            <a:r>
              <a:rPr lang="pt-BR" dirty="0"/>
              <a:t> </a:t>
            </a:r>
            <a:r>
              <a:rPr lang="pt-BR" dirty="0" err="1"/>
              <a:t>sollicitudin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pulvinar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76267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04016A07-62CC-4FF1-A3F1-174AA42354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Gráfico 7">
            <a:extLst>
              <a:ext uri="{FF2B5EF4-FFF2-40B4-BE49-F238E27FC236}">
                <a16:creationId xmlns:a16="http://schemas.microsoft.com/office/drawing/2014/main" id="{55A34FD8-10C0-48D2-935C-1995B1CAA5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418" t="-46144" b="-40859"/>
          <a:stretch>
            <a:fillRect/>
          </a:stretch>
        </p:blipFill>
        <p:spPr>
          <a:xfrm>
            <a:off x="8223477" y="4675844"/>
            <a:ext cx="3279336" cy="1945427"/>
          </a:xfrm>
          <a:prstGeom prst="rect">
            <a:avLst/>
          </a:prstGeom>
        </p:spPr>
      </p:pic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4951D684-8E9D-4D85-AFF1-60D706CBB3C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561342"/>
            <a:ext cx="9794071" cy="111804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7200">
                <a:ln>
                  <a:solidFill>
                    <a:schemeClr val="bg1"/>
                  </a:solidFill>
                </a:ln>
                <a:noFill/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TEXTO FINAL</a:t>
            </a:r>
          </a:p>
        </p:txBody>
      </p:sp>
    </p:spTree>
    <p:extLst>
      <p:ext uri="{BB962C8B-B14F-4D97-AF65-F5344CB8AC3E}">
        <p14:creationId xmlns:p14="http://schemas.microsoft.com/office/powerpoint/2010/main" val="23483734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2081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187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49" r:id="rId12"/>
    <p:sldLayoutId id="2147483672" r:id="rId13"/>
    <p:sldLayoutId id="2147483673" r:id="rId14"/>
    <p:sldLayoutId id="214748367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0.jpg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4.jpg"/><Relationship Id="rId3" Type="http://schemas.openxmlformats.org/officeDocument/2006/relationships/image" Target="../media/image25.png"/><Relationship Id="rId4" Type="http://schemas.openxmlformats.org/officeDocument/2006/relationships/image" Target="../media/image2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4.jpg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4.jpg"/><Relationship Id="rId3" Type="http://schemas.openxmlformats.org/officeDocument/2006/relationships/image" Target="../media/image2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4.jpg"/><Relationship Id="rId3" Type="http://schemas.openxmlformats.org/officeDocument/2006/relationships/image" Target="../media/image2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cap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lockup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52450"/>
            <a:ext cx="2038350" cy="70106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905000"/>
            <a:ext cx="6667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SEMINÁRIO T1 · TECNOLOGIAS EMERGENTES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33600"/>
            <a:ext cx="7429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Docker e</a:t>
            </a:r>
          </a:p>
          <a:p>
            <a:pPr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conteinerização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848100"/>
            <a:ext cx="609600" cy="47625"/>
          </a:xfrm>
          <a:prstGeom prst="roundRect">
            <a:avLst>
              <a:gd name="adj" fmla="val 4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4114800"/>
            <a:ext cx="7620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80" b="0" i="0">
                <a:solidFill>
                  <a:srgbClr val="D6CFF0"/>
                </a:solidFill>
                <a:latin typeface="Roboto"/>
              </a:rPr>
              <a:t>Como o empacotamento em containers se aplica ao projeto Invite People</a:t>
            </a:r>
          </a:p>
        </p:txBody>
      </p:sp>
      <p:pic>
        <p:nvPicPr>
          <p:cNvPr id="8" name="Picture 7" descr="dock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0" y="2038350"/>
            <a:ext cx="2667000" cy="191260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EQUIPE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Andreas Grings · Gabriel Tomasi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Guilherme Toebe · Tiago Passos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053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DISCIPLINA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053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Arquitetura de Software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Prof. Kleinner Farias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projeto Invite People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44106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332101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É um app web de convites virtuais, onde o convidado confirma presença e o anfitrião consolida as restrições alimentares.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28002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171063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São duas superfícies sobre o mesmo Model, o convite público, que não pede login, e o painel do anfitrião.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11899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010025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arquitetura já está registrada na documentação do projeto, com MVC no front-end e três camadas no back-end.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95795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848987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Como esses componentes serão distribuídos e implantados no ambiente de execução.</a:t>
            </a:r>
          </a:p>
        </p:txBody>
      </p:sp>
      <p:sp>
        <p:nvSpPr>
          <p:cNvPr id="12" name="Isosceles Triangle 11"/>
          <p:cNvSpPr/>
          <p:nvPr/>
        </p:nvSpPr>
        <p:spPr>
          <a:xfrm>
            <a:off x="9124950" y="2332101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93530" y="2389251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72600" y="2341626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PONTO DE PARTIDA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24950" y="2617851"/>
            <a:ext cx="38100" cy="103327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34500" y="2617851"/>
            <a:ext cx="2171700" cy="1604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Três camadas lógicas no back-end.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A decisão é em quantos processos separados elas rodam.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Introdução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Para que o grupo quer usar Docker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99885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889885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Ambiente de desenvolvimento igual para os quatro, com o banco rodando sem ninguém instalar nada na própria máquina.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83781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728847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Um arquivo no repositório que descreve esse ambiente inteiro, versionado junto com o código, e que qualquer um sobe com um comando.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67677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567809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Na entrega e na apresentação do produto, o mesmo ambiente do desenvolvimento.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Introdução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se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4" name="Picture 3" descr="u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pic>
        <p:nvPicPr>
          <p:cNvPr id="5" name="Picture 4" descr="dock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00" y="2381250"/>
            <a:ext cx="2476500" cy="177599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Definições e arquitetura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Antes de decidir onde cada parte roda, o que o kernel faz quando alguém digita docker run e por que a imagem é em camadas.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Definições e arquitetura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Linha do tempo do isolamento de processos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3028950"/>
            <a:ext cx="10820400" cy="2857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382486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1979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2950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chroot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8257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31571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8721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primeiro namespace no kernel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74029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77343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34493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cgroups no mainline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198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23114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80264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Docker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65571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68886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6036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primeiras especificações comuns de container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11343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4657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71807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containerd na CNCF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657114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60429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17579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Kubernetes remove o dockershim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4629150"/>
            <a:ext cx="28575" cy="238887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6300" y="4610100"/>
            <a:ext cx="10477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 isolamento de processos existe desde 1979. A padronização da cadeia de execução é de 2015.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imagem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694051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CONTAINER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903601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329336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189351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ou mais processos executados com visão isolada por namespaces, consumo limitado por cgroups e privilégio reduzido por capabilities e seccomp, sobre um sistema de arquivos raiz próprio.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62700" y="2694051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IMAGEM</a:t>
            </a:r>
          </a:p>
        </p:txBody>
      </p:sp>
      <p:sp>
        <p:nvSpPr>
          <p:cNvPr id="9" name="Rectangle 8"/>
          <p:cNvSpPr/>
          <p:nvPr/>
        </p:nvSpPr>
        <p:spPr>
          <a:xfrm>
            <a:off x="6362700" y="2903601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81750" y="329336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48450" y="3189351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Conjunto ordenado de camadas de sistema de arquivos mais a configuração de execução, identificado por um digest, o hash do próprio conteúdo.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81750" y="461619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8450" y="451218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No diagrama de implantação, a imagem é artefato e o container é nó.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é um processo comum,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 a visão restringida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940242"/>
            <a:ext cx="10820400" cy="3286125"/>
          </a:xfrm>
          <a:prstGeom prst="roundRect">
            <a:avLst>
              <a:gd name="adj" fmla="val 2318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52500" y="2149792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092642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243554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run -d --name web nginx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67366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ps -eo pid,comm | grep nginx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91179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4821 nginx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314991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38804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lsns -p 4821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62616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     NS TYPE   NPROCS   PID USER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86429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4026532191 mnt         3  4821 root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410241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4026532192 uts         3  4821 root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34054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4026532193 ipc         3  4821 root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57866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4026532194 pid         3  4821 root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81679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4026532196 net         3  4821 root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5454968"/>
            <a:ext cx="28575" cy="37719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6300" y="5435918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Namespaces e cgroups são recursos do kernel Linux. No Windows, o Docker Desktop roda o engine sobre o WSL2, uma máquina virtual leve com kernel Linux. O mesmo processo tem PID 1 dentro do container e outro PID no host. Por isso, no diagrama de implantação, o container fica dentro do nó do host.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Namespaces e cgroups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fazem coisas diferentes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3130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NAMESPACES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240852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6306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52660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mnt dá ao processo uma árvore de montagem própria.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4253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32136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pid faz o processo enxergar a si mesmo como PID 1.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22014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11613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net dá uma pilha de rede própria. Dois containers conseguem escutar na mesma porta.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501491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491089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Esse é o mecanismo que permite o front-end, a API e o banco do projeto rodarem no mesmo host sem conflito de porta.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203130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CGROUPS V2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62700" y="2240852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1750" y="26306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252660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cgroups contabilizam e limitam o consumo de recursos, sem isolar nada.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1750" y="34253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332136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Estourar o limite de memória encerra o processo, sem degradação gradual.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81750" y="422014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8450" y="411613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limite de CPU só reduz a velocidade. As requisições mais lentas pioram e a média quase não muda.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As camadas de uma imagem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200275"/>
            <a:ext cx="4381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60">
                <a:solidFill>
                  <a:srgbClr val="6B6B78"/>
                </a:solidFill>
                <a:latin typeface="Roboto"/>
              </a:rPr>
              <a:t>CAMADAS DE UMA IMAGEM E DO CONTAINER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3914775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7750" y="4048125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camada base (debian, alpine)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7250" y="3419475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3552825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dependências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7250" y="2924175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750" y="3057525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código da aplicação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00550" y="2924175"/>
            <a:ext cx="28575" cy="14287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2950" y="4486275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as três de baixo são somente leitura, endereçadas por digest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7250" y="2371725"/>
            <a:ext cx="3429000" cy="495300"/>
          </a:xfrm>
          <a:prstGeom prst="roundRect">
            <a:avLst>
              <a:gd name="adj" fmla="val 7692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66975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E94D1C"/>
                </a:solidFill>
                <a:latin typeface="Roboto"/>
              </a:rPr>
              <a:t>camada de escrita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" y="2647950"/>
            <a:ext cx="3048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criada pelo container, removida com ele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857750" y="2314575"/>
            <a:ext cx="0" cy="215265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257800" y="2771775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copy-up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57800" y="3038475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alterar um byte de um arquivo grande copia o arquivo inteiro para cima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3609975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whiteout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3876675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apagar cria uma marcação, o arquivo continua na camada de baixo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5676321"/>
            <a:ext cx="28575" cy="45777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6300" y="5657271"/>
            <a:ext cx="10629900" cy="591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A imagem é construída a partir de um Dockerfile e distribuída por um registry. Cada instrução gera uma camada. Um Dockerfile que copia um .env e o apaga na instrução seguinte deixa o segredo legível na camada anterior. No nosso caso, a senha do banco e o segredo de sessão do anfitrião.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 pilha de execução do Docker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57250" y="332422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343852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 CLI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4807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cliente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52750" y="332422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52750" y="343852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09900" y="364807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daemon, roda como root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628900" y="363855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048250" y="332422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48250" y="343852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containerd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05400" y="364807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ciclo de vida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724400" y="363855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143750" y="332422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43750" y="343852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shim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00900" y="364807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um por container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19900" y="363855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239250" y="332422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9250" y="343852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runc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6400" y="364807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cria e sai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915400" y="363855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667250" y="3076575"/>
            <a:ext cx="8572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21049A"/>
                </a:solidFill>
                <a:latin typeface="Roboto"/>
              </a:rPr>
              <a:t>gRPC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76300" y="441807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4333875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processo pai do container é o shim. Reiniciar o daemon não encerra os containers.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6300" y="482231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4738116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Cada peça tem uma responsabilidade e pode ser trocada por outra que respeite a mesma interface.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Como o privilégio do container é reduzido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86054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751582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Capabilities dividem os privilégios de root em unidades independentes, removidas uma a uma.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69951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590544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perfil padrão de seccomp-bpf bloqueia parte das chamadas de sistema disponíveis.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5384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429506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AppArmor ou SELinux aplicam uma restrição adicional pelo módulo de segurança do kernel.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se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pic>
        <p:nvPicPr>
          <p:cNvPr id="4" name="Picture 3" descr="oci-bran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0500" y="1962150"/>
            <a:ext cx="3048000" cy="8390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1866900"/>
            <a:ext cx="6667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Docker implementa as</a:t>
            </a:r>
          </a:p>
          <a:p>
            <a:pPr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especificações da OCI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Fundada em 2015 sob a Linux Foundation, com a Runtime Spec, a Image Spec e a Distribution Spec. O runc pode ser trocado por crun, gVisor ou Kata, e o engine por Podman. Em 2022 o Kubernetes removeu o adaptador que falava com o Docker Engine e as imagens continuaram funcionando, porque o formato é o da OCI.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Arquitetura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se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4" name="Picture 3" descr="u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953500" y="3048000"/>
            <a:ext cx="590550" cy="59055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ight Arrow 5"/>
          <p:cNvSpPr/>
          <p:nvPr/>
        </p:nvSpPr>
        <p:spPr>
          <a:xfrm>
            <a:off x="9658350" y="3219450"/>
            <a:ext cx="419100" cy="247650"/>
          </a:xfrm>
          <a:prstGeom prst="rightArrow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191750" y="3048000"/>
            <a:ext cx="590550" cy="59055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Aplicação no Invite People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Mapeamento entre os diagramas de arquitetura e o arquivo de compose.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Camada lógica e tier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419350"/>
            <a:ext cx="100012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6B6B78"/>
                </a:solidFill>
                <a:latin typeface="Roboto"/>
              </a:rPr>
              <a:t>TIER É CADA PROCESSO SEPARADO EM QUE O SISTEMA RODA. AS TRÊS CAMADAS DO BACK-END FICAM SEMPRE JUNTAS NUM SÓ.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667000"/>
            <a:ext cx="2724150" cy="1504950"/>
          </a:xfrm>
          <a:prstGeom prst="roundRect">
            <a:avLst>
              <a:gd name="adj" fmla="val 316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09650" y="2743200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9650" y="2800350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9650" y="3028950"/>
            <a:ext cx="24193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8225" y="3143250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8225" y="3371850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8225" y="3600450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9650" y="3848100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9650" y="3905250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7250" y="4286250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1 tier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" y="4495800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tudo num processo só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2425" y="2667000"/>
            <a:ext cx="1143000" cy="1504950"/>
          </a:xfrm>
          <a:prstGeom prst="roundRect">
            <a:avLst>
              <a:gd name="adj" fmla="val 4166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295775" y="3333750"/>
            <a:ext cx="8763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5775" y="3390900"/>
            <a:ext cx="8763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95925" y="2667000"/>
            <a:ext cx="1390650" cy="1504950"/>
          </a:xfrm>
          <a:prstGeom prst="roundRect">
            <a:avLst>
              <a:gd name="adj" fmla="val 342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62600" y="2886075"/>
            <a:ext cx="125730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1175" y="3000375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91175" y="3228975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91175" y="3457575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29275" y="3724275"/>
            <a:ext cx="11239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29275" y="3781425"/>
            <a:ext cx="11239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2425" y="4286250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2 tiers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2425" y="4495800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front-end separado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39000" y="2667000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353300" y="3333750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53300" y="3390900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305800" y="2667000"/>
            <a:ext cx="1619250" cy="1504950"/>
          </a:xfrm>
          <a:prstGeom prst="roundRect">
            <a:avLst>
              <a:gd name="adj" fmla="val 3164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420100" y="3028950"/>
            <a:ext cx="13906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48675" y="3143250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48675" y="3371850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48675" y="3600450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153650" y="2667000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0267950" y="3333750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67950" y="3390900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39000" y="4286250"/>
            <a:ext cx="37528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3 tiers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39000" y="4495800"/>
            <a:ext cx="37528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banco isolado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5800" y="5676321"/>
            <a:ext cx="28575" cy="45777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76300" y="5657271"/>
            <a:ext cx="10629900" cy="591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O projeto lógico é o mesmo nas três opções. Os rascunhos dos próximos slides seguem a de três, e a escolha final é registrada no documento de decisões arquiteturais. No Docker, </a:t>
            </a:r>
            <a:r>
              <a:rPr sz="1280" b="0" i="1">
                <a:solidFill>
                  <a:srgbClr val="3A3A44"/>
                </a:solidFill>
                <a:latin typeface="Roboto"/>
              </a:rPr>
              <a:t>layer</a:t>
            </a:r>
            <a:r>
              <a:rPr sz="1280" b="0" i="0">
                <a:solidFill>
                  <a:srgbClr val="3A3A44"/>
                </a:solidFill>
                <a:latin typeface="Roboto"/>
              </a:rPr>
              <a:t> se refere às camadas do sistema de arquivos da imagem. A camada lógica da arquitetura é outro conceito.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imagem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no diagrama de implantação</a:t>
            </a:r>
          </a:p>
        </p:txBody>
      </p:sp>
      <p:sp>
        <p:nvSpPr>
          <p:cNvPr id="4" name="Rectangle 3"/>
          <p:cNvSpPr/>
          <p:nvPr/>
        </p:nvSpPr>
        <p:spPr>
          <a:xfrm>
            <a:off x="857250" y="2609850"/>
            <a:ext cx="3810000" cy="2286000"/>
          </a:xfrm>
          <a:prstGeom prst="rect">
            <a:avLst/>
          </a:prstGeom>
          <a:noFill/>
          <a:ln w="317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7750" y="2762250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21049A"/>
                </a:solidFill>
                <a:latin typeface="Roboto"/>
              </a:rPr>
              <a:t>«device»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7750" y="2952750"/>
            <a:ext cx="3429000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Host de desenvolvimento</a:t>
            </a:r>
          </a:p>
        </p:txBody>
      </p:sp>
      <p:sp>
        <p:nvSpPr>
          <p:cNvPr id="7" name="Rectangle 6"/>
          <p:cNvSpPr/>
          <p:nvPr/>
        </p:nvSpPr>
        <p:spPr>
          <a:xfrm>
            <a:off x="1162050" y="3314700"/>
            <a:ext cx="3200400" cy="139065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2550" y="3448050"/>
            <a:ext cx="285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«executionEnvironment»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2550" y="3657600"/>
            <a:ext cx="2857500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" b="1" i="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66850" y="3981450"/>
            <a:ext cx="2590800" cy="552450"/>
          </a:xfrm>
          <a:prstGeom prst="roundRect">
            <a:avLst>
              <a:gd name="adj" fmla="val 5172"/>
            </a:avLst>
          </a:prstGeom>
          <a:solidFill>
            <a:srgbClr val="F2F2F5"/>
          </a:solidFill>
          <a:ln w="12700">
            <a:solidFill>
              <a:srgbClr val="6B6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57350" y="4095750"/>
            <a:ext cx="22860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0" b="1" i="0" spc="120">
                <a:solidFill>
                  <a:srgbClr val="6B6B78"/>
                </a:solidFill>
                <a:latin typeface="Roboto"/>
              </a:rPr>
              <a:t>«artifact»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7350" y="428625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1A1A1E"/>
                </a:solidFill>
                <a:latin typeface="Roboto"/>
              </a:rPr>
              <a:t>imagem (tag + digest)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43500" y="2800350"/>
            <a:ext cx="4000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Ambiente de execução é</a:t>
            </a:r>
          </a:p>
          <a:p>
            <a:pPr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uma especialização de nó.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43500" y="3467100"/>
            <a:ext cx="4095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Container é um nó aninhado no host, com a imagem implantada dentro dele.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143500" y="4248150"/>
            <a:ext cx="4095750" cy="0"/>
          </a:xfrm>
          <a:prstGeom prst="line">
            <a:avLst/>
          </a:prstGeom>
          <a:ln w="254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143500" y="4400550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Máquina virtual é um nó separado, com sistema operacional próprio.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Dos componentes para os nós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771775"/>
            <a:ext cx="3810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21049A"/>
                </a:solidFill>
                <a:latin typeface="Roboto"/>
              </a:rPr>
              <a:t>RASCUNHO DO DIAGRAMA DE COMPONENTES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2943225"/>
            <a:ext cx="3810000" cy="2057400"/>
          </a:xfrm>
          <a:prstGeom prst="rect">
            <a:avLst/>
          </a:prstGeom>
          <a:noFill/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3950" y="3190875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3950" y="3343275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Convite público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71800" y="3190875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71800" y="3343275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Painel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47875" y="3857625"/>
            <a:ext cx="1428750" cy="419100"/>
          </a:xfrm>
          <a:prstGeom prst="roundRect">
            <a:avLst>
              <a:gd name="adj" fmla="val 6818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47875" y="3990975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API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47875" y="4410075"/>
            <a:ext cx="1428750" cy="285750"/>
          </a:xfrm>
          <a:prstGeom prst="roundRect">
            <a:avLst>
              <a:gd name="adj" fmla="val 10000"/>
            </a:avLst>
          </a:prstGeom>
          <a:solidFill>
            <a:srgbClr val="6B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7875" y="44767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Dados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838325" y="3648075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2952750" y="3648075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762250" y="4276725"/>
            <a:ext cx="0" cy="1333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667250" y="3876675"/>
            <a:ext cx="1524000" cy="0"/>
          </a:xfrm>
          <a:prstGeom prst="line">
            <a:avLst/>
          </a:prstGeom>
          <a:ln w="3810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667250" y="3609975"/>
            <a:ext cx="15240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>
                <a:solidFill>
                  <a:srgbClr val="E94D1C"/>
                </a:solidFill>
                <a:latin typeface="Roboto"/>
              </a:rPr>
              <a:t>mapeamento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1250" y="2771775"/>
            <a:ext cx="4000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RASCUNHO DO DIAGRAMA DE IMPLANTAÇÃO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91250" y="2943225"/>
            <a:ext cx="3810000" cy="205740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1750" y="3057525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>
                <a:solidFill>
                  <a:srgbClr val="E94D1C"/>
                </a:solidFill>
                <a:latin typeface="Roboto"/>
              </a:rPr>
              <a:t>«device» host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81750" y="3286125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3362325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3533775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62850" y="3286125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1900" y="3362325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1900" y="3533775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API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448550" y="3533775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8743950" y="3286125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63000" y="3362325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63000" y="3533775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629650" y="3533775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381750" y="4010025"/>
            <a:ext cx="3429000" cy="323850"/>
          </a:xfrm>
          <a:prstGeom prst="roundRect">
            <a:avLst>
              <a:gd name="adj" fmla="val 8823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81750" y="4105275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E94D1C"/>
                </a:solidFill>
                <a:latin typeface="Roboto"/>
              </a:rPr>
              <a:t>rede nomeada, com resolução por nome de serviço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81750" y="4429125"/>
            <a:ext cx="3390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Cada nó corresponde a um serviço no arquivo de compose, com a imagem por tag e digest.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As interfaces no arquivo de compose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95500"/>
            <a:ext cx="5905500" cy="3390900"/>
          </a:xfrm>
          <a:prstGeom prst="roundRect">
            <a:avLst>
              <a:gd name="adj" fmla="val 2247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3450" y="23050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services: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3450" y="25527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front-end: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3450" y="28003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nginx:alpine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3450" y="30480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ports: ["8080:80"]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32956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api: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35433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node:22-alpine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3450" y="37909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ports: ["3000:3000"]     # interface provida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3450" y="40386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environment: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450" y="42862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DATABASE_URL: ...      # interface requerida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3450" y="45339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depends_on: [db]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450" y="47815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db: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3450" y="50292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postgres:16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67550" y="217970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34250" y="2095500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publicada mais o contrato HTTP é a interface provida da UML.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67550" y="275958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34250" y="2675382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variável de conexão mais a dependência declarada é a interface requerida.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67550" y="333946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34250" y="3255264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da UML corresponde à porta publicada do container.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67550" y="391934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34250" y="3835146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As imagens do arquivo são exemplo. A stack é decisão do documento de decisões arquiteturais.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Coesão e acoplamento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3130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COESÃO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240852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6306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52660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Cada imagem tem uma responsabilidade.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16134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05733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código do front-end não está na imagem da API, então a API não depende dele.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39561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38521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serviços conversam por uma rede interna, onde cada um é achado pelo nome. Só os serviços de fronteira publicam porta para fora. O banco fica sem mapeamento nenhum.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527894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517493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Uma regra só documentada depende de revisão manual. Na topologia ela é imposta pela estrutura.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203130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ACOPLAMENTO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62700" y="2240852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1750" y="26306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252660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Entre as nossas três camadas o acoplamento continua igual, porque elas ficam na mesma imagem do back-end.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1750" y="36894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3585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Onde há separação, o acoplamento continua, agora com latência, falha parcial e ordem de subida.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Área pública e área com login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560701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CONVITE PÚBLICO, SEM LOGIN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770251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31600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056001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Qualquer pessoa com o link acessa.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69074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58673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link é compartilhado no grupo da família e as confirmações de presença chegam em pico.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48551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3815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É por esta área que o container da API ganha réplicas, e para isso ela não pode guardar sessão em memória nem gravar upload em disco local.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62700" y="2560701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PAINEL DO ANFITRIÃO, COM LOGIN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62700" y="2770251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81750" y="31600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48450" y="3056001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Só a anfitriã acessa.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81750" y="369074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358673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Uma pessoa por evento, carga baixa, sem necessidade de réplica.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se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4" name="Picture 3" descr="u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953500" y="2876550"/>
            <a:ext cx="704850" cy="76200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3219450"/>
            <a:ext cx="704850" cy="41910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953500" y="3714750"/>
            <a:ext cx="158115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Vantagens, desvantagens e demonstração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 demonstração mostra o ambiente e a topologia. A implementação do produto começa em outubro.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acontece com o dado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702118"/>
            <a:ext cx="10820400" cy="3762375"/>
          </a:xfrm>
          <a:prstGeom prst="roundRect">
            <a:avLst>
              <a:gd name="adj" fmla="val 2025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52500" y="1911668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854518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219741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up -d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43554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67366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NAME        IMAGE             STATUS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291179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front-end   nginx:alpine      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14991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api         node:22-alpine    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38804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db          postgres:16       Up (healthy)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62616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386429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exec db psql -U app -c "create table t()"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10241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&amp;&amp; docker compose up -d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34054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 tabela continua lá, o volume sobreviveu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57866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481679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-v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2500" y="505491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agora o dado some junto com o volume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5693092"/>
            <a:ext cx="28575" cy="37719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6300" y="5674042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 imagem de fundo que a anfitriã envia ao personalizar o convite e o CSV de restrições alimentares que ela exporta não podem ser perdidos quando o container é removido. A decisão de implantação impõe uma restrição às camadas superiores.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Demonstração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vs máquina virtual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114550"/>
            <a:ext cx="4762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21049A"/>
                </a:solidFill>
                <a:latin typeface="Roboto"/>
              </a:rPr>
              <a:t>MÁQUINA VIRTUAL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4076700"/>
            <a:ext cx="4762500" cy="3238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7250" y="4162425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hardware</a:t>
            </a:r>
          </a:p>
        </p:txBody>
      </p:sp>
      <p:sp>
        <p:nvSpPr>
          <p:cNvPr id="7" name="Rectangle 6"/>
          <p:cNvSpPr/>
          <p:nvPr/>
        </p:nvSpPr>
        <p:spPr>
          <a:xfrm>
            <a:off x="857250" y="3714750"/>
            <a:ext cx="4762500" cy="342900"/>
          </a:xfrm>
          <a:prstGeom prst="rect">
            <a:avLst/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3810000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sistema operacional do host</a:t>
            </a:r>
          </a:p>
        </p:txBody>
      </p:sp>
      <p:sp>
        <p:nvSpPr>
          <p:cNvPr id="9" name="Rectangle 8"/>
          <p:cNvSpPr/>
          <p:nvPr/>
        </p:nvSpPr>
        <p:spPr>
          <a:xfrm>
            <a:off x="857250" y="3352800"/>
            <a:ext cx="4762500" cy="34290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7250" y="3448050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>
                <a:solidFill>
                  <a:srgbClr val="FFFFFF"/>
                </a:solidFill>
                <a:latin typeface="Roboto"/>
              </a:rPr>
              <a:t>hipervisor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2500" y="2990850"/>
            <a:ext cx="1428750" cy="342900"/>
          </a:xfrm>
          <a:prstGeom prst="roundRect">
            <a:avLst>
              <a:gd name="adj" fmla="val 5555"/>
            </a:avLst>
          </a:prstGeom>
          <a:solidFill>
            <a:srgbClr val="FDEAE3"/>
          </a:solidFill>
          <a:ln w="127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2500" y="30861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E94D1C"/>
                </a:solidFill>
                <a:latin typeface="Roboto"/>
              </a:rPr>
              <a:t>SO convidado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2500" y="27051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2500" y="27622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2500" y="24193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2500" y="24765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24125" y="2990850"/>
            <a:ext cx="1428750" cy="342900"/>
          </a:xfrm>
          <a:prstGeom prst="roundRect">
            <a:avLst>
              <a:gd name="adj" fmla="val 5555"/>
            </a:avLst>
          </a:prstGeom>
          <a:solidFill>
            <a:srgbClr val="FDEAE3"/>
          </a:solidFill>
          <a:ln w="127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24125" y="30861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E94D1C"/>
                </a:solidFill>
                <a:latin typeface="Roboto"/>
              </a:rPr>
              <a:t>SO convidado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524125" y="27051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4125" y="27622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524125" y="24193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24125" y="24765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B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095750" y="2990850"/>
            <a:ext cx="1428750" cy="342900"/>
          </a:xfrm>
          <a:prstGeom prst="roundRect">
            <a:avLst>
              <a:gd name="adj" fmla="val 5555"/>
            </a:avLst>
          </a:prstGeom>
          <a:solidFill>
            <a:srgbClr val="FDEAE3"/>
          </a:solidFill>
          <a:ln w="127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95750" y="30861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E94D1C"/>
                </a:solidFill>
                <a:latin typeface="Roboto"/>
              </a:rPr>
              <a:t>SO convidado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95750" y="27051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095750" y="27622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95750" y="24193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95750" y="24765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72250" y="2114550"/>
            <a:ext cx="4762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72250" y="4076700"/>
            <a:ext cx="4762500" cy="3238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72250" y="4162425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hardware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72250" y="3714750"/>
            <a:ext cx="4762500" cy="342900"/>
          </a:xfrm>
          <a:prstGeom prst="rect">
            <a:avLst/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72250" y="3810000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kernel do host, compartilhado por todos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72250" y="3352800"/>
            <a:ext cx="4762500" cy="34290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72250" y="3448050"/>
            <a:ext cx="476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>
                <a:solidFill>
                  <a:srgbClr val="FFFFFF"/>
                </a:solidFill>
                <a:latin typeface="Roboto"/>
              </a:rPr>
              <a:t>Docker Engine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67500" y="30480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67500" y="31051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667500" y="27622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67500" y="28194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39125" y="30480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39125" y="31051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239125" y="27622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39125" y="28194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B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810750" y="304800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810750" y="310515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bibliotecas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810750" y="2762250"/>
            <a:ext cx="1428750" cy="266700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10750" y="2819400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app 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7250" y="4514850"/>
            <a:ext cx="4762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3A3A44"/>
                </a:solidFill>
                <a:latin typeface="Roboto"/>
              </a:rPr>
              <a:t>Um kernel inteiro para cada serviço. A fronteira é imposta pelo hardware.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72250" y="4514850"/>
            <a:ext cx="4762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3A3A44"/>
                </a:solidFill>
                <a:latin typeface="Roboto"/>
              </a:rPr>
              <a:t>Um kernel só, dividido entre todos. A fronteira é a interface de chamadas de sistema.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85800" y="5676321"/>
            <a:ext cx="28575" cy="45777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76300" y="5657271"/>
            <a:ext cx="10629900" cy="591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A CVE-2019-5736 confirmou o risco: o processo de dentro conseguia sobrescrever o binário do runtime. Por isso o documento de decisões arquiteturais precisa registrar que container não dá o mesmo isolamento de uma máquina virtual.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Alternativas consideradas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602230"/>
            <a:ext cx="21907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OPÇÃO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48000" y="2602230"/>
            <a:ext cx="3429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A FAVOR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67500" y="2602230"/>
            <a:ext cx="4762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CONTRA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830830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983230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Instalação manual pelo README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48000" y="2983230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Custo zero para começar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67500" y="2983230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Quebra na primeira divergência de versão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509391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633216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VM compartilhada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8000" y="3633216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Isolamento imposto em hardware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67500" y="3633216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Pesada e difícil de versionar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958209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082034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Podman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48000" y="4082034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Mesmo modelo, sem daemon root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67500" y="4082034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Menos material e menos gente do time conhece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4407027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71500" y="4473702"/>
            <a:ext cx="28575" cy="3238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530852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E94D1C"/>
                </a:solidFill>
                <a:latin typeface="Roboto"/>
              </a:rPr>
              <a:t>Compose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48000" y="4530852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Ambiente igual para os quatro integrantes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67500" y="4530852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Acrescenta uma camada de build e de orquestração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4855845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Quando não compensa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559368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OS QUATRO CRITÉRIOS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768918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31586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05466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monolito num servidor só, que nunca vai escalar.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68941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585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time sem integração contínua, para quem é só um passo de build a mais.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4841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38016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Uma aplicação sensível a latência de cauda.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501491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491089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sistema dominado por estado.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2559368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ONDE NÓS ESTAMOS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62700" y="2768918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1750" y="31586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305466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Dois dos quatro se aplicam a nós, porque não temos integração contínua definida nem hospedagem decidida.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1750" y="42174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411346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motivo para adotar é o ambiente igual para os quatro antes da primeira linha de código.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Vantagens e limitações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9263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VANTAGENS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20218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58699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48793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Uma responsabilidade por imagem, com a fronteira declarada.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33756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2385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O ambiente fica descrito num arquivo legível, versionado junto com o código.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08813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398907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Trocar runtime ou banco é editar uma linha do arquivo.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45872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448818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A mesma imagem roda no notebook, no pipeline e na apresentação do produto.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4850" y="533781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1550" y="523875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Dá para replicar só a API, se o caminho do convite público for mesmo sem estado.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2700" y="199263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LIMITAÇÕES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2700" y="220218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81750" y="258699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248793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Uma superfície de ataque nova, na imagem base e no privilégio de execução.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81750" y="333756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8450" y="32385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I/O mais lento, principalmente nas máquinas Windows.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81750" y="383667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48450" y="37376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Container com estado continua exigindo backup e upgrade de versão maior do banco.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81750" y="45872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48450" y="448818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A1A1E"/>
                </a:solidFill>
                <a:latin typeface="Roboto"/>
              </a:rPr>
              <a:t>Uma camada a mais de build e orquestração para os quatro aprenderem.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mudou no ambiente do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7250" y="2409825"/>
            <a:ext cx="4762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21049A"/>
                </a:solidFill>
                <a:latin typeface="Roboto"/>
              </a:rPr>
              <a:t>NO COMEÇO DO PROJETO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2619375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57250" y="2790825"/>
            <a:ext cx="4762500" cy="1752600"/>
          </a:xfrm>
          <a:prstGeom prst="roundRect">
            <a:avLst>
              <a:gd name="adj" fmla="val 3260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800" y="29622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 Mono"/>
              </a:rPr>
              <a:t># .gitattributes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800" y="31908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*.sh text eol=lf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6800" y="34194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6800" y="36480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6800" y="38766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6800" y="41052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7250" y="4695825"/>
            <a:ext cx="4762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Uma linha no repositório, necessária porque o Git Bash falha no Windows sem ela. Os ambientes do time já divergiam antes do primeiro código do produto.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2250" y="2409825"/>
            <a:ext cx="4762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E94D1C"/>
                </a:solidFill>
                <a:latin typeface="Roboto"/>
              </a:rPr>
              <a:t>AGORA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72250" y="2619375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72250" y="2790825"/>
            <a:ext cx="4762500" cy="1752600"/>
          </a:xfrm>
          <a:prstGeom prst="roundRect">
            <a:avLst>
              <a:gd name="adj" fmla="val 3260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81800" y="29622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 Mono"/>
              </a:rPr>
              <a:t># docker-compose.yml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1800" y="31908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services: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34194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api: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81800" y="36480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node:22-alpine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81800" y="38766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db: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1800" y="4105275"/>
            <a:ext cx="4381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postgres:16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72250" y="4695825"/>
            <a:ext cx="4762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Um arquivo que descreve o ambiente inteiro e que qualquer um dos quatro sobe com um comando. Esse arquivo é a base do diagrama de implantação.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Referências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08616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1992059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Open Container Initiative. Runtime Spec, Image Spec e Distribution Spec. Linux Foundation, fundada em 2015.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255365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459546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WIGGINS, A. The Twelve-Factor App, 2011.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0211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2927032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FELTER, W. et al. An updated performance comparison of virtual machines and Linux containers. IBM Research Report, 2015.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37275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3633407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MERKEL, D. Docker: lightweight Linux containers for consistent development and deployment. Linux Journal, 2014.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419500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4100894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NIST SP 800-190. Application Container Security Guide.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4850" y="466248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1550" y="4568380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SOMMERVILLE, I. Engenharia de Software. 6. ed. Addison Wesley, 2004.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4850" y="512997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1550" y="5035868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FOWLER, M. Patterns of Enterprise Application Architecture. Addison Wesley, 2002.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4850" y="559746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1550" y="5503355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FARIAS, K. Aula 03, Arquiteturas em Camadas. Aula 05, Arquiteturas Baseadas em Componentes.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Referências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unisinos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ema unisinos" id="{0EDEEB91-0736-441F-A7F5-4FA5717EFDDE}" vid="{6FB48B3F-96BA-4BC3-92BE-A09E0B32FF42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585AD953FC666642937FCE52CC8B4A6A" ma:contentTypeVersion="21" ma:contentTypeDescription="Crie um novo documento." ma:contentTypeScope="" ma:versionID="a0f0a53631578753e0de4c39d7473101">
  <xsd:schema xmlns:xsd="http://www.w3.org/2001/XMLSchema" xmlns:xs="http://www.w3.org/2001/XMLSchema" xmlns:p="http://schemas.microsoft.com/office/2006/metadata/properties" xmlns:ns2="5fb5f026-dc7b-485f-82fe-577aafb4abaa" xmlns:ns3="9970e0e6-68bd-454a-b013-2dc3f312d27d" targetNamespace="http://schemas.microsoft.com/office/2006/metadata/properties" ma:root="true" ma:fieldsID="1cb42779a8c523c71ef9e1ae6bb42114" ns2:_="" ns3:_="">
    <xsd:import namespace="5fb5f026-dc7b-485f-82fe-577aafb4abaa"/>
    <xsd:import namespace="9970e0e6-68bd-454a-b013-2dc3f312d2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  <xsd:element ref="ns2:MediaServiceBillingMetadata" minOccurs="0"/>
                <xsd:element ref="ns2:Na_x0020_sua_x0020_vis_x00e3_o_x002c__x0020_qual_x0020__x00e9__x0020_o_x0020_principal_x0020_diferencial_x0020_dos_x0020_cursos_x0020_em_x0020_rela_x00e7__x00e3_o_x0020_a_x0020_outras_x0020_especializa_x00e7__x00f5_es_x0020_semelhantes_x0020_no_x0020_Brasil_x003f_"/>
                <xsd:element ref="ns2: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fb5f026-dc7b-485f-82fe-577aafb4aba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Marcações de imagem" ma:readOnly="false" ma:fieldId="{5cf76f15-5ced-4ddc-b409-7134ff3c332f}" ma:taxonomyMulti="true" ma:sspId="aac08c5c-6fe0-4712-b828-e958a9361e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  <xsd:element name="Na_x0020_sua_x0020_vis_x00e3_o_x002c__x0020_qual_x0020__x00e9__x0020_o_x0020_principal_x0020_diferencial_x0020_dos_x0020_cursos_x0020_em_x0020_rela_x00e7__x00e3_o_x0020_a_x0020_outras_x0020_especializa_x00e7__x00f5_es_x0020_semelhantes_x0020_no_x0020_Brasil_x003f_" ma:index="26" ma:displayName="Na sua visão, qual é o principal diferencial dos cursos em relação a outras especializações semelhantes no Brasil?" ma:internalName="Na_x0020_sua_x0020_vis_x00e3_o_x002c__x0020_qual_x0020__x00e9__x0020_o_x0020_principal_x0020_diferencial_x0020_dos_x0020_cursos_x0020_em_x0020_rela_x00e7__x00e3_o_x0020_a_x0020_outras_x0020_especializa_x00e7__x00f5_es_x0020_semelhantes_x0020_no_x0020_Brasil_x003f_">
      <xsd:simpleType>
        <xsd:restriction base="dms:Note">
          <xsd:maxLength value="255"/>
        </xsd:restriction>
      </xsd:simpleType>
    </xsd:element>
    <xsd:element 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 ma:index="27" ma:displayName="Que tipo de profissional você acredita que mais se beneficia deste curso hoje (perfil técnico, momento de carreira, lacunas que o curso supre)?" ma:internal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970e0e6-68bd-454a-b013-2dc3f312d27d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04e90fd-b40d-4e8a-9052-aed8cdd6606b}" ma:internalName="TaxCatchAll" ma:showField="CatchAllData" ma:web="9970e0e6-68bd-454a-b013-2dc3f312d2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fb5f026-dc7b-485f-82fe-577aafb4abaa">
      <Terms xmlns="http://schemas.microsoft.com/office/infopath/2007/PartnerControls"/>
    </lcf76f155ced4ddcb4097134ff3c332f>
    <TaxCatchAll xmlns="9970e0e6-68bd-454a-b013-2dc3f312d27d" xsi:nil="true"/>
    <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 xmlns="5fb5f026-dc7b-485f-82fe-577aafb4abaa">a</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>
    <Na_x0020_sua_x0020_vis_x00e3_o_x002c__x0020_qual_x0020__x00e9__x0020_o_x0020_principal_x0020_diferencial_x0020_dos_x0020_cursos_x0020_em_x0020_rela_x00e7__x00e3_o_x0020_a_x0020_outras_x0020_especializa_x00e7__x00f5_es_x0020_semelhantes_x0020_no_x0020_Brasil_x003f_ xmlns="5fb5f026-dc7b-485f-82fe-577aafb4abaa">a</Na_x0020_sua_x0020_vis_x00e3_o_x002c__x0020_qual_x0020__x00e9__x0020_o_x0020_principal_x0020_diferencial_x0020_dos_x0020_cursos_x0020_em_x0020_rela_x00e7__x00e3_o_x0020_a_x0020_outras_x0020_especializa_x00e7__x00f5_es_x0020_semelhantes_x0020_no_x0020_Brasil_x003f_>
  </documentManagement>
</p:properties>
</file>

<file path=customXml/itemProps1.xml><?xml version="1.0" encoding="utf-8"?>
<ds:datastoreItem xmlns:ds="http://schemas.openxmlformats.org/officeDocument/2006/customXml" ds:itemID="{8EFE6DF0-C827-427D-A5C4-577D5E296F4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fb5f026-dc7b-485f-82fe-577aafb4abaa"/>
    <ds:schemaRef ds:uri="9970e0e6-68bd-454a-b013-2dc3f312d2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504F551-2F4B-4ED5-8A86-9AF9523DAD5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D329F00-2A8C-46E7-9764-248AFFF1202A}">
  <ds:schemaRefs>
    <ds:schemaRef ds:uri="http://purl.org/dc/elements/1.1/"/>
    <ds:schemaRef ds:uri="http://schemas.openxmlformats.org/package/2006/metadata/core-properties"/>
    <ds:schemaRef ds:uri="http://purl.org/dc/terms/"/>
    <ds:schemaRef ds:uri="5fb5f026-dc7b-485f-82fe-577aafb4abaa"/>
    <ds:schemaRef ds:uri="http://schemas.microsoft.com/office/2006/documentManagement/types"/>
    <ds:schemaRef ds:uri="http://schemas.microsoft.com/office/infopath/2007/PartnerControls"/>
    <ds:schemaRef ds:uri="http://schemas.microsoft.com/office/2006/metadata/properties"/>
    <ds:schemaRef ds:uri="9970e0e6-68bd-454a-b013-2dc3f312d27d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tema unisinos</Template>
  <TotalTime>60</TotalTime>
  <Words>1142</Words>
  <Application>Microsoft Office PowerPoint</Application>
  <PresentationFormat>Widescreen</PresentationFormat>
  <Paragraphs>120</Paragraphs>
  <Slides>15</Slides>
  <Notes>2</Notes>
  <HiddenSlides>1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6" baseType="lpstr">
      <vt:lpstr>tema unisinos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TÍTULO TÍTULO</vt:lpstr>
      <vt:lpstr>Apresentação do PowerPoint</vt:lpstr>
      <vt:lpstr>Apresentação do PowerPoint</vt:lpstr>
      <vt:lpstr>TÍTULO TÍTULO TÍTULO TÍTULO TÍTULO TÍTULO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Marcelo Krause de Verney</dc:creator>
  <cp:lastModifiedBy>Roberto Ferrari</cp:lastModifiedBy>
  <cp:revision>15</cp:revision>
  <dcterms:created xsi:type="dcterms:W3CDTF">2012-07-30T23:50:35Z</dcterms:created>
  <dcterms:modified xsi:type="dcterms:W3CDTF">2026-03-06T20:44:32Z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0x010100585AD953FC666642937FCE52CC8B4A6A</vt:lpwstr>
  </property>
  <property fmtid="{D5CDD505-2E9C-101B-9397-08002B2CF9AE}" pid="3" name="MediaServiceImageTags">
    <vt:lpwstr/>
  </property>
</Properties>
</file>