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  <p:sldId id="280" r:id="rId35"/>
    <p:sldId id="281" r:id="rId36"/>
    <p:sldId id="282" r:id="rId37"/>
    <p:sldId id="283" r:id="rId38"/>
    <p:sldId id="284" r:id="rId39"/>
    <p:sldId id="285" r:id="rId4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Relationship Id="rId35" Type="http://schemas.openxmlformats.org/officeDocument/2006/relationships/slide" Target="slides/slide25.xml"/><Relationship Id="rId36" Type="http://schemas.openxmlformats.org/officeDocument/2006/relationships/slide" Target="slides/slide26.xml"/><Relationship Id="rId37" Type="http://schemas.openxmlformats.org/officeDocument/2006/relationships/slide" Target="slides/slide27.xml"/><Relationship Id="rId38" Type="http://schemas.openxmlformats.org/officeDocument/2006/relationships/slide" Target="slides/slide28.xml"/><Relationship Id="rId39" Type="http://schemas.openxmlformats.org/officeDocument/2006/relationships/slide" Target="slides/slide29.xml"/><Relationship Id="rId40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ckup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SEMINÁRIO T1 · TECNOLOGIAS EMERGENTES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Docker e</a:t>
            </a:r>
          </a:p>
          <a:p>
            <a:pPr>
              <a:lnSpc>
                <a:spcPct val="102000"/>
              </a:lnSpc>
            </a:pPr>
            <a:r>
              <a:rPr sz="5250" b="1" i="0">
                <a:solidFill>
                  <a:srgbClr val="FFFFFF"/>
                </a:solidFill>
                <a:latin typeface="Roboto"/>
              </a:rPr>
              <a:t>conteinerização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Como o empacotamento em containers se aplica ao projeto Invite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Tiago Passos · Guilherme Toebe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 · Gabriel Tomasi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53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053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4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4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08 de setembro</a:t>
            </a:r>
          </a:p>
          <a:p>
            <a:pPr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Invite People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4456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336673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É um app web de convites virtuais, onde o convidado confirma presença e o anfitrião consolida as restrições alimentares.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2846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175635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São duas superfícies sobre o mesmo Model, o convite público, que não pede login, e o painel do anfitrião.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12356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01459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arquitetura já está registrada no Guia da Arquitetura, com MVC no front-end e três camadas no back-end.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85355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Questão Norteadora da Sprint 2, que é a pergunta que a sprint precisa responder, é como os componentes serão distribuídos e implantados no ambiente de execução.</a:t>
            </a:r>
          </a:p>
        </p:txBody>
      </p:sp>
      <p:sp>
        <p:nvSpPr>
          <p:cNvPr id="13" name="Donut 12"/>
          <p:cNvSpPr/>
          <p:nvPr/>
        </p:nvSpPr>
        <p:spPr>
          <a:xfrm>
            <a:off x="9124950" y="2336673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72600" y="2346198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ESTAMOS HOJE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24950" y="2622423"/>
            <a:ext cx="38100" cy="1033272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34500" y="2622423"/>
            <a:ext cx="2171700" cy="16047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As três camadas do back-end já estão decididas.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Falta decidir em quantos processos separados elas vão rodar.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Introdução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448050"/>
            <a:ext cx="1676400" cy="2476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53500" y="3143250"/>
            <a:ext cx="1676400" cy="247650"/>
          </a:xfrm>
          <a:prstGeom prst="roundRect">
            <a:avLst/>
          </a:prstGeom>
          <a:solidFill>
            <a:srgbClr val="C044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953500" y="2838450"/>
            <a:ext cx="1676400" cy="2476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Definições e arquitetura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Antes de decidir onde cada parte roda, o que o kernel faz quando alguém digita docker run e por que a imagem é em camadas.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Definições e arquitetura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LINHA DO TEMPO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Marcos do isolamento de processos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82486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1979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2950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chroot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28257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31571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8721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primeiro namespace no kernel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4029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77343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34493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cgroups no mainline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198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23114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80264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Docker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65571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8886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6036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primeiras especificações comuns de container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11343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4657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71807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containerd na CNCF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657114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60429" y="3238500"/>
            <a:ext cx="1545771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2022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7579" y="3505200"/>
            <a:ext cx="1431471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090" b="0" i="0">
                <a:solidFill>
                  <a:srgbClr val="3A3A44"/>
                </a:solidFill>
                <a:latin typeface="Roboto"/>
              </a:rPr>
              <a:t>Kubernetes remove o dockershim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629150"/>
            <a:ext cx="28575" cy="47777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isolamento de processos existe desde 1979. O que é recente é a padronização da cadeia de execução, a partir de 2015.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DUAS DEFINIÇÕES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Container e imagem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CONTAINER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9335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ou mais processos executados com visão isolada por namespaces, consumo limitado por cgroups e privilégio reduzido por capabilities e seccomp, sobre um sistema de arquivos raiz próprio.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62700" y="27239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IMAGEM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62700" y="29335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Conjunto ordenado de camadas de sistema de arquivos mais a configuração de execução, identificado por um digest, que é o hash do próprio conteúdo.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São essas duas definições que decidem o desenho do diagrama de implantação, com a imagem entrando como artefato e o container como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Definições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PROCESSO VISTO DO HOST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Um container é um processo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 a visão restringida por namespaces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083118"/>
            <a:ext cx="10820400" cy="3286125"/>
          </a:xfrm>
          <a:prstGeom prst="roundRect">
            <a:avLst>
              <a:gd name="adj" fmla="val 2318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292668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235518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578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run -d --name web nginx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816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ps -eo pid,comm | grep nginx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054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4821 nginx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2927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5309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lsns -p 4821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7690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       NS TYPE   NPROCS   PID USER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0071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4026532191 mnt         3  4821 root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24529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4026532192 uts         3  4821 root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48341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4026532193 ipc         3  4821 root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721542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4026532194 pid         3  4821 root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959668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4026532196 net         3  4821 root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5597842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6300" y="5578792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Saída da distro docker-desktop do WSL. O mesmo processo tem PID 1 dentro do container e outro PID no host, que é o que o namespace de PID faz. É por isso que no nosso diagrama de implantação o container aparece dentro do host, e não como máquina separada.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OS DOIS MECANISMOS DO KERNEL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Namespaces e cgroups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fazem coisas diferentes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NAMESPACES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mnt dá ao processo uma árvore de montagem própria.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pid faz o processo enxergar a si mesmo como PID 1.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namespace net dá uma pilha de rede própria, e é por isso que dois containers conseguem escutar na mesma porta.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3088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20484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é o mecanismo que permite o front-end, a API e o banco do projeto rodarem no mesmo host sem conflito de porta.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CGROUPS V2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cgroups não isolam nada, eles contabilizam e limitam o consumo de recursos.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Quando o processo estoura o limite de memória ele não fica lento, o kernel mata ele.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limite de CPU não mata, ele freia o processo, o que piora as requisições mais lentas e quase não mexe na média, por isso é mais difícil de perceber.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ESTRUTURA DA IMAGEM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Camadas somente leitura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a camada de escrita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362200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60">
                <a:solidFill>
                  <a:srgbClr val="6B6B78"/>
                </a:solidFill>
                <a:latin typeface="Roboto"/>
              </a:rPr>
              <a:t>CAMADAS DE UMA IMAGEM E DO CONTAINER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40767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7750" y="42100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camada base (debian, alpine)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57250" y="35814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37147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dependências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3086100"/>
            <a:ext cx="342900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321945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"/>
              </a:rPr>
              <a:t>código da aplicação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00550" y="3086100"/>
            <a:ext cx="28575" cy="1428750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2950" y="4648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as três de baixo são somente leitura, endereçadas por digest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2533650"/>
            <a:ext cx="3429000" cy="495300"/>
          </a:xfrm>
          <a:prstGeom prst="roundRect">
            <a:avLst>
              <a:gd name="adj" fmla="val 7692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7750" y="2628900"/>
            <a:ext cx="3048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0">
                <a:solidFill>
                  <a:srgbClr val="E94D1C"/>
                </a:solidFill>
                <a:latin typeface="Roboto"/>
              </a:rPr>
              <a:t>camada de escrita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" y="2809875"/>
            <a:ext cx="3048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criada pelo container, morre com ele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57750" y="2476500"/>
            <a:ext cx="0" cy="215265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5257800" y="293370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copy-up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320040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alterar um byte de um arquivo grande copia o arquivo inteiro para cima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771900"/>
            <a:ext cx="36195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 i="0">
                <a:solidFill>
                  <a:srgbClr val="21049A"/>
                </a:solidFill>
                <a:latin typeface="Roboto"/>
              </a:rPr>
              <a:t>whiteout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4038600"/>
            <a:ext cx="3810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apagar cria uma marcação, o arquivo continua na camada de baixo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85800" y="56763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6300" y="56572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Um Dockerfile que copia um .env e faz RUN rm na instrução seguinte produz uma imagem em que o segredo continua legível. No nosso caso o segredo seria a senha do banco e o segredo de sessão do login do anfitrião, o UC001.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 PILHA DE EXECUÇÃO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CLI, dockerd, containerd,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shim e runc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57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57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 CLI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cliente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52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52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dockerd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09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daemon, roda como root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8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048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48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containerd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5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ciclo de vida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724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1437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437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shim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009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um por container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199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239250" y="3381375"/>
            <a:ext cx="1771650" cy="628650"/>
          </a:xfrm>
          <a:prstGeom prst="roundRect">
            <a:avLst>
              <a:gd name="adj" fmla="val 7575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9250" y="3495675"/>
            <a:ext cx="17716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FFFFFF"/>
                </a:solidFill>
                <a:latin typeface="Roboto"/>
              </a:rPr>
              <a:t>runc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96400" y="3705225"/>
            <a:ext cx="165735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0" i="0">
                <a:solidFill>
                  <a:srgbClr val="FFFFFF"/>
                </a:solidFill>
                <a:latin typeface="Roboto"/>
              </a:rPr>
              <a:t>cria e sai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915400" y="3695700"/>
            <a:ext cx="323850" cy="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667250" y="3133725"/>
            <a:ext cx="857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>
                <a:solidFill>
                  <a:srgbClr val="21049A"/>
                </a:solidFill>
                <a:latin typeface="Roboto"/>
              </a:rPr>
              <a:t>gRPC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6300" y="447522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4391025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shim é pai do container e não filho do daemon. Foi esse desenho que fez reiniciar o daemon deixar de matar os containers em execução.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6300" y="509320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009007"/>
            <a:ext cx="96202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Cada peça tem uma responsabilidade e pode ser trocada por outra que respeite a mesma interface.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RESTRIÇÃO DE PRIVILÉGIO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Capabilities, seccomp e LSM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Capabilities fatiam o root do POSIX em privilégios independentes, que podem ser derrubados e devolvidos um a um.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perfil padrão de seccomp-bpf bloqueia parte das chamadas de sistema disponíveis.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AppArmor ou SELinux entram por cima de tudo, pelo módulo de segurança do próprio kernel.</a:t>
            </a:r>
          </a:p>
        </p:txBody>
      </p:sp>
      <p:sp>
        <p:nvSpPr>
          <p:cNvPr id="11" name="Isosceles Triangle 10"/>
          <p:cNvSpPr/>
          <p:nvPr/>
        </p:nvSpPr>
        <p:spPr>
          <a:xfrm>
            <a:off x="9124950" y="2894457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93530" y="2951607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CUIDADO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24950" y="3180207"/>
            <a:ext cx="38100" cy="603504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34500" y="3180207"/>
            <a:ext cx="2171700" cy="11750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opção --privileged devolve tudo de uma vez e ainda desliga o seccomp.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01 · Arquitetura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PADRONIZAÇÃO, DESDE 2015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Docker implementa as</a:t>
            </a:r>
          </a:p>
          <a:p>
            <a:pPr>
              <a:lnSpc>
                <a:spcPct val="106000"/>
              </a:lnSpc>
            </a:pPr>
            <a:r>
              <a:rPr sz="3450" b="1" i="0">
                <a:solidFill>
                  <a:srgbClr val="FFFFFF"/>
                </a:solidFill>
                <a:latin typeface="Roboto"/>
              </a:rPr>
              <a:t>especificações da OCI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Fundada em 2015 sob a Linux Foundation, com a Runtime Spec, a Image Spec e a Distribution Spec. O runc é trocável por crun, gVisor ou Kata. O engine é trocável por Podman. É substituibilidade por compatibilidade de interface, e a seção 03 traz um caso real disso.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01 · Arquitetura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3048000"/>
            <a:ext cx="590550" cy="59055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ight Arrow 4"/>
          <p:cNvSpPr/>
          <p:nvPr/>
        </p:nvSpPr>
        <p:spPr>
          <a:xfrm>
            <a:off x="9658350" y="3219450"/>
            <a:ext cx="419100" cy="247650"/>
          </a:xfrm>
          <a:prstGeom prst="rightArrow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191750" y="3048000"/>
            <a:ext cx="590550" cy="59055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Aplicação no Invite People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Mapeamento entre os diagramas da Sprint 2 e o arquivo de compose, com o número de cada task.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CAMADA LÓGICA E TIER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As mesmas três camadas lógicas,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empacotadas de três jeitos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2457450"/>
            <a:ext cx="100012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6B6B78"/>
                </a:solidFill>
                <a:latin typeface="Roboto"/>
              </a:rPr>
              <a:t>AS TRÊS CAMADAS LÓGICAS FICAM SEMPRE NA MESMA IMAGEM. O QUE MUDA É ONDE O FRONT-END E O BANCO RODAM.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705100"/>
            <a:ext cx="2724150" cy="1504950"/>
          </a:xfrm>
          <a:prstGeom prst="roundRect">
            <a:avLst>
              <a:gd name="adj" fmla="val 31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09650" y="27813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9650" y="28384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3067050"/>
            <a:ext cx="24193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38225" y="31813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8225" y="34099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225" y="3638550"/>
            <a:ext cx="2362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09650" y="3886200"/>
            <a:ext cx="24193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9650" y="3943350"/>
            <a:ext cx="24193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1 tier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7250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tudo num processo só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62425" y="2705100"/>
            <a:ext cx="1143000" cy="1504950"/>
          </a:xfrm>
          <a:prstGeom prst="roundRect">
            <a:avLst>
              <a:gd name="adj" fmla="val 4166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95775" y="3371850"/>
            <a:ext cx="8763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95775" y="3429000"/>
            <a:ext cx="8763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95925" y="2705100"/>
            <a:ext cx="1390650" cy="1504950"/>
          </a:xfrm>
          <a:prstGeom prst="roundRect">
            <a:avLst>
              <a:gd name="adj" fmla="val 342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562600" y="2924175"/>
            <a:ext cx="125730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1175" y="30384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1175" y="32670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1175" y="3495675"/>
            <a:ext cx="12001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29275" y="3762375"/>
            <a:ext cx="112395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629275" y="3819525"/>
            <a:ext cx="11239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62425" y="4324350"/>
            <a:ext cx="27241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2 tiers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62425" y="4533900"/>
            <a:ext cx="27241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front-end separado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23900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35330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5330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05800" y="2705100"/>
            <a:ext cx="1619250" cy="1504950"/>
          </a:xfrm>
          <a:prstGeom prst="roundRect">
            <a:avLst>
              <a:gd name="adj" fmla="val 3164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420100" y="3067050"/>
            <a:ext cx="1390650" cy="781050"/>
          </a:xfrm>
          <a:prstGeom prst="roundRect">
            <a:avLst>
              <a:gd name="adj" fmla="val 3658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48675" y="31813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Apresentação e API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48675" y="34099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Domínio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48675" y="3638550"/>
            <a:ext cx="133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21049A"/>
                </a:solidFill>
                <a:latin typeface="Roboto"/>
              </a:rPr>
              <a:t>Dados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53650" y="2705100"/>
            <a:ext cx="838200" cy="1504950"/>
          </a:xfrm>
          <a:prstGeom prst="roundRect">
            <a:avLst>
              <a:gd name="adj" fmla="val 5681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267950" y="3371850"/>
            <a:ext cx="609600" cy="247650"/>
          </a:xfrm>
          <a:prstGeom prst="roundRect">
            <a:avLst>
              <a:gd name="adj" fmla="val 11538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67950" y="3429000"/>
            <a:ext cx="609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39000" y="4324350"/>
            <a:ext cx="375285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1" i="0">
                <a:solidFill>
                  <a:srgbClr val="21049A"/>
                </a:solidFill>
                <a:latin typeface="Roboto"/>
              </a:rPr>
              <a:t>3 tiers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9000" y="4533900"/>
            <a:ext cx="3752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6B6B78"/>
                </a:solidFill>
                <a:latin typeface="Roboto"/>
              </a:rPr>
              <a:t>banco isolado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85800" y="5428381"/>
            <a:ext cx="28575" cy="70571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6300" y="5409331"/>
            <a:ext cx="10629900" cy="8390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Nenhuma das três muda uma linha do projeto lógico. Todas mudam o empacotamento, e essa escolha é entrada do ADR, o documento de decisões arquiteturais da Sprint 2. Cuidado com o vocabulário: Docker usa </a:t>
            </a:r>
            <a:r>
              <a:rPr sz="1280" b="0" i="1">
                <a:solidFill>
                  <a:srgbClr val="3A3A44"/>
                </a:solidFill>
                <a:latin typeface="Roboto"/>
              </a:rPr>
              <a:t>layer</a:t>
            </a:r>
            <a:r>
              <a:rPr sz="1280" b="0" i="0">
                <a:solidFill>
                  <a:srgbClr val="3A3A44"/>
                </a:solidFill>
                <a:latin typeface="Roboto"/>
              </a:rPr>
              <a:t> para o empilhamento do sistema de arquivos da imagem, que não tem relação com a camada lógica da Aula 03.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MODELAGEM UML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No diagrama de implantação, o container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é um nó e a imagem é um artefato</a:t>
            </a:r>
          </a:p>
        </p:txBody>
      </p:sp>
      <p:sp>
        <p:nvSpPr>
          <p:cNvPr id="5" name="Rectangle 4"/>
          <p:cNvSpPr/>
          <p:nvPr/>
        </p:nvSpPr>
        <p:spPr>
          <a:xfrm>
            <a:off x="857250" y="2771775"/>
            <a:ext cx="3810000" cy="2286000"/>
          </a:xfrm>
          <a:prstGeom prst="rect">
            <a:avLst/>
          </a:prstGeom>
          <a:noFill/>
          <a:ln w="317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47750" y="2924175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40">
                <a:solidFill>
                  <a:srgbClr val="21049A"/>
                </a:solidFill>
                <a:latin typeface="Roboto"/>
              </a:rPr>
              <a:t>«device»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7750" y="3114675"/>
            <a:ext cx="3429000" cy="289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420" b="1" i="0">
                <a:solidFill>
                  <a:srgbClr val="21049A"/>
                </a:solidFill>
                <a:latin typeface="Roboto"/>
              </a:rPr>
              <a:t>Host de desenvolvimento</a:t>
            </a:r>
          </a:p>
        </p:txBody>
      </p:sp>
      <p:sp>
        <p:nvSpPr>
          <p:cNvPr id="8" name="Rectangle 7"/>
          <p:cNvSpPr/>
          <p:nvPr/>
        </p:nvSpPr>
        <p:spPr>
          <a:xfrm>
            <a:off x="1162050" y="3476625"/>
            <a:ext cx="3200400" cy="139065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52550" y="3609975"/>
            <a:ext cx="285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«executionEnvironment»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2550" y="3819525"/>
            <a:ext cx="28575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66850" y="4143375"/>
            <a:ext cx="2590800" cy="552450"/>
          </a:xfrm>
          <a:prstGeom prst="roundRect">
            <a:avLst>
              <a:gd name="adj" fmla="val 5172"/>
            </a:avLst>
          </a:prstGeom>
          <a:solidFill>
            <a:srgbClr val="F2F2F5"/>
          </a:solidFill>
          <a:ln w="1270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57350" y="4257675"/>
            <a:ext cx="22860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60" b="1" i="0" spc="120">
                <a:solidFill>
                  <a:srgbClr val="6B6B78"/>
                </a:solidFill>
                <a:latin typeface="Roboto"/>
              </a:rPr>
              <a:t>«artifact»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57350" y="4448175"/>
            <a:ext cx="2286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1A1A1E"/>
                </a:solidFill>
                <a:latin typeface="Roboto"/>
              </a:rPr>
              <a:t>imagem (tag + digest)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43500" y="2962275"/>
            <a:ext cx="4000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Ambiente de execução é</a:t>
            </a:r>
          </a:p>
          <a:p>
            <a:pPr>
              <a:lnSpc>
                <a:spcPct val="128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uma especialização de nó.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43500" y="3629025"/>
            <a:ext cx="409575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Por isso nunca dizer que container não é nó. O modelo fiel é o container aninhado no host, com a imagem implantada dentro dele.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143500" y="4410075"/>
            <a:ext cx="4095750" cy="0"/>
          </a:xfrm>
          <a:prstGeom prst="line">
            <a:avLst/>
          </a:prstGeom>
          <a:ln w="254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143500" y="4562475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90" b="0" i="0">
                <a:solidFill>
                  <a:srgbClr val="1A1A1E"/>
                </a:solidFill>
                <a:latin typeface="Roboto"/>
              </a:rPr>
              <a:t>Máquina virtual, essa sim, é um nó novo, com sistema operacional próprio.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RASCUNHOS DOS DOIS DIAGRAMAS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Mapeamento dos componentes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para os nós do diagrama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7250" y="3028950"/>
            <a:ext cx="3810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21049A"/>
                </a:solidFill>
                <a:latin typeface="Roboto"/>
              </a:rPr>
              <a:t>RASCUNHO DO DIAGRAMA DE COMPONENTES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57250" y="3200400"/>
            <a:ext cx="3810000" cy="1866900"/>
          </a:xfrm>
          <a:prstGeom prst="rect">
            <a:avLst/>
          </a:prstGeom>
          <a:noFill/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2395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395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Convite público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3448050"/>
            <a:ext cx="1428750" cy="457200"/>
          </a:xfrm>
          <a:prstGeom prst="roundRect">
            <a:avLst>
              <a:gd name="adj" fmla="val 625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36004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Painel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47875" y="4114800"/>
            <a:ext cx="1428750" cy="419100"/>
          </a:xfrm>
          <a:prstGeom prst="roundRect">
            <a:avLst>
              <a:gd name="adj" fmla="val 6818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47875" y="4248150"/>
            <a:ext cx="14287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0" i="0">
                <a:solidFill>
                  <a:srgbClr val="FFFFFF"/>
                </a:solidFill>
                <a:latin typeface="Roboto"/>
              </a:rPr>
              <a:t>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7875" y="4667250"/>
            <a:ext cx="1428750" cy="285750"/>
          </a:xfrm>
          <a:prstGeom prst="roundRect">
            <a:avLst>
              <a:gd name="adj" fmla="val 10000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47875" y="4733925"/>
            <a:ext cx="142875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838325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H="1">
            <a:off x="2952750" y="3905250"/>
            <a:ext cx="733425" cy="2095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762250" y="4533900"/>
            <a:ext cx="0" cy="133350"/>
          </a:xfrm>
          <a:prstGeom prst="line">
            <a:avLst/>
          </a:prstGeom>
          <a:ln w="25400">
            <a:solidFill>
              <a:srgbClr val="2104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4667250" y="4133850"/>
            <a:ext cx="1524000" cy="0"/>
          </a:xfrm>
          <a:prstGeom prst="line">
            <a:avLst/>
          </a:prstGeom>
          <a:ln w="381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667250" y="3867150"/>
            <a:ext cx="15240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>
                <a:solidFill>
                  <a:srgbClr val="E94D1C"/>
                </a:solidFill>
                <a:latin typeface="Roboto"/>
              </a:rPr>
              <a:t>mapeamento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1250" y="3028950"/>
            <a:ext cx="4000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40">
                <a:solidFill>
                  <a:srgbClr val="E94D1C"/>
                </a:solidFill>
                <a:latin typeface="Roboto"/>
              </a:rPr>
              <a:t>RASCUNHO DO DIAGRAMA DE IMPLANTAÇÃO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1250" y="3200400"/>
            <a:ext cx="3810000" cy="1866900"/>
          </a:xfrm>
          <a:prstGeom prst="rect">
            <a:avLst/>
          </a:prstGeom>
          <a:noFill/>
          <a:ln w="254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1750" y="3314700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>
                <a:solidFill>
                  <a:srgbClr val="E94D1C"/>
                </a:solidFill>
                <a:latin typeface="Roboto"/>
              </a:rPr>
              <a:t>«device» host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817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front-end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5628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819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19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API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485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8743950" y="3543300"/>
            <a:ext cx="1066800" cy="495300"/>
          </a:xfrm>
          <a:prstGeom prst="rect">
            <a:avLst/>
          </a:prstGeom>
          <a:noFill/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763000" y="3619500"/>
            <a:ext cx="1028700" cy="1752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60" b="1" i="0">
                <a:solidFill>
                  <a:srgbClr val="21049A"/>
                </a:solidFill>
                <a:latin typeface="Roboto"/>
              </a:rPr>
              <a:t>«executionEnv»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63000" y="3790950"/>
            <a:ext cx="1028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819" b="0" i="0">
                <a:solidFill>
                  <a:srgbClr val="1A1A1E"/>
                </a:solidFill>
                <a:latin typeface="Roboto"/>
              </a:rPr>
              <a:t>banco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629650" y="3790950"/>
            <a:ext cx="114300" cy="0"/>
          </a:xfrm>
          <a:prstGeom prst="line">
            <a:avLst/>
          </a:prstGeom>
          <a:ln w="2032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6381750" y="4267200"/>
            <a:ext cx="3429000" cy="323850"/>
          </a:xfrm>
          <a:prstGeom prst="roundRect">
            <a:avLst>
              <a:gd name="adj" fmla="val 8823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81750" y="4362450"/>
            <a:ext cx="3429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00" b="0" i="0">
                <a:solidFill>
                  <a:srgbClr val="E94D1C"/>
                </a:solidFill>
                <a:latin typeface="Roboto"/>
              </a:rPr>
              <a:t>rede nomeada, com resolução por nome de serviço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81750" y="4762500"/>
            <a:ext cx="3810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Cada nó vira um serviço no arquivo de compose, com a imagem por tag e digest.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INTERFACES NO ARQUIVO DE COMPOSE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Onde ficam a interface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provida e a requerida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2505075"/>
            <a:ext cx="5905500" cy="2895600"/>
          </a:xfrm>
          <a:prstGeom prst="roundRect">
            <a:avLst>
              <a:gd name="adj" fmla="val 2631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3450" y="27146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services: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3450" y="29622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api: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3450" y="32099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node:22-alpine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3450" y="34575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ports: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37052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- "3000:3000"        # interface provida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450" y="39528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environment: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450" y="42005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  DATABASE_URL: ...    # interface requerida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450" y="44481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depends_on: [db]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450" y="469582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db: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450" y="4943475"/>
            <a:ext cx="55245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1A1A1E"/>
                </a:solidFill>
                <a:latin typeface="Roboto Mono"/>
              </a:rPr>
              <a:t>    image: postgres:16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67550" y="25892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34250" y="2505075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publicada mais o contrato HTTP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provida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pirulito da UML.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67550" y="316915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34250" y="3084957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variável de conexão mais a dependência declarada é a </a:t>
            </a:r>
            <a:r>
              <a:rPr sz="1280" b="1" i="0">
                <a:solidFill>
                  <a:srgbClr val="1A1A1E"/>
                </a:solidFill>
                <a:latin typeface="Roboto"/>
              </a:rPr>
              <a:t>interface requerida</a:t>
            </a:r>
            <a:r>
              <a:rPr sz="1280" b="0" i="0">
                <a:solidFill>
                  <a:srgbClr val="1A1A1E"/>
                </a:solidFill>
                <a:latin typeface="Roboto"/>
              </a:rPr>
              <a:t>, o soquete.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67550" y="37490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34250" y="3664839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porta da UML é literalmente a porta do container, com o mesmo desenho e o mesmo nome.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67550" y="43289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34250" y="4244721"/>
            <a:ext cx="41719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As imagens do arquivo são exemplo. A stack ainda não foi decidida e é assunto do ADR.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A fronteira aumenta a coesão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 muda a forma do acoplamento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COESÃO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7076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imagem passa a ter uma responsabilidade só, que é mais coesão.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45528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35127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código do front-end não está na imagem da API, então a API não depende dele nem por acidente.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25005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14604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Só o serviço de fronteira publica porta, e o banco fica na rede interna sem mapeamento nenhum.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04482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94080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Uma regra escrita na wiki depende de alguém revisar. A mesma regra na topologia é verificada pela estrutura, o que reduz a degradação arquitetural.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06121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ACOPLAMENTO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27076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26605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55651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Entre as nossas três camadas o acoplamento continua igual, porque elas ficam na mesma imagem do back-end.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371932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361530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Onde há separação, o acoplamento não some, muda de forma e passa a ter latência, falha parcial e ordem de subida.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CONSEQUÊNCIA PARA O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convite público e o painel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têm cargas diferentes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Marina é a persona da anfitriã, e a jornada dela descreve o link caindo no grupo da família. Isso é pico no convite público, onde o convidado confirma presença, e uma pessoa só no painel, onde a anfitriã vê a lista.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11899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010025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Replicar só o serviço público faz sentido, e replicar o painel não faz.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813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72381"/>
            <a:ext cx="75819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Para isso valer, o convite público não pode guardar sessão em memória nem gravar upload em disco local.</a:t>
            </a:r>
          </a:p>
        </p:txBody>
      </p:sp>
      <p:sp>
        <p:nvSpPr>
          <p:cNvPr id="11" name="Donut 10"/>
          <p:cNvSpPr/>
          <p:nvPr/>
        </p:nvSpPr>
        <p:spPr>
          <a:xfrm>
            <a:off x="9124950" y="2894457"/>
            <a:ext cx="142875" cy="142875"/>
          </a:xfrm>
          <a:prstGeom prst="donu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EM ABERTO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2344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8059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Mesma imagem de front-end ou imagens separadas?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Entrada direta para os dois diagramas da Sprint 2. Ainda não decidida.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02 · Aplicação no projeto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8953500" y="2876550"/>
            <a:ext cx="704850" cy="762000"/>
          </a:xfrm>
          <a:prstGeom prst="round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829800" y="3219450"/>
            <a:ext cx="704850" cy="419100"/>
          </a:xfrm>
          <a:prstGeom prst="roundRect">
            <a:avLst/>
          </a:prstGeom>
          <a:solidFill>
            <a:srgbClr val="8A3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953500" y="3714750"/>
            <a:ext cx="158115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6300" y="1219200"/>
            <a:ext cx="3810000" cy="198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750" b="1" i="0">
                <a:solidFill>
                  <a:srgbClr val="6E59D2"/>
                </a:solidFill>
                <a:latin typeface="Roboto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105150"/>
            <a:ext cx="8191500" cy="1428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50" b="1" i="0">
                <a:solidFill>
                  <a:srgbClr val="FFFFFF"/>
                </a:solidFill>
                <a:latin typeface="Roboto"/>
              </a:rPr>
              <a:t>Vantagens, desvantagens e demonstração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476750"/>
            <a:ext cx="6858000" cy="1047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 demonstração é do ambiente e da topologia, não do produto. A implementação começa na Sprint 4.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acontece com o dado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quando o container é derrubado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964055"/>
            <a:ext cx="10820400" cy="3524250"/>
          </a:xfrm>
          <a:prstGeom prst="roundRect">
            <a:avLst>
              <a:gd name="adj" fmla="val 2162"/>
            </a:avLst>
          </a:prstGeom>
          <a:solidFill>
            <a:srgbClr val="1212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52500" y="2173605"/>
            <a:ext cx="323850" cy="28575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116455"/>
            <a:ext cx="1905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0" i="0" spc="140">
                <a:solidFill>
                  <a:srgbClr val="8A8A9A"/>
                </a:solidFill>
                <a:latin typeface="Roboto"/>
              </a:rPr>
              <a:t>TERMINAL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2459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up -d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2697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2935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NAME   IMAGE          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2500" y="3173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web    nginx:alpine   Up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2500" y="34118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db     postgres:16    Up (healthy)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2500" y="36499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38881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run --rm client psql -h db -c "create table t(); 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1262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&amp;&amp; docker compose up -d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2500" y="436435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 tabela continua lá, o volume sobreviveu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2500" y="460248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4E4EC"/>
                </a:solidFill>
                <a:latin typeface="Roboto Mono"/>
              </a:rPr>
              <a:t>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4840605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7FE3A1"/>
                </a:solidFill>
                <a:latin typeface="Roboto Mono"/>
              </a:rPr>
              <a:t>$ docker compose down -v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" y="5078730"/>
            <a:ext cx="1028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8A8A9A"/>
                </a:solidFill>
                <a:latin typeface="Roboto Mono"/>
              </a:rPr>
              <a:t># agora o dado some junto com o volume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5716905"/>
            <a:ext cx="28575" cy="37719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6300" y="5697855"/>
            <a:ext cx="106299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 imagem de fundo que a anfitriã envia ao personalizar o convite e o CSV de restrições alimentares que ela exporta não podem morrer junto com o container. A decisão de implantação volta como restrição de projeto para as camadas de cima.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Demonstração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049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br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KUBERNETES 1.24, 2022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A remoção do dockershim</a:t>
            </a:r>
          </a:p>
          <a:p>
            <a:pPr>
              <a:lnSpc>
                <a:spcPct val="106000"/>
              </a:lnSpc>
            </a:pPr>
            <a:r>
              <a:rPr sz="3600" b="1" i="0">
                <a:solidFill>
                  <a:srgbClr val="FFFFFF"/>
                </a:solidFill>
                <a:latin typeface="Roboto"/>
              </a:rPr>
              <a:t>no Kubernetes 1.24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957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O que saiu foi o adaptador embutido que falava com o Docker Engine, não o formato das imagens. Como imagem é OCI, nada quebrou. É um caso real de substituição por compatibilidade de interface.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03 · Estudo de caso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DESVANTAGENS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Limitações e custos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58394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474976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daemon roda como root. Estar no grupo docker equivale a root no host, sem sudo e sem trilha de auditoria.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4229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313938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regra de rede que o Docker escreve passa na frente da do administrador, então um deny de firewall na porta publicada não bloqueia nada.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26186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152900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Container com estado traz junto o problema de backup e o de upgrade de versão maior do banco, que não somem por estar em imagem.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51008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991862"/>
            <a:ext cx="7772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Docker Desktop é pago para empresa acima de certo porte, o que afeta quem for usar isto fora da faculdade.</a:t>
            </a:r>
          </a:p>
        </p:txBody>
      </p:sp>
      <p:sp>
        <p:nvSpPr>
          <p:cNvPr id="13" name="Isosceles Triangle 12"/>
          <p:cNvSpPr/>
          <p:nvPr/>
        </p:nvSpPr>
        <p:spPr>
          <a:xfrm>
            <a:off x="9124950" y="2474976"/>
            <a:ext cx="152400" cy="133350"/>
          </a:xfrm>
          <a:prstGeom prst="triangle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93530" y="2532126"/>
            <a:ext cx="15240" cy="3810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72600" y="2484501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NO NOSSO CASO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4950" y="2760726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34500" y="2760726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Dos quatro, o do daemon como root é o que atinge o projeto hoje, porque os quatro integrantes rodam na própria máquina.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CONTAINER E MÁQUINA VIRTUAL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Comparação pela</a:t>
            </a:r>
          </a:p>
          <a:p>
            <a:pPr>
              <a:lnSpc>
                <a:spcPct val="104000"/>
              </a:lnSpc>
            </a:pPr>
            <a:r>
              <a:rPr sz="2400" b="1" i="0">
                <a:solidFill>
                  <a:srgbClr val="21049A"/>
                </a:solidFill>
                <a:latin typeface="Roboto"/>
              </a:rPr>
              <a:t>superfície de ataque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MÁQUINA VIRTUAL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40277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máquina virtual tem kernel próprio.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entre ela e o host é imposta em hardware.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1180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0140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a superfície de ataque fica relativamente estreita.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2700" y="219322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CONTAINER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62700" y="240277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81750" y="279254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26885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container compartilha o kernel do host.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81750" y="33232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32192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fronteira dele é a interface de chamadas de sistema, que são mais de trezentas, somadas a /proc, /sys e ioctl.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3820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2780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CVE-2019-5736 mostrou o risco na prática, porque o processo de dentro conseguia sobrescrever o binário do runtime pelo /proc/self/exe.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Por isso o ADR precisa registrar que container não dá o mesmo isolamento de uma máquina virtual.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ALTERNATIVAS CONSIDERADAS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Comparação com as outras opções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864739"/>
            <a:ext cx="2190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OPÇÃO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48000" y="2864739"/>
            <a:ext cx="3429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A FAVOR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67500" y="2864739"/>
            <a:ext cx="4762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CONTRA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093339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245739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README nativo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48000" y="3245739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Custo zero para começar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7500" y="3245739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Quebra na primeira divergência de versão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57073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694557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VM compartilhada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48000" y="3694557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Isolamento imposto em hardware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67500" y="3694557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Pesada e difícil de versionar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5800" y="4019550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43375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Podman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8000" y="4143375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Mesmo modelo, sem daemon root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7500" y="4143375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Menos material e menos gente do time conhece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468368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71500" y="4535043"/>
            <a:ext cx="28575" cy="3238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92193"/>
            <a:ext cx="2019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E94D1C"/>
                </a:solidFill>
                <a:latin typeface="Roboto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48000" y="4592193"/>
            <a:ext cx="3257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Ambiente igual para os quatro integrantes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4592193"/>
            <a:ext cx="4591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Acrescenta uma camada de build e de orquestração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85800" y="491718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QUANDO NÃO COMPENSA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Quatro critérios para não conteinerizar,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 a nossa situação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OS QUATRO CRITÉRIOS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66810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primeiro é o monolito que roda num servidor só e nunca vai escalar.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8513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74732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segundo é o time sem integração contínua, que só ganha um passo de build a mais.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terceiro é a aplicação sensível a latência de cauda.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54408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533685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quarto é o sistema dominado por estado.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2700" y="2457260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ONDE NÓS ESTAMOS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62700" y="2666810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81750" y="305657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48450" y="295256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Não temos integração contínua definida nem hospedagem decidida, então dois dos critérios ao lado se aplicam a nós.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81750" y="41153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4011359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motivo que resta é o ambiente igual para quatro integrantes com stacks diferentes, com o banco rodando sem instalação local, antes de escrever a primeira linha.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VANTAGENS E CUSTOS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Efeito nos atributos</a:t>
            </a:r>
          </a:p>
          <a:p>
            <a:pPr>
              <a:lnSpc>
                <a:spcPct val="104000"/>
              </a:lnSpc>
            </a:pPr>
            <a:r>
              <a:rPr sz="2550" b="1" i="0">
                <a:solidFill>
                  <a:srgbClr val="21049A"/>
                </a:solidFill>
                <a:latin typeface="Roboto"/>
              </a:rPr>
              <a:t>de qualidade do projeto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GANHA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19896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Cada imagem tem uma responsabilidade e uma fronteira declarada, que é modularidade e reusabilidade.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O ambiente vira arquivo legível, versionado junto com o código, e com isso ganha compreensibilidade.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401250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918394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Extensibilidade sai barata, porque trocar runtime ou banco é editar uma linha de arquivo.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7188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6247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mesma imagem atravessa notebook, pipeline e a demonstração funcional do T3, o que ajuda a manutenibilidade.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566413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557003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A escalabilidade fica seletiva, e só vale se a aplicação for mesmo sem estado.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2700" y="2010346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CUSTA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62700" y="2219896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81750" y="25997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48450" y="250564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Segurança ganha isolamento e herda uma superfície nova, que é a imagem base e o privilégio de execução.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81750" y="330612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8450" y="3212021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Desempenho custa, principalmente I/O nas máquinas Windows, e a Aula 03 já avisa que camada extra prejudica desempenho.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03 · Vantagens e desvantagens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ENTRADA PARA O ADR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Recomendação do grupo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00342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89445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grupo recomenda adotar conteinerização como estratégia de empacotamento e de ambiente de desenvolvimento, com o custo declarado junto.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384238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733419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diagrama de implantação deixa de ser caixa genérica e passa a ter um arquivo correspondente que roda, e esse arquivo vira artefato do repositório.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95795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848987"/>
            <a:ext cx="76771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stack ainda não está decidida, e o ADR #63 é onde ela será registrada.</a:t>
            </a:r>
          </a:p>
        </p:txBody>
      </p:sp>
      <p:sp>
        <p:nvSpPr>
          <p:cNvPr id="11" name="Chevron 10"/>
          <p:cNvSpPr/>
          <p:nvPr/>
        </p:nvSpPr>
        <p:spPr>
          <a:xfrm>
            <a:off x="9124950" y="2903982"/>
            <a:ext cx="142875" cy="123825"/>
          </a:xfrm>
          <a:prstGeom prst="chevron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2903982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PRÓXIMO PASSO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24950" y="3180207"/>
            <a:ext cx="38100" cy="1005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34500" y="3180207"/>
            <a:ext cx="2171700" cy="1577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Insumo direto da Sprint 3, que começa no dia 15 e tem como objetivo declarado definir as tecnologias e os mecanismos da implementação.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ANTES E DEPOIS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que mudou no ambiente</a:t>
            </a:r>
          </a:p>
          <a:p>
            <a:pPr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do time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NO COMEÇO DO PROJETO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319754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048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repositório tem uma linha de .gitattributes forçando LF nos scripts, porque sem ela o Git Bash quebra no Windows.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Os ambientes do time já divergem antes de existir a primeira linha de código do produto.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62700" y="298799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AGORA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62700" y="319754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81750" y="358730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8450" y="34832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Existe um arquivo que descreve o ambiente inteiro e que qualquer um dos quatro sobe com um comando.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1750" y="464610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48450" y="454209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Esse mesmo arquivo é o que vira o diagrama de implantação da Sprint 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O QUE NÃO ESTAMOS AFIRMANDO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Pendências, com número de item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356120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3452241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Os seis itens de modelagem da Sprint 2, do #58 ao #63, estão em To Do. Isto é insumo desses itens, não relato de item concluído.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4291203"/>
            <a:ext cx="74866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ADR #63, onde a stack será decidida, ainda não foi escrito.</a:t>
            </a:r>
          </a:p>
        </p:txBody>
      </p:sp>
      <p:sp>
        <p:nvSpPr>
          <p:cNvPr id="9" name="Document 8"/>
          <p:cNvSpPr/>
          <p:nvPr/>
        </p:nvSpPr>
        <p:spPr>
          <a:xfrm>
            <a:off x="9124950" y="3452241"/>
            <a:ext cx="142875" cy="133350"/>
          </a:xfrm>
          <a:prstGeom prst="flowChartDocument">
            <a:avLst/>
          </a:prstGeom>
          <a:noFill/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2600" y="3461766"/>
            <a:ext cx="213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PARA LEVAR PARA A 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24950" y="3737991"/>
            <a:ext cx="38100" cy="1664208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34500" y="3737991"/>
            <a:ext cx="2171700" cy="22357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Container é processo isolado por mecanismo de kernel.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Imagem é artefato, container é ambiente de execução.</a:t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/>
            </a:r>
          </a:p>
          <a:p>
            <a:pPr>
              <a:lnSpc>
                <a:spcPct val="140000"/>
              </a:lnSpc>
              <a:spcAft>
                <a:spcPts val="600"/>
              </a:spcAft>
            </a:pPr>
            <a:r>
              <a:rPr sz="1200" b="0" i="0">
                <a:solidFill>
                  <a:srgbClr val="3A3A44"/>
                </a:solidFill>
                <a:latin typeface="Roboto"/>
              </a:rPr>
              <a:t>A decisão arquitetural é a granularidade de tier.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Considerações finais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28650"/>
            <a:ext cx="108204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FONTES CITADAS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8382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Referências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704850" y="234734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71550" y="225818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Open Container Initiative. Runtime Spec, Image Spec e Distribution Spec. Linux Foundation, fundada em 2015.</a:t>
            </a:r>
          </a:p>
        </p:txBody>
      </p:sp>
      <p:sp>
        <p:nvSpPr>
          <p:cNvPr id="7" name="Rectangle 6"/>
          <p:cNvSpPr/>
          <p:nvPr/>
        </p:nvSpPr>
        <p:spPr>
          <a:xfrm>
            <a:off x="704850" y="278320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71550" y="269405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WIGGINS, A. The Twelve-Factor App, 2011.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850" y="32190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1550" y="312991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FELTER, W. et al. An updated performance comparison of virtual machines and Linux containers. IBM Research Report, 2015.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04850" y="388124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1550" y="3792093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MERKEL, D. Docker: lightweight Linux containers for consistent development and deployment. Linux Journal, 2014.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04850" y="431711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1550" y="4227957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NIST SP 800-190. Application Container Security Guide.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4850" y="475297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71550" y="4663821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SOMMERVILLE, I. Engenharia de Software. 6. ed. Addison Wesley, 2004.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04850" y="518883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1550" y="5099685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FOWLER, M. Patterns of Enterprise Application Architecture. Addison Wesley, 2002.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850" y="562470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1550" y="5535549"/>
            <a:ext cx="96774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A1A1E"/>
                </a:solidFill>
                <a:latin typeface="Roboto"/>
              </a:rPr>
              <a:t>FARIAS, K. Aula 03, Arquiteturas em Camadas. Aula 05, Arquiteturas Baseadas em Componentes.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Referências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Marcelo Krause de Verney</dc:creator>
  <cp:lastModifiedBy>Roberto Ferrari</cp:lastModifiedBy>
  <cp:revision>15</cp:revision>
  <dcterms:created xsi:type="dcterms:W3CDTF">2012-07-30T23:50:35Z</dcterms:created>
  <dcterms:modified xsi:type="dcterms:W3CDTF">2026-03-06T20:44:32Z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