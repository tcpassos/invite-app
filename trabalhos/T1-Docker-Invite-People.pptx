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media/image14.svg" ContentType="image/svg+xml"/>
  <Override PartName="/ppt/media/image19.svg" ContentType="image/svg+xml"/>
  <Override PartName="/ppt/media/image7.svg" ContentType="image/svg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revisionInfo.xml" ContentType="application/vnd.ms-powerpoint.revisioninfo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4"/>
  </p:sldMasterIdLst>
  <p:notesMasterIdLst>
    <p:notesMasterId r:id="rId20"/>
  </p:notesMasterIdLst>
  <p:sldIdLst>
    <p:sldId id="256" r:id="rId11"/>
    <p:sldId id="257" r:id="rId12"/>
    <p:sldId id="258" r:id="rId13"/>
    <p:sldId id="259" r:id="rId14"/>
    <p:sldId id="260" r:id="rId15"/>
    <p:sldId id="261" r:id="rId16"/>
    <p:sldId id="262" r:id="rId17"/>
    <p:sldId id="263" r:id="rId18"/>
    <p:sldId id="264" r:id="rId19"/>
    <p:sldId id="265" r:id="rId10"/>
    <p:sldId id="266" r:id="rId9"/>
    <p:sldId id="267" r:id="rId8"/>
    <p:sldId id="268" r:id="rId7"/>
    <p:sldId id="269" r:id="rId6"/>
    <p:sldId id="270" r:id="rId5"/>
    <p:sldId id="271" r:id="rId26"/>
    <p:sldId id="272" r:id="rId27"/>
    <p:sldId id="273" r:id="rId28"/>
    <p:sldId id="274" r:id="rId29"/>
    <p:sldId id="275" r:id="rId30"/>
    <p:sldId id="276" r:id="rId31"/>
    <p:sldId id="277" r:id="rId32"/>
    <p:sldId id="278" r:id="rId33"/>
    <p:sldId id="279" r:id="rId34"/>
    <p:sldId id="280" r:id="rId35"/>
    <p:sldId id="281" r:id="rId36"/>
    <p:sldId id="282" r:id="rId37"/>
    <p:sldId id="283" r:id="rId38"/>
    <p:sldId id="284" r:id="rId39"/>
    <p:sldId id="285" r:id="rId40"/>
    <p:sldId id="286" r:id="rId41"/>
    <p:sldId id="287" r:id="rId42"/>
  </p:sldIdLst>
  <p:sldSz cx="12192000" cy="6858000"/>
  <p:notesSz cx="6858000" cy="9144000"/>
  <p:defaultTextStyle>
    <a:defPPr>
      <a:defRPr lang="de-DE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21049A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0B9716C1-5024-8CCE-3203-86B75C2C8617}" v="3" dt="2026-03-04T18:26:21.527"/>
    <p1510:client id="{15EE4E26-2F7C-A8A7-F640-351793DF4648}" v="51" dt="2026-03-04T14:37:16.632"/>
    <p1510:client id="{1A042CCA-B3F5-4F3A-A55B-20F5A0164B7D}" v="24" dt="2026-03-04T14:05:53.570"/>
    <p1510:client id="{474E71F2-6943-508A-29C8-0B58041B59EA}" v="24" dt="2026-03-04T13:40:41.656"/>
    <p1510:client id="{610FBFFC-C927-4559-84E4-21F8025EFCC9}" v="4" dt="2026-03-04T18:41:12.929"/>
    <p1510:client id="{6B13FC13-F49B-3BCF-DC56-120CE7AD128B}" v="3" dt="2026-03-04T14:27:44.521"/>
    <p1510:client id="{6B418F69-DA30-9EA3-9484-1B1B7022BB9A}" v="26" dt="2026-03-04T18:46:59.600"/>
    <p1510:client id="{A6C34AF3-2CB0-9917-C57B-32A817E4D2F0}" v="15" dt="2026-03-04T19:28:10.596"/>
    <p1510:client id="{B4BCC3D1-ADA6-AE73-AB10-F1FD9D46F8AE}" v="1" dt="2026-03-04T18:45:27.915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68" d="100"/>
          <a:sy n="68" d="100"/>
        </p:scale>
        <p:origin x="792" y="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customXml" Target="../customXml/item1.xml"/><Relationship Id="rId2" Type="http://schemas.openxmlformats.org/officeDocument/2006/relationships/customXml" Target="../customXml/item2.xml"/><Relationship Id="rId3" Type="http://schemas.openxmlformats.org/officeDocument/2006/relationships/customXml" Target="../customXml/item3.xml"/><Relationship Id="rId4" Type="http://schemas.openxmlformats.org/officeDocument/2006/relationships/slideMaster" Target="slideMasters/slideMaster1.xml"/><Relationship Id="rId5" Type="http://schemas.openxmlformats.org/officeDocument/2006/relationships/slide" Target="slides/slide15.xml"/><Relationship Id="rId6" Type="http://schemas.openxmlformats.org/officeDocument/2006/relationships/slide" Target="slides/slide14.xml"/><Relationship Id="rId7" Type="http://schemas.openxmlformats.org/officeDocument/2006/relationships/slide" Target="slides/slide13.xml"/><Relationship Id="rId8" Type="http://schemas.openxmlformats.org/officeDocument/2006/relationships/slide" Target="slides/slide12.xml"/><Relationship Id="rId9" Type="http://schemas.openxmlformats.org/officeDocument/2006/relationships/slide" Target="slides/slide11.xml"/><Relationship Id="rId10" Type="http://schemas.openxmlformats.org/officeDocument/2006/relationships/slide" Target="slides/slide10.xml"/><Relationship Id="rId11" Type="http://schemas.openxmlformats.org/officeDocument/2006/relationships/slide" Target="slides/slide1.xml"/><Relationship Id="rId12" Type="http://schemas.openxmlformats.org/officeDocument/2006/relationships/slide" Target="slides/slide2.xml"/><Relationship Id="rId13" Type="http://schemas.openxmlformats.org/officeDocument/2006/relationships/slide" Target="slides/slide3.xml"/><Relationship Id="rId14" Type="http://schemas.openxmlformats.org/officeDocument/2006/relationships/slide" Target="slides/slide4.xml"/><Relationship Id="rId15" Type="http://schemas.openxmlformats.org/officeDocument/2006/relationships/slide" Target="slides/slide5.xml"/><Relationship Id="rId16" Type="http://schemas.openxmlformats.org/officeDocument/2006/relationships/slide" Target="slides/slide6.xml"/><Relationship Id="rId17" Type="http://schemas.openxmlformats.org/officeDocument/2006/relationships/slide" Target="slides/slide7.xml"/><Relationship Id="rId18" Type="http://schemas.openxmlformats.org/officeDocument/2006/relationships/slide" Target="slides/slide8.xml"/><Relationship Id="rId19" Type="http://schemas.openxmlformats.org/officeDocument/2006/relationships/slide" Target="slides/slide9.xml"/><Relationship Id="rId20" Type="http://schemas.openxmlformats.org/officeDocument/2006/relationships/notesMaster" Target="notesMasters/notesMaster1.xml"/><Relationship Id="rId21" Type="http://schemas.openxmlformats.org/officeDocument/2006/relationships/presProps" Target="presProps.xml"/><Relationship Id="rId22" Type="http://schemas.openxmlformats.org/officeDocument/2006/relationships/viewProps" Target="viewProps.xml"/><Relationship Id="rId23" Type="http://schemas.openxmlformats.org/officeDocument/2006/relationships/theme" Target="theme/theme1.xml"/><Relationship Id="rId24" Type="http://schemas.openxmlformats.org/officeDocument/2006/relationships/tableStyles" Target="tableStyles.xml"/><Relationship Id="rId25" Type="http://schemas.microsoft.com/office/2015/10/relationships/revisionInfo" Target="revisionInfo.xml"/><Relationship Id="rId26" Type="http://schemas.openxmlformats.org/officeDocument/2006/relationships/slide" Target="slides/slide16.xml"/><Relationship Id="rId27" Type="http://schemas.openxmlformats.org/officeDocument/2006/relationships/slide" Target="slides/slide17.xml"/><Relationship Id="rId28" Type="http://schemas.openxmlformats.org/officeDocument/2006/relationships/slide" Target="slides/slide18.xml"/><Relationship Id="rId29" Type="http://schemas.openxmlformats.org/officeDocument/2006/relationships/slide" Target="slides/slide19.xml"/><Relationship Id="rId30" Type="http://schemas.openxmlformats.org/officeDocument/2006/relationships/slide" Target="slides/slide20.xml"/><Relationship Id="rId31" Type="http://schemas.openxmlformats.org/officeDocument/2006/relationships/slide" Target="slides/slide21.xml"/><Relationship Id="rId32" Type="http://schemas.openxmlformats.org/officeDocument/2006/relationships/slide" Target="slides/slide22.xml"/><Relationship Id="rId33" Type="http://schemas.openxmlformats.org/officeDocument/2006/relationships/slide" Target="slides/slide23.xml"/><Relationship Id="rId34" Type="http://schemas.openxmlformats.org/officeDocument/2006/relationships/slide" Target="slides/slide24.xml"/><Relationship Id="rId35" Type="http://schemas.openxmlformats.org/officeDocument/2006/relationships/slide" Target="slides/slide25.xml"/><Relationship Id="rId36" Type="http://schemas.openxmlformats.org/officeDocument/2006/relationships/slide" Target="slides/slide26.xml"/><Relationship Id="rId37" Type="http://schemas.openxmlformats.org/officeDocument/2006/relationships/slide" Target="slides/slide27.xml"/><Relationship Id="rId38" Type="http://schemas.openxmlformats.org/officeDocument/2006/relationships/slide" Target="slides/slide28.xml"/><Relationship Id="rId39" Type="http://schemas.openxmlformats.org/officeDocument/2006/relationships/slide" Target="slides/slide29.xml"/><Relationship Id="rId40" Type="http://schemas.openxmlformats.org/officeDocument/2006/relationships/slide" Target="slides/slide30.xml"/><Relationship Id="rId41" Type="http://schemas.openxmlformats.org/officeDocument/2006/relationships/slide" Target="slides/slide31.xml"/><Relationship Id="rId42" Type="http://schemas.openxmlformats.org/officeDocument/2006/relationships/slide" Target="slides/slide32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Cabeçalho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pt-BR"/>
          </a:p>
        </p:txBody>
      </p:sp>
      <p:sp>
        <p:nvSpPr>
          <p:cNvPr id="3" name="Espaço Reservado para Data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6EFFF79-EEE3-444A-9BA1-1453A65B916B}" type="datetimeFigureOut">
              <a:t>06/03/2026</a:t>
            </a:fld>
            <a:endParaRPr lang="pt-BR"/>
          </a:p>
        </p:txBody>
      </p:sp>
      <p:sp>
        <p:nvSpPr>
          <p:cNvPr id="4" name="Espaço Reservado para Imagem de Slide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pt-BR"/>
          </a:p>
        </p:txBody>
      </p:sp>
      <p:sp>
        <p:nvSpPr>
          <p:cNvPr id="5" name="Espaço Reservado para Anotaçõe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6" name="Espaço Reservado para Rodapé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pt-BR"/>
          </a:p>
        </p:txBody>
      </p:sp>
      <p:sp>
        <p:nvSpPr>
          <p:cNvPr id="7" name="Espaço Reservado para Número de Slide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6BDD6EE-BF3C-42FE-A967-089A0F35743B}" type="slidenum"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18111931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e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eg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jpeg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jpeg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jpeg"/><Relationship Id="rId3" Type="http://schemas.openxmlformats.org/officeDocument/2006/relationships/image" Target="../media/image6.png"/><Relationship Id="rId4" Type="http://schemas.openxmlformats.org/officeDocument/2006/relationships/image" Target="../media/image7.svg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8.jpeg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9.jpeg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0.jpeg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6.png"/><Relationship Id="rId3" Type="http://schemas.openxmlformats.org/officeDocument/2006/relationships/image" Target="../media/image7.svg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1.jpeg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2.jpeg"/><Relationship Id="rId3" Type="http://schemas.openxmlformats.org/officeDocument/2006/relationships/image" Target="../media/image13.png"/><Relationship Id="rId4" Type="http://schemas.openxmlformats.org/officeDocument/2006/relationships/image" Target="../media/image14.svg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5.jpeg"/><Relationship Id="rId3" Type="http://schemas.openxmlformats.org/officeDocument/2006/relationships/image" Target="../media/image13.png"/><Relationship Id="rId4" Type="http://schemas.openxmlformats.org/officeDocument/2006/relationships/image" Target="../media/image14.svg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6.jpeg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7.jpeg"/><Relationship Id="rId3" Type="http://schemas.openxmlformats.org/officeDocument/2006/relationships/image" Target="../media/image18.png"/><Relationship Id="rId4" Type="http://schemas.openxmlformats.org/officeDocument/2006/relationships/image" Target="../media/image19.svg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lide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m 1" descr="Diagrama, Desenho técnico&#10;&#10;O conteúdo gerado por IA pode estar incorreto.">
            <a:extLst>
              <a:ext uri="{FF2B5EF4-FFF2-40B4-BE49-F238E27FC236}">
                <a16:creationId xmlns:a16="http://schemas.microsoft.com/office/drawing/2014/main" id="{B12703BC-BA0D-49E1-5856-8172DFCF21E4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9" name="Espaço Reservado para Conteúdo 4">
            <a:extLst>
              <a:ext uri="{FF2B5EF4-FFF2-40B4-BE49-F238E27FC236}">
                <a16:creationId xmlns:a16="http://schemas.microsoft.com/office/drawing/2014/main" id="{9BA904D1-772F-4932-8EC4-AC8ABD797843}"/>
              </a:ext>
            </a:extLst>
          </p:cNvPr>
          <p:cNvSpPr>
            <a:spLocks noGrp="1"/>
          </p:cNvSpPr>
          <p:nvPr>
            <p:ph sz="quarter" idx="10" hasCustomPrompt="1"/>
          </p:nvPr>
        </p:nvSpPr>
        <p:spPr>
          <a:xfrm>
            <a:off x="1198963" y="854211"/>
            <a:ext cx="9794071" cy="291362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80000"/>
              </a:lnSpc>
              <a:spcBef>
                <a:spcPts val="0"/>
              </a:spcBef>
              <a:buNone/>
              <a:defRPr sz="2000">
                <a:solidFill>
                  <a:schemeClr val="bg1"/>
                </a:solidFill>
                <a:latin typeface="Roboto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CARTOLA </a:t>
            </a:r>
            <a:r>
              <a:rPr lang="pt-BR" dirty="0" err="1"/>
              <a:t>CARTOLA</a:t>
            </a:r>
            <a:endParaRPr lang="pt-BR" dirty="0"/>
          </a:p>
        </p:txBody>
      </p:sp>
      <p:sp>
        <p:nvSpPr>
          <p:cNvPr id="11" name="Espaço Reservado para Conteúdo 4">
            <a:extLst>
              <a:ext uri="{FF2B5EF4-FFF2-40B4-BE49-F238E27FC236}">
                <a16:creationId xmlns:a16="http://schemas.microsoft.com/office/drawing/2014/main" id="{798E2A19-B017-4014-9BCE-0EDA90228AE4}"/>
              </a:ext>
            </a:extLst>
          </p:cNvPr>
          <p:cNvSpPr>
            <a:spLocks noGrp="1"/>
          </p:cNvSpPr>
          <p:nvPr>
            <p:ph sz="quarter" idx="11" hasCustomPrompt="1"/>
          </p:nvPr>
        </p:nvSpPr>
        <p:spPr>
          <a:xfrm>
            <a:off x="1198962" y="2685167"/>
            <a:ext cx="9794071" cy="291362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80000"/>
              </a:lnSpc>
              <a:spcBef>
                <a:spcPts val="0"/>
              </a:spcBef>
              <a:buNone/>
              <a:defRPr sz="1600">
                <a:solidFill>
                  <a:schemeClr val="bg1"/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/>
              <a:t>COMPLEMENTO </a:t>
            </a:r>
            <a:r>
              <a:rPr lang="pt-BR" err="1"/>
              <a:t>COMPLEMENTO</a:t>
            </a:r>
            <a:endParaRPr lang="pt-BR"/>
          </a:p>
        </p:txBody>
      </p:sp>
      <p:sp>
        <p:nvSpPr>
          <p:cNvPr id="14" name="Espaço Reservado para Conteúdo 4">
            <a:extLst>
              <a:ext uri="{FF2B5EF4-FFF2-40B4-BE49-F238E27FC236}">
                <a16:creationId xmlns:a16="http://schemas.microsoft.com/office/drawing/2014/main" id="{0FAFA1B5-CB3C-4B76-9115-38A3CFEBBEDC}"/>
              </a:ext>
            </a:extLst>
          </p:cNvPr>
          <p:cNvSpPr>
            <a:spLocks noGrp="1"/>
          </p:cNvSpPr>
          <p:nvPr>
            <p:ph sz="quarter" idx="12" hasCustomPrompt="1"/>
          </p:nvPr>
        </p:nvSpPr>
        <p:spPr>
          <a:xfrm>
            <a:off x="1198962" y="1376961"/>
            <a:ext cx="9794071" cy="1118045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80000"/>
              </a:lnSpc>
              <a:spcBef>
                <a:spcPts val="0"/>
              </a:spcBef>
              <a:buNone/>
              <a:defRPr sz="4800">
                <a:solidFill>
                  <a:schemeClr val="bg1"/>
                </a:solidFill>
                <a:latin typeface="Roboto Black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TÍTULO DA CAPA</a:t>
            </a:r>
          </a:p>
          <a:p>
            <a:pPr lvl="0"/>
            <a:r>
              <a:rPr lang="pt-BR" dirty="0"/>
              <a:t>TÍTULO DA CAPA</a:t>
            </a:r>
          </a:p>
        </p:txBody>
      </p:sp>
    </p:spTree>
    <p:extLst>
      <p:ext uri="{BB962C8B-B14F-4D97-AF65-F5344CB8AC3E}">
        <p14:creationId xmlns:p14="http://schemas.microsoft.com/office/powerpoint/2010/main" val="74326894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ítulo 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Imagem 6" descr="Uma imagem contendo pessoa, segurando, raquete, homem&#10;&#10;O conteúdo gerado por IA pode estar incorreto.">
            <a:extLst>
              <a:ext uri="{FF2B5EF4-FFF2-40B4-BE49-F238E27FC236}">
                <a16:creationId xmlns:a16="http://schemas.microsoft.com/office/drawing/2014/main" id="{68201F9E-9442-51CA-D606-ADE185D215E8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6" name="Espaço Reservado para Conteúdo 4">
            <a:extLst>
              <a:ext uri="{FF2B5EF4-FFF2-40B4-BE49-F238E27FC236}">
                <a16:creationId xmlns:a16="http://schemas.microsoft.com/office/drawing/2014/main" id="{641F0451-2034-4B4C-B5BB-323C5B960552}"/>
              </a:ext>
            </a:extLst>
          </p:cNvPr>
          <p:cNvSpPr>
            <a:spLocks noGrp="1"/>
          </p:cNvSpPr>
          <p:nvPr>
            <p:ph sz="quarter" idx="11" hasCustomPrompt="1"/>
          </p:nvPr>
        </p:nvSpPr>
        <p:spPr>
          <a:xfrm>
            <a:off x="999028" y="1721616"/>
            <a:ext cx="3848744" cy="766779"/>
          </a:xfrm>
          <a:prstGeom prst="rect">
            <a:avLst/>
          </a:prstGeom>
        </p:spPr>
        <p:txBody>
          <a:bodyPr anchor="b"/>
          <a:lstStyle>
            <a:lvl1pPr marL="0" indent="0">
              <a:lnSpc>
                <a:spcPct val="80000"/>
              </a:lnSpc>
              <a:spcBef>
                <a:spcPts val="0"/>
              </a:spcBef>
              <a:buNone/>
              <a:defRPr sz="2400">
                <a:solidFill>
                  <a:schemeClr val="bg1"/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TÍTULO </a:t>
            </a:r>
            <a:br>
              <a:rPr lang="pt-BR" dirty="0"/>
            </a:br>
            <a:r>
              <a:rPr lang="pt-BR" dirty="0"/>
              <a:t>DE SEÇÃO</a:t>
            </a:r>
          </a:p>
        </p:txBody>
      </p:sp>
      <p:sp>
        <p:nvSpPr>
          <p:cNvPr id="13" name="Espaço Reservado para Conteúdo 4">
            <a:extLst>
              <a:ext uri="{FF2B5EF4-FFF2-40B4-BE49-F238E27FC236}">
                <a16:creationId xmlns:a16="http://schemas.microsoft.com/office/drawing/2014/main" id="{271D91BB-59F7-42EE-91A0-E9E7DAE29B4D}"/>
              </a:ext>
            </a:extLst>
          </p:cNvPr>
          <p:cNvSpPr>
            <a:spLocks noGrp="1"/>
          </p:cNvSpPr>
          <p:nvPr>
            <p:ph sz="quarter" idx="12" hasCustomPrompt="1"/>
          </p:nvPr>
        </p:nvSpPr>
        <p:spPr>
          <a:xfrm>
            <a:off x="999026" y="2655324"/>
            <a:ext cx="3848743" cy="3288276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600">
                <a:solidFill>
                  <a:schemeClr val="bg1"/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 err="1"/>
              <a:t>Vestibulum</a:t>
            </a:r>
            <a:r>
              <a:rPr lang="pt-BR" dirty="0"/>
              <a:t> et nunc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 </a:t>
            </a:r>
            <a:r>
              <a:rPr lang="pt-BR" dirty="0" err="1"/>
              <a:t>consectetur</a:t>
            </a:r>
            <a:r>
              <a:rPr lang="pt-BR" dirty="0"/>
              <a:t> </a:t>
            </a:r>
            <a:r>
              <a:rPr lang="pt-BR" dirty="0" err="1"/>
              <a:t>efficitur</a:t>
            </a:r>
            <a:r>
              <a:rPr lang="pt-BR" dirty="0"/>
              <a:t>. </a:t>
            </a:r>
            <a:r>
              <a:rPr lang="pt-BR" dirty="0" err="1"/>
              <a:t>Nullam</a:t>
            </a:r>
            <a:r>
              <a:rPr lang="pt-BR" dirty="0"/>
              <a:t>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lorem</a:t>
            </a:r>
            <a:r>
              <a:rPr lang="pt-BR" dirty="0"/>
              <a:t> </a:t>
            </a:r>
            <a:r>
              <a:rPr lang="pt-BR" dirty="0" err="1"/>
              <a:t>molestie</a:t>
            </a:r>
            <a:r>
              <a:rPr lang="pt-BR" dirty="0"/>
              <a:t> </a:t>
            </a:r>
            <a:r>
              <a:rPr lang="pt-BR" dirty="0" err="1"/>
              <a:t>velit</a:t>
            </a:r>
            <a:r>
              <a:rPr lang="pt-BR" dirty="0"/>
              <a:t> </a:t>
            </a:r>
            <a:r>
              <a:rPr lang="pt-BR" dirty="0" err="1"/>
              <a:t>vestibulum</a:t>
            </a:r>
            <a:r>
              <a:rPr lang="pt-BR" dirty="0"/>
              <a:t> </a:t>
            </a:r>
            <a:r>
              <a:rPr lang="pt-BR" dirty="0" err="1"/>
              <a:t>dictum</a:t>
            </a:r>
            <a:r>
              <a:rPr lang="pt-BR" dirty="0"/>
              <a:t>. </a:t>
            </a:r>
            <a:r>
              <a:rPr lang="pt-BR" dirty="0" err="1"/>
              <a:t>Morbi</a:t>
            </a:r>
            <a:r>
              <a:rPr lang="pt-BR" dirty="0"/>
              <a:t> </a:t>
            </a:r>
            <a:r>
              <a:rPr lang="pt-BR" dirty="0" err="1"/>
              <a:t>eget</a:t>
            </a:r>
            <a:r>
              <a:rPr lang="pt-BR" dirty="0"/>
              <a:t> </a:t>
            </a:r>
            <a:r>
              <a:rPr lang="pt-BR" dirty="0" err="1"/>
              <a:t>nisi</a:t>
            </a:r>
            <a:r>
              <a:rPr lang="pt-BR" dirty="0"/>
              <a:t> </a:t>
            </a:r>
            <a:r>
              <a:rPr lang="pt-BR" dirty="0" err="1"/>
              <a:t>dolor</a:t>
            </a:r>
            <a:r>
              <a:rPr lang="pt-BR" dirty="0"/>
              <a:t>. </a:t>
            </a:r>
            <a:r>
              <a:rPr lang="pt-BR" dirty="0" err="1"/>
              <a:t>Aliquam</a:t>
            </a:r>
            <a:r>
              <a:rPr lang="pt-BR" dirty="0"/>
              <a:t> </a:t>
            </a:r>
            <a:r>
              <a:rPr lang="pt-BR" dirty="0" err="1"/>
              <a:t>imperdiet</a:t>
            </a:r>
            <a:r>
              <a:rPr lang="pt-BR" dirty="0"/>
              <a:t> </a:t>
            </a:r>
            <a:r>
              <a:rPr lang="pt-BR" dirty="0" err="1"/>
              <a:t>ex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, id </a:t>
            </a:r>
            <a:r>
              <a:rPr lang="pt-BR" dirty="0" err="1"/>
              <a:t>mattis</a:t>
            </a:r>
            <a:r>
              <a:rPr lang="pt-BR" dirty="0"/>
              <a:t> </a:t>
            </a:r>
            <a:r>
              <a:rPr lang="pt-BR" dirty="0" err="1"/>
              <a:t>lacus</a:t>
            </a:r>
            <a:r>
              <a:rPr lang="pt-BR" dirty="0"/>
              <a:t> </a:t>
            </a:r>
            <a:r>
              <a:rPr lang="pt-BR" dirty="0" err="1"/>
              <a:t>feugiat</a:t>
            </a:r>
            <a:r>
              <a:rPr lang="pt-BR" dirty="0"/>
              <a:t> </a:t>
            </a:r>
            <a:r>
              <a:rPr lang="pt-BR" dirty="0" err="1"/>
              <a:t>sit</a:t>
            </a:r>
            <a:r>
              <a:rPr lang="pt-BR" dirty="0"/>
              <a:t> </a:t>
            </a:r>
            <a:r>
              <a:rPr lang="pt-BR" dirty="0" err="1"/>
              <a:t>amet</a:t>
            </a:r>
            <a:r>
              <a:rPr lang="pt-BR" dirty="0"/>
              <a:t>. </a:t>
            </a:r>
          </a:p>
          <a:p>
            <a:pPr lvl="0"/>
            <a:endParaRPr lang="pt-BR" dirty="0"/>
          </a:p>
          <a:p>
            <a:pPr lvl="0"/>
            <a:r>
              <a:rPr lang="pt-BR" dirty="0" err="1"/>
              <a:t>Maecenas</a:t>
            </a:r>
            <a:r>
              <a:rPr lang="pt-BR" dirty="0"/>
              <a:t> </a:t>
            </a:r>
            <a:r>
              <a:rPr lang="pt-BR" dirty="0" err="1"/>
              <a:t>feugiat</a:t>
            </a:r>
            <a:r>
              <a:rPr lang="pt-BR" dirty="0"/>
              <a:t>, </a:t>
            </a:r>
            <a:r>
              <a:rPr lang="pt-BR" dirty="0" err="1"/>
              <a:t>diam</a:t>
            </a:r>
            <a:r>
              <a:rPr lang="pt-BR" dirty="0"/>
              <a:t> vitae gravida </a:t>
            </a:r>
            <a:r>
              <a:rPr lang="pt-BR" dirty="0" err="1"/>
              <a:t>congue</a:t>
            </a:r>
            <a:r>
              <a:rPr lang="pt-BR" dirty="0"/>
              <a:t>, est sem </a:t>
            </a:r>
            <a:r>
              <a:rPr lang="pt-BR" dirty="0" err="1"/>
              <a:t>auctor</a:t>
            </a:r>
            <a:r>
              <a:rPr lang="pt-BR" dirty="0"/>
              <a:t> </a:t>
            </a:r>
            <a:r>
              <a:rPr lang="pt-BR" dirty="0" err="1"/>
              <a:t>orci</a:t>
            </a:r>
            <a:r>
              <a:rPr lang="pt-BR" dirty="0"/>
              <a:t>, </a:t>
            </a:r>
            <a:r>
              <a:rPr lang="pt-BR" dirty="0" err="1"/>
              <a:t>sit</a:t>
            </a:r>
            <a:r>
              <a:rPr lang="pt-BR" dirty="0"/>
              <a:t> </a:t>
            </a:r>
            <a:r>
              <a:rPr lang="pt-BR" dirty="0" err="1"/>
              <a:t>amet</a:t>
            </a:r>
            <a:r>
              <a:rPr lang="pt-BR" dirty="0"/>
              <a:t> </a:t>
            </a:r>
            <a:r>
              <a:rPr lang="pt-BR" dirty="0" err="1"/>
              <a:t>ullamcorper</a:t>
            </a:r>
            <a:r>
              <a:rPr lang="pt-BR" dirty="0"/>
              <a:t> sem </a:t>
            </a:r>
            <a:r>
              <a:rPr lang="pt-BR" dirty="0" err="1"/>
              <a:t>orci</a:t>
            </a:r>
            <a:r>
              <a:rPr lang="pt-BR" dirty="0"/>
              <a:t> in </a:t>
            </a:r>
            <a:r>
              <a:rPr lang="pt-BR" dirty="0" err="1"/>
              <a:t>tellus</a:t>
            </a:r>
            <a:r>
              <a:rPr lang="pt-BR" dirty="0"/>
              <a:t>. </a:t>
            </a:r>
            <a:r>
              <a:rPr lang="pt-BR" dirty="0" err="1"/>
              <a:t>Pellentesque</a:t>
            </a:r>
            <a:r>
              <a:rPr lang="pt-BR" dirty="0"/>
              <a:t> </a:t>
            </a:r>
            <a:r>
              <a:rPr lang="pt-BR" dirty="0" err="1"/>
              <a:t>habitant</a:t>
            </a:r>
            <a:r>
              <a:rPr lang="pt-BR" dirty="0"/>
              <a:t> </a:t>
            </a:r>
            <a:r>
              <a:rPr lang="pt-BR" dirty="0" err="1"/>
              <a:t>morbi</a:t>
            </a:r>
            <a:r>
              <a:rPr lang="pt-BR" dirty="0"/>
              <a:t> </a:t>
            </a:r>
            <a:r>
              <a:rPr lang="pt-BR" dirty="0" err="1"/>
              <a:t>tristique</a:t>
            </a:r>
            <a:r>
              <a:rPr lang="pt-BR" dirty="0"/>
              <a:t> </a:t>
            </a:r>
            <a:r>
              <a:rPr lang="pt-BR" dirty="0" err="1"/>
              <a:t>senectus</a:t>
            </a:r>
            <a:r>
              <a:rPr lang="pt-BR" dirty="0"/>
              <a:t> et </a:t>
            </a:r>
            <a:r>
              <a:rPr lang="pt-BR" dirty="0" err="1"/>
              <a:t>netus</a:t>
            </a:r>
            <a:r>
              <a:rPr lang="pt-BR" dirty="0"/>
              <a:t> et </a:t>
            </a:r>
            <a:r>
              <a:rPr lang="pt-BR" dirty="0" err="1"/>
              <a:t>malesuada</a:t>
            </a:r>
            <a:r>
              <a:rPr lang="pt-BR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418861563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abeçalho da Se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Imagem 6" descr="Forma&#10;&#10;O conteúdo gerado por IA pode estar incorreto.">
            <a:extLst>
              <a:ext uri="{FF2B5EF4-FFF2-40B4-BE49-F238E27FC236}">
                <a16:creationId xmlns:a16="http://schemas.microsoft.com/office/drawing/2014/main" id="{9D5AB3BD-B97C-7B52-83A2-3E5D5CD51987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cxnSp>
        <p:nvCxnSpPr>
          <p:cNvPr id="8" name="Conector de Seta Reta 7">
            <a:extLst>
              <a:ext uri="{FF2B5EF4-FFF2-40B4-BE49-F238E27FC236}">
                <a16:creationId xmlns:a16="http://schemas.microsoft.com/office/drawing/2014/main" id="{883A4AD6-7C2F-6DE8-E4EB-27627E6153B2}"/>
              </a:ext>
            </a:extLst>
          </p:cNvPr>
          <p:cNvCxnSpPr>
            <a:cxnSpLocks/>
          </p:cNvCxnSpPr>
          <p:nvPr userDrawn="1"/>
        </p:nvCxnSpPr>
        <p:spPr>
          <a:xfrm>
            <a:off x="5161560" y="3216203"/>
            <a:ext cx="5574224" cy="0"/>
          </a:xfrm>
          <a:prstGeom prst="straightConnector1">
            <a:avLst/>
          </a:prstGeom>
          <a:ln w="19050">
            <a:solidFill>
              <a:schemeClr val="bg1"/>
            </a:solidFill>
            <a:prstDash val="sys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ector de Seta Reta 8">
            <a:extLst>
              <a:ext uri="{FF2B5EF4-FFF2-40B4-BE49-F238E27FC236}">
                <a16:creationId xmlns:a16="http://schemas.microsoft.com/office/drawing/2014/main" id="{D832A813-B17C-DC29-723C-8DADDB8A2DE0}"/>
              </a:ext>
            </a:extLst>
          </p:cNvPr>
          <p:cNvCxnSpPr>
            <a:cxnSpLocks/>
          </p:cNvCxnSpPr>
          <p:nvPr userDrawn="1"/>
        </p:nvCxnSpPr>
        <p:spPr>
          <a:xfrm>
            <a:off x="5161560" y="3666615"/>
            <a:ext cx="5574224" cy="0"/>
          </a:xfrm>
          <a:prstGeom prst="straightConnector1">
            <a:avLst/>
          </a:prstGeom>
          <a:ln w="19050">
            <a:solidFill>
              <a:schemeClr val="bg1"/>
            </a:solidFill>
            <a:prstDash val="sys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ector de Seta Reta 9">
            <a:extLst>
              <a:ext uri="{FF2B5EF4-FFF2-40B4-BE49-F238E27FC236}">
                <a16:creationId xmlns:a16="http://schemas.microsoft.com/office/drawing/2014/main" id="{7950EE94-C4C8-17C8-8A38-D10AC5A0870E}"/>
              </a:ext>
            </a:extLst>
          </p:cNvPr>
          <p:cNvCxnSpPr>
            <a:cxnSpLocks/>
          </p:cNvCxnSpPr>
          <p:nvPr userDrawn="1"/>
        </p:nvCxnSpPr>
        <p:spPr>
          <a:xfrm>
            <a:off x="5161560" y="4078129"/>
            <a:ext cx="5574224" cy="0"/>
          </a:xfrm>
          <a:prstGeom prst="straightConnector1">
            <a:avLst/>
          </a:prstGeom>
          <a:ln w="19050">
            <a:solidFill>
              <a:schemeClr val="bg1"/>
            </a:solidFill>
            <a:prstDash val="sys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etângulo: Cantos Arredondados 12">
            <a:extLst>
              <a:ext uri="{FF2B5EF4-FFF2-40B4-BE49-F238E27FC236}">
                <a16:creationId xmlns:a16="http://schemas.microsoft.com/office/drawing/2014/main" id="{A8422CA4-13D9-5447-94BF-81DFA61CFA8C}"/>
              </a:ext>
            </a:extLst>
          </p:cNvPr>
          <p:cNvSpPr/>
          <p:nvPr userDrawn="1"/>
        </p:nvSpPr>
        <p:spPr>
          <a:xfrm>
            <a:off x="5057617" y="2922847"/>
            <a:ext cx="5277795" cy="537509"/>
          </a:xfrm>
          <a:prstGeom prst="roundRect">
            <a:avLst>
              <a:gd name="adj" fmla="val 50000"/>
            </a:avLst>
          </a:prstGeom>
          <a:solidFill>
            <a:srgbClr val="432873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14" name="Retângulo: Cantos Arredondados 13">
            <a:extLst>
              <a:ext uri="{FF2B5EF4-FFF2-40B4-BE49-F238E27FC236}">
                <a16:creationId xmlns:a16="http://schemas.microsoft.com/office/drawing/2014/main" id="{CF33C47C-7543-6136-48FE-FFD7D5569582}"/>
              </a:ext>
            </a:extLst>
          </p:cNvPr>
          <p:cNvSpPr/>
          <p:nvPr userDrawn="1"/>
        </p:nvSpPr>
        <p:spPr>
          <a:xfrm>
            <a:off x="6067590" y="3387232"/>
            <a:ext cx="4267822" cy="537511"/>
          </a:xfrm>
          <a:prstGeom prst="roundRect">
            <a:avLst>
              <a:gd name="adj" fmla="val 50000"/>
            </a:avLst>
          </a:prstGeom>
          <a:solidFill>
            <a:srgbClr val="E94D1C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15" name="Retângulo: Cantos Arredondados 14">
            <a:extLst>
              <a:ext uri="{FF2B5EF4-FFF2-40B4-BE49-F238E27FC236}">
                <a16:creationId xmlns:a16="http://schemas.microsoft.com/office/drawing/2014/main" id="{800FC918-C448-6DF0-E954-B06797063FAB}"/>
              </a:ext>
            </a:extLst>
          </p:cNvPr>
          <p:cNvSpPr/>
          <p:nvPr userDrawn="1"/>
        </p:nvSpPr>
        <p:spPr>
          <a:xfrm>
            <a:off x="7000073" y="3784591"/>
            <a:ext cx="3335340" cy="537512"/>
          </a:xfrm>
          <a:prstGeom prst="roundRect">
            <a:avLst>
              <a:gd name="adj" fmla="val 50000"/>
            </a:avLst>
          </a:prstGeom>
          <a:solidFill>
            <a:srgbClr val="2652C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20" name="Espaço Reservado para Conteúdo 4">
            <a:extLst>
              <a:ext uri="{FF2B5EF4-FFF2-40B4-BE49-F238E27FC236}">
                <a16:creationId xmlns:a16="http://schemas.microsoft.com/office/drawing/2014/main" id="{756E2B9B-2FC7-4B61-8475-1E6F5501EE23}"/>
              </a:ext>
            </a:extLst>
          </p:cNvPr>
          <p:cNvSpPr>
            <a:spLocks noGrp="1"/>
          </p:cNvSpPr>
          <p:nvPr>
            <p:ph sz="quarter" idx="12" hasCustomPrompt="1"/>
          </p:nvPr>
        </p:nvSpPr>
        <p:spPr>
          <a:xfrm>
            <a:off x="927463" y="1164272"/>
            <a:ext cx="10345783" cy="494711"/>
          </a:xfrm>
          <a:prstGeom prst="rect">
            <a:avLst/>
          </a:prstGeom>
          <a:solidFill>
            <a:schemeClr val="bg1"/>
          </a:solidFill>
        </p:spPr>
        <p:txBody>
          <a:bodyPr/>
          <a:lstStyle>
            <a:lvl1pPr marL="0" indent="0" algn="ctr">
              <a:lnSpc>
                <a:spcPct val="80000"/>
              </a:lnSpc>
              <a:spcBef>
                <a:spcPts val="0"/>
              </a:spcBef>
              <a:buNone/>
              <a:defRPr sz="3600">
                <a:solidFill>
                  <a:srgbClr val="21049A"/>
                </a:solidFill>
                <a:latin typeface="Roboto Black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TÍTULO </a:t>
            </a:r>
            <a:r>
              <a:rPr lang="pt-BR" dirty="0" err="1"/>
              <a:t>TÍTULO</a:t>
            </a:r>
            <a:r>
              <a:rPr lang="pt-BR" dirty="0"/>
              <a:t> </a:t>
            </a:r>
            <a:r>
              <a:rPr lang="pt-BR" dirty="0" err="1"/>
              <a:t>TÍTULO</a:t>
            </a:r>
            <a:endParaRPr lang="pt-BR" dirty="0"/>
          </a:p>
        </p:txBody>
      </p:sp>
      <p:sp>
        <p:nvSpPr>
          <p:cNvPr id="21" name="Espaço Reservado para Conteúdo 4">
            <a:extLst>
              <a:ext uri="{FF2B5EF4-FFF2-40B4-BE49-F238E27FC236}">
                <a16:creationId xmlns:a16="http://schemas.microsoft.com/office/drawing/2014/main" id="{3B400B1A-A24E-4444-BD47-E24B33C087D0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1562141" y="2178956"/>
            <a:ext cx="3050460" cy="2875683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400">
                <a:solidFill>
                  <a:schemeClr val="bg1"/>
                </a:solidFill>
                <a:latin typeface="Roboto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 err="1"/>
              <a:t>Vestibulum</a:t>
            </a:r>
            <a:r>
              <a:rPr lang="pt-BR" dirty="0"/>
              <a:t> et nunc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 </a:t>
            </a:r>
            <a:r>
              <a:rPr lang="pt-BR" dirty="0" err="1"/>
              <a:t>consectetur</a:t>
            </a:r>
            <a:r>
              <a:rPr lang="pt-BR" dirty="0"/>
              <a:t> </a:t>
            </a:r>
            <a:r>
              <a:rPr lang="pt-BR" dirty="0" err="1"/>
              <a:t>efficitur</a:t>
            </a:r>
            <a:r>
              <a:rPr lang="pt-BR" dirty="0"/>
              <a:t>. </a:t>
            </a:r>
            <a:r>
              <a:rPr lang="pt-BR" dirty="0" err="1"/>
              <a:t>Nullam</a:t>
            </a:r>
            <a:r>
              <a:rPr lang="pt-BR" dirty="0"/>
              <a:t>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lorem</a:t>
            </a:r>
            <a:r>
              <a:rPr lang="pt-BR" dirty="0"/>
              <a:t> </a:t>
            </a:r>
            <a:r>
              <a:rPr lang="pt-BR" dirty="0" err="1"/>
              <a:t>molestie</a:t>
            </a:r>
            <a:r>
              <a:rPr lang="pt-BR" dirty="0"/>
              <a:t> </a:t>
            </a:r>
            <a:r>
              <a:rPr lang="pt-BR" dirty="0" err="1"/>
              <a:t>velit</a:t>
            </a:r>
            <a:r>
              <a:rPr lang="pt-BR" dirty="0"/>
              <a:t> </a:t>
            </a:r>
            <a:r>
              <a:rPr lang="pt-BR" dirty="0" err="1"/>
              <a:t>vestibulum</a:t>
            </a:r>
            <a:r>
              <a:rPr lang="pt-BR" dirty="0"/>
              <a:t> </a:t>
            </a:r>
            <a:r>
              <a:rPr lang="pt-BR" dirty="0" err="1"/>
              <a:t>dictum</a:t>
            </a:r>
            <a:r>
              <a:rPr lang="pt-BR" dirty="0"/>
              <a:t>. </a:t>
            </a:r>
            <a:r>
              <a:rPr lang="pt-BR" dirty="0" err="1"/>
              <a:t>Morbi</a:t>
            </a:r>
            <a:r>
              <a:rPr lang="pt-BR" dirty="0"/>
              <a:t> </a:t>
            </a:r>
            <a:r>
              <a:rPr lang="pt-BR" dirty="0" err="1"/>
              <a:t>eget</a:t>
            </a:r>
            <a:r>
              <a:rPr lang="pt-BR" dirty="0"/>
              <a:t> </a:t>
            </a:r>
            <a:r>
              <a:rPr lang="pt-BR" dirty="0" err="1"/>
              <a:t>nisi</a:t>
            </a:r>
            <a:r>
              <a:rPr lang="pt-BR" dirty="0"/>
              <a:t> </a:t>
            </a:r>
            <a:r>
              <a:rPr lang="pt-BR" dirty="0" err="1"/>
              <a:t>dolor</a:t>
            </a:r>
            <a:r>
              <a:rPr lang="pt-BR" dirty="0"/>
              <a:t>. </a:t>
            </a:r>
            <a:r>
              <a:rPr lang="pt-BR" dirty="0" err="1"/>
              <a:t>Aliquam</a:t>
            </a:r>
            <a:r>
              <a:rPr lang="pt-BR" dirty="0"/>
              <a:t> </a:t>
            </a:r>
            <a:r>
              <a:rPr lang="pt-BR" dirty="0" err="1"/>
              <a:t>imperdiet</a:t>
            </a:r>
            <a:r>
              <a:rPr lang="pt-BR" dirty="0"/>
              <a:t> </a:t>
            </a:r>
            <a:r>
              <a:rPr lang="pt-BR" dirty="0" err="1"/>
              <a:t>ex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, id </a:t>
            </a:r>
            <a:r>
              <a:rPr lang="pt-BR" dirty="0" err="1"/>
              <a:t>mattis</a:t>
            </a:r>
            <a:r>
              <a:rPr lang="pt-BR" dirty="0"/>
              <a:t> </a:t>
            </a:r>
            <a:r>
              <a:rPr lang="pt-BR" dirty="0" err="1"/>
              <a:t>lacus</a:t>
            </a:r>
            <a:r>
              <a:rPr lang="pt-BR" dirty="0"/>
              <a:t> </a:t>
            </a:r>
            <a:r>
              <a:rPr lang="pt-BR" dirty="0" err="1"/>
              <a:t>feugiat</a:t>
            </a:r>
            <a:r>
              <a:rPr lang="pt-BR" dirty="0"/>
              <a:t> </a:t>
            </a:r>
            <a:r>
              <a:rPr lang="pt-BR" dirty="0" err="1"/>
              <a:t>sit</a:t>
            </a:r>
            <a:r>
              <a:rPr lang="pt-BR" dirty="0"/>
              <a:t> </a:t>
            </a:r>
            <a:r>
              <a:rPr lang="pt-BR" dirty="0" err="1"/>
              <a:t>amet</a:t>
            </a:r>
            <a:r>
              <a:rPr lang="pt-BR" dirty="0"/>
              <a:t>. </a:t>
            </a:r>
          </a:p>
          <a:p>
            <a:pPr lvl="0"/>
            <a:endParaRPr lang="pt-BR" dirty="0"/>
          </a:p>
          <a:p>
            <a:pPr lvl="0"/>
            <a:r>
              <a:rPr lang="pt-BR" dirty="0" err="1"/>
              <a:t>Maecenas</a:t>
            </a:r>
            <a:r>
              <a:rPr lang="pt-BR" dirty="0"/>
              <a:t> </a:t>
            </a:r>
            <a:r>
              <a:rPr lang="pt-BR" dirty="0" err="1"/>
              <a:t>feugiat</a:t>
            </a:r>
            <a:r>
              <a:rPr lang="pt-BR" dirty="0"/>
              <a:t>, </a:t>
            </a:r>
            <a:r>
              <a:rPr lang="pt-BR" dirty="0" err="1"/>
              <a:t>diam</a:t>
            </a:r>
            <a:r>
              <a:rPr lang="pt-BR" dirty="0"/>
              <a:t> vitae gravida </a:t>
            </a:r>
            <a:r>
              <a:rPr lang="pt-BR" dirty="0" err="1"/>
              <a:t>congue</a:t>
            </a:r>
            <a:r>
              <a:rPr lang="pt-BR" dirty="0"/>
              <a:t>, est sem </a:t>
            </a:r>
            <a:r>
              <a:rPr lang="pt-BR" dirty="0" err="1"/>
              <a:t>auctor</a:t>
            </a:r>
            <a:r>
              <a:rPr lang="pt-BR" dirty="0"/>
              <a:t> </a:t>
            </a:r>
            <a:r>
              <a:rPr lang="pt-BR" dirty="0" err="1"/>
              <a:t>orci</a:t>
            </a:r>
            <a:r>
              <a:rPr lang="pt-BR" dirty="0"/>
              <a:t>, </a:t>
            </a:r>
            <a:r>
              <a:rPr lang="pt-BR" dirty="0" err="1"/>
              <a:t>sit</a:t>
            </a:r>
            <a:r>
              <a:rPr lang="pt-BR" dirty="0"/>
              <a:t> </a:t>
            </a:r>
            <a:r>
              <a:rPr lang="pt-BR" dirty="0" err="1"/>
              <a:t>amet</a:t>
            </a:r>
            <a:r>
              <a:rPr lang="pt-BR" dirty="0"/>
              <a:t> </a:t>
            </a:r>
            <a:r>
              <a:rPr lang="pt-BR" dirty="0" err="1"/>
              <a:t>ullamcorper</a:t>
            </a:r>
            <a:r>
              <a:rPr lang="pt-BR" dirty="0"/>
              <a:t> sem </a:t>
            </a:r>
            <a:r>
              <a:rPr lang="pt-BR" dirty="0" err="1"/>
              <a:t>orci</a:t>
            </a:r>
            <a:r>
              <a:rPr lang="pt-BR" dirty="0"/>
              <a:t> in </a:t>
            </a:r>
            <a:r>
              <a:rPr lang="pt-BR" dirty="0" err="1"/>
              <a:t>tellus</a:t>
            </a:r>
            <a:r>
              <a:rPr lang="pt-BR" dirty="0"/>
              <a:t>. </a:t>
            </a:r>
            <a:r>
              <a:rPr lang="pt-BR" dirty="0" err="1"/>
              <a:t>Pellentesque</a:t>
            </a:r>
            <a:r>
              <a:rPr lang="pt-BR" dirty="0"/>
              <a:t> </a:t>
            </a:r>
            <a:r>
              <a:rPr lang="pt-BR" dirty="0" err="1"/>
              <a:t>habitant</a:t>
            </a:r>
            <a:r>
              <a:rPr lang="pt-BR" dirty="0"/>
              <a:t> </a:t>
            </a:r>
            <a:r>
              <a:rPr lang="pt-BR" dirty="0" err="1"/>
              <a:t>morbi</a:t>
            </a:r>
            <a:r>
              <a:rPr lang="pt-BR" dirty="0"/>
              <a:t> </a:t>
            </a:r>
            <a:r>
              <a:rPr lang="pt-BR" dirty="0" err="1"/>
              <a:t>tristique</a:t>
            </a:r>
            <a:r>
              <a:rPr lang="pt-BR" dirty="0"/>
              <a:t> </a:t>
            </a:r>
            <a:r>
              <a:rPr lang="pt-BR" dirty="0" err="1"/>
              <a:t>senectus</a:t>
            </a:r>
            <a:r>
              <a:rPr lang="pt-BR" dirty="0"/>
              <a:t> et </a:t>
            </a:r>
            <a:r>
              <a:rPr lang="pt-BR" dirty="0" err="1"/>
              <a:t>netus</a:t>
            </a:r>
            <a:r>
              <a:rPr lang="pt-BR" dirty="0"/>
              <a:t> et </a:t>
            </a:r>
            <a:r>
              <a:rPr lang="pt-BR" dirty="0" err="1"/>
              <a:t>malesuada</a:t>
            </a:r>
            <a:r>
              <a:rPr lang="pt-BR" dirty="0"/>
              <a:t>.</a:t>
            </a:r>
          </a:p>
        </p:txBody>
      </p:sp>
      <p:sp>
        <p:nvSpPr>
          <p:cNvPr id="25" name="Espaço Reservado para Conteúdo 4">
            <a:extLst>
              <a:ext uri="{FF2B5EF4-FFF2-40B4-BE49-F238E27FC236}">
                <a16:creationId xmlns:a16="http://schemas.microsoft.com/office/drawing/2014/main" id="{9DA28D68-018D-419D-A736-E64ACB9206E7}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5208200" y="3032630"/>
            <a:ext cx="4850199" cy="307374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400" b="1">
                <a:solidFill>
                  <a:schemeClr val="bg1"/>
                </a:solidFill>
                <a:latin typeface="Roboto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Item 1</a:t>
            </a:r>
          </a:p>
        </p:txBody>
      </p:sp>
      <p:sp>
        <p:nvSpPr>
          <p:cNvPr id="26" name="Espaço Reservado para Conteúdo 4">
            <a:extLst>
              <a:ext uri="{FF2B5EF4-FFF2-40B4-BE49-F238E27FC236}">
                <a16:creationId xmlns:a16="http://schemas.microsoft.com/office/drawing/2014/main" id="{431D2614-3827-4A58-A31E-D9102D6BE68E}"/>
              </a:ext>
            </a:extLst>
          </p:cNvPr>
          <p:cNvSpPr>
            <a:spLocks noGrp="1"/>
          </p:cNvSpPr>
          <p:nvPr>
            <p:ph sz="quarter" idx="15" hasCustomPrompt="1"/>
          </p:nvPr>
        </p:nvSpPr>
        <p:spPr>
          <a:xfrm>
            <a:off x="6242644" y="3500419"/>
            <a:ext cx="3815756" cy="336159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400" b="1">
                <a:solidFill>
                  <a:schemeClr val="bg1"/>
                </a:solidFill>
                <a:latin typeface="Roboto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Item 1</a:t>
            </a:r>
          </a:p>
        </p:txBody>
      </p:sp>
      <p:sp>
        <p:nvSpPr>
          <p:cNvPr id="27" name="Espaço Reservado para Conteúdo 4">
            <a:extLst>
              <a:ext uri="{FF2B5EF4-FFF2-40B4-BE49-F238E27FC236}">
                <a16:creationId xmlns:a16="http://schemas.microsoft.com/office/drawing/2014/main" id="{5E3BB5D0-837A-4037-AC95-AB1D4F649860}"/>
              </a:ext>
            </a:extLst>
          </p:cNvPr>
          <p:cNvSpPr>
            <a:spLocks noGrp="1"/>
          </p:cNvSpPr>
          <p:nvPr>
            <p:ph sz="quarter" idx="16" hasCustomPrompt="1"/>
          </p:nvPr>
        </p:nvSpPr>
        <p:spPr>
          <a:xfrm>
            <a:off x="7120214" y="3902767"/>
            <a:ext cx="2938185" cy="336159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400" b="1">
                <a:solidFill>
                  <a:schemeClr val="bg1"/>
                </a:solidFill>
                <a:latin typeface="Roboto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Item 1</a:t>
            </a:r>
          </a:p>
        </p:txBody>
      </p:sp>
    </p:spTree>
    <p:extLst>
      <p:ext uri="{BB962C8B-B14F-4D97-AF65-F5344CB8AC3E}">
        <p14:creationId xmlns:p14="http://schemas.microsoft.com/office/powerpoint/2010/main" val="192394157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uas Partes d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Imagem 7">
            <a:extLst>
              <a:ext uri="{FF2B5EF4-FFF2-40B4-BE49-F238E27FC236}">
                <a16:creationId xmlns:a16="http://schemas.microsoft.com/office/drawing/2014/main" id="{8F673DBA-CB69-50BD-F973-A9E3A3FE152E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15" name="Espaço Reservado para Conteúdo 4">
            <a:extLst>
              <a:ext uri="{FF2B5EF4-FFF2-40B4-BE49-F238E27FC236}">
                <a16:creationId xmlns:a16="http://schemas.microsoft.com/office/drawing/2014/main" id="{6BE41F8E-4F22-46F6-B0AE-D58832BE3FC2}"/>
              </a:ext>
            </a:extLst>
          </p:cNvPr>
          <p:cNvSpPr>
            <a:spLocks noGrp="1"/>
          </p:cNvSpPr>
          <p:nvPr>
            <p:ph sz="quarter" idx="12" hasCustomPrompt="1"/>
          </p:nvPr>
        </p:nvSpPr>
        <p:spPr>
          <a:xfrm>
            <a:off x="6637006" y="780986"/>
            <a:ext cx="4391941" cy="1118045"/>
          </a:xfrm>
          <a:prstGeom prst="rect">
            <a:avLst/>
          </a:prstGeom>
        </p:spPr>
        <p:txBody>
          <a:bodyPr/>
          <a:lstStyle>
            <a:lvl1pPr marL="0" marR="0" indent="0" algn="l" defTabSz="914400" rtl="0" eaLnBrk="1" fontAlgn="auto" latinLnBrk="0" hangingPunct="1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4000">
                <a:solidFill>
                  <a:schemeClr val="bg1">
                    <a:lumMod val="85000"/>
                  </a:schemeClr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marL="0" marR="0" lvl="0" indent="0" algn="l" defTabSz="914400" rtl="0" eaLnBrk="1" fontAlgn="auto" latinLnBrk="0" hangingPunct="1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pt-BR" dirty="0"/>
              <a:t>NOME </a:t>
            </a:r>
            <a:br>
              <a:rPr lang="pt-BR" dirty="0"/>
            </a:br>
            <a:r>
              <a:rPr lang="pt-BR" dirty="0"/>
              <a:t>DA SEÇÃO</a:t>
            </a:r>
          </a:p>
        </p:txBody>
      </p:sp>
      <p:sp>
        <p:nvSpPr>
          <p:cNvPr id="18" name="Espaço Reservado para Conteúdo 4">
            <a:extLst>
              <a:ext uri="{FF2B5EF4-FFF2-40B4-BE49-F238E27FC236}">
                <a16:creationId xmlns:a16="http://schemas.microsoft.com/office/drawing/2014/main" id="{180BB7B2-EE70-4E52-A5A7-0F7F00EFB298}"/>
              </a:ext>
            </a:extLst>
          </p:cNvPr>
          <p:cNvSpPr>
            <a:spLocks noGrp="1"/>
          </p:cNvSpPr>
          <p:nvPr>
            <p:ph sz="quarter" idx="11" hasCustomPrompt="1"/>
          </p:nvPr>
        </p:nvSpPr>
        <p:spPr>
          <a:xfrm>
            <a:off x="6637006" y="2245217"/>
            <a:ext cx="3848744" cy="316190"/>
          </a:xfrm>
          <a:prstGeom prst="rect">
            <a:avLst/>
          </a:prstGeom>
        </p:spPr>
        <p:txBody>
          <a:bodyPr anchor="b"/>
          <a:lstStyle>
            <a:lvl1pPr marL="0" indent="0">
              <a:lnSpc>
                <a:spcPct val="80000"/>
              </a:lnSpc>
              <a:spcBef>
                <a:spcPts val="0"/>
              </a:spcBef>
              <a:buNone/>
              <a:defRPr sz="2400">
                <a:solidFill>
                  <a:srgbClr val="21049A"/>
                </a:solidFill>
                <a:latin typeface="Roboto Black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INTERTÍTULO 1</a:t>
            </a:r>
          </a:p>
        </p:txBody>
      </p:sp>
      <p:sp>
        <p:nvSpPr>
          <p:cNvPr id="19" name="Espaço Reservado para Conteúdo 4">
            <a:extLst>
              <a:ext uri="{FF2B5EF4-FFF2-40B4-BE49-F238E27FC236}">
                <a16:creationId xmlns:a16="http://schemas.microsoft.com/office/drawing/2014/main" id="{664A7BCC-13C8-4944-BAC9-E32ACD6D1ED0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6637006" y="2589090"/>
            <a:ext cx="3859001" cy="1324583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400">
                <a:solidFill>
                  <a:schemeClr val="tx1"/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 err="1"/>
              <a:t>Vestibulum</a:t>
            </a:r>
            <a:r>
              <a:rPr lang="pt-BR" dirty="0"/>
              <a:t> et nunc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 </a:t>
            </a:r>
            <a:r>
              <a:rPr lang="pt-BR" dirty="0" err="1"/>
              <a:t>consectetur</a:t>
            </a:r>
            <a:r>
              <a:rPr lang="pt-BR" dirty="0"/>
              <a:t> </a:t>
            </a:r>
            <a:r>
              <a:rPr lang="pt-BR" dirty="0" err="1"/>
              <a:t>efficitur</a:t>
            </a:r>
            <a:r>
              <a:rPr lang="pt-BR" dirty="0"/>
              <a:t>. </a:t>
            </a:r>
            <a:r>
              <a:rPr lang="pt-BR" dirty="0" err="1"/>
              <a:t>Nullam</a:t>
            </a:r>
            <a:r>
              <a:rPr lang="pt-BR" dirty="0"/>
              <a:t>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lorem</a:t>
            </a:r>
            <a:r>
              <a:rPr lang="pt-BR" dirty="0"/>
              <a:t> </a:t>
            </a:r>
            <a:r>
              <a:rPr lang="pt-BR" dirty="0" err="1"/>
              <a:t>molestie</a:t>
            </a:r>
            <a:r>
              <a:rPr lang="pt-BR" dirty="0"/>
              <a:t> </a:t>
            </a:r>
            <a:r>
              <a:rPr lang="pt-BR" dirty="0" err="1"/>
              <a:t>velit</a:t>
            </a:r>
            <a:r>
              <a:rPr lang="pt-BR" dirty="0"/>
              <a:t> </a:t>
            </a:r>
            <a:r>
              <a:rPr lang="pt-BR" dirty="0" err="1"/>
              <a:t>vestibulum</a:t>
            </a:r>
            <a:r>
              <a:rPr lang="pt-BR" dirty="0"/>
              <a:t> </a:t>
            </a:r>
            <a:r>
              <a:rPr lang="pt-BR" dirty="0" err="1"/>
              <a:t>dictum</a:t>
            </a:r>
            <a:r>
              <a:rPr lang="pt-BR" dirty="0"/>
              <a:t>. </a:t>
            </a:r>
            <a:r>
              <a:rPr lang="pt-BR" dirty="0" err="1"/>
              <a:t>Morbi</a:t>
            </a:r>
            <a:r>
              <a:rPr lang="pt-BR" dirty="0"/>
              <a:t> </a:t>
            </a:r>
            <a:r>
              <a:rPr lang="pt-BR" dirty="0" err="1"/>
              <a:t>eget</a:t>
            </a:r>
            <a:r>
              <a:rPr lang="pt-BR" dirty="0"/>
              <a:t> </a:t>
            </a:r>
            <a:r>
              <a:rPr lang="pt-BR" dirty="0" err="1"/>
              <a:t>nisi</a:t>
            </a:r>
            <a:r>
              <a:rPr lang="pt-BR" dirty="0"/>
              <a:t> </a:t>
            </a:r>
            <a:r>
              <a:rPr lang="pt-BR" dirty="0" err="1"/>
              <a:t>dolor</a:t>
            </a:r>
            <a:r>
              <a:rPr lang="pt-BR" dirty="0"/>
              <a:t>. </a:t>
            </a:r>
            <a:r>
              <a:rPr lang="pt-BR" dirty="0" err="1"/>
              <a:t>Aliquam</a:t>
            </a:r>
            <a:r>
              <a:rPr lang="pt-BR" dirty="0"/>
              <a:t> </a:t>
            </a:r>
            <a:r>
              <a:rPr lang="pt-BR" dirty="0" err="1"/>
              <a:t>imperdiet</a:t>
            </a:r>
            <a:r>
              <a:rPr lang="pt-BR" dirty="0"/>
              <a:t> </a:t>
            </a:r>
            <a:r>
              <a:rPr lang="pt-BR" dirty="0" err="1"/>
              <a:t>ex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, id </a:t>
            </a:r>
            <a:r>
              <a:rPr lang="pt-BR" dirty="0" err="1"/>
              <a:t>mattis</a:t>
            </a:r>
            <a:r>
              <a:rPr lang="pt-BR" dirty="0"/>
              <a:t> </a:t>
            </a:r>
            <a:r>
              <a:rPr lang="pt-BR" dirty="0" err="1"/>
              <a:t>lacus</a:t>
            </a:r>
            <a:r>
              <a:rPr lang="pt-BR" dirty="0"/>
              <a:t> </a:t>
            </a:r>
            <a:r>
              <a:rPr lang="pt-BR" dirty="0" err="1"/>
              <a:t>feugiat</a:t>
            </a:r>
            <a:r>
              <a:rPr lang="pt-BR" dirty="0"/>
              <a:t> </a:t>
            </a:r>
            <a:r>
              <a:rPr lang="pt-BR" dirty="0" err="1"/>
              <a:t>sit</a:t>
            </a:r>
            <a:r>
              <a:rPr lang="pt-BR" dirty="0"/>
              <a:t> </a:t>
            </a:r>
            <a:r>
              <a:rPr lang="pt-BR" dirty="0" err="1"/>
              <a:t>amet</a:t>
            </a:r>
            <a:r>
              <a:rPr lang="pt-BR" dirty="0"/>
              <a:t>. </a:t>
            </a:r>
          </a:p>
        </p:txBody>
      </p:sp>
      <p:sp>
        <p:nvSpPr>
          <p:cNvPr id="22" name="Espaço Reservado para Conteúdo 4">
            <a:extLst>
              <a:ext uri="{FF2B5EF4-FFF2-40B4-BE49-F238E27FC236}">
                <a16:creationId xmlns:a16="http://schemas.microsoft.com/office/drawing/2014/main" id="{D2F372CA-7A81-4DC0-9C08-38BBC4518D5C}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6637006" y="4362546"/>
            <a:ext cx="3848744" cy="316190"/>
          </a:xfrm>
          <a:prstGeom prst="rect">
            <a:avLst/>
          </a:prstGeom>
        </p:spPr>
        <p:txBody>
          <a:bodyPr anchor="b"/>
          <a:lstStyle>
            <a:lvl1pPr marL="0" indent="0">
              <a:lnSpc>
                <a:spcPct val="80000"/>
              </a:lnSpc>
              <a:spcBef>
                <a:spcPts val="0"/>
              </a:spcBef>
              <a:buNone/>
              <a:defRPr sz="2400">
                <a:solidFill>
                  <a:srgbClr val="21049A"/>
                </a:solidFill>
                <a:latin typeface="Roboto Black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INTERTÍTULO 2</a:t>
            </a:r>
          </a:p>
        </p:txBody>
      </p:sp>
      <p:sp>
        <p:nvSpPr>
          <p:cNvPr id="23" name="Espaço Reservado para Conteúdo 4">
            <a:extLst>
              <a:ext uri="{FF2B5EF4-FFF2-40B4-BE49-F238E27FC236}">
                <a16:creationId xmlns:a16="http://schemas.microsoft.com/office/drawing/2014/main" id="{99641B3D-FFEC-4170-9DE3-5965CE430DC3}"/>
              </a:ext>
            </a:extLst>
          </p:cNvPr>
          <p:cNvSpPr>
            <a:spLocks noGrp="1"/>
          </p:cNvSpPr>
          <p:nvPr>
            <p:ph sz="quarter" idx="15" hasCustomPrompt="1"/>
          </p:nvPr>
        </p:nvSpPr>
        <p:spPr>
          <a:xfrm>
            <a:off x="6637006" y="4706419"/>
            <a:ext cx="3859001" cy="1324583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400">
                <a:solidFill>
                  <a:schemeClr val="tx1"/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 err="1"/>
              <a:t>Vestibulum</a:t>
            </a:r>
            <a:r>
              <a:rPr lang="pt-BR" dirty="0"/>
              <a:t> et nunc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 </a:t>
            </a:r>
            <a:r>
              <a:rPr lang="pt-BR" dirty="0" err="1"/>
              <a:t>consectetur</a:t>
            </a:r>
            <a:r>
              <a:rPr lang="pt-BR" dirty="0"/>
              <a:t> </a:t>
            </a:r>
            <a:r>
              <a:rPr lang="pt-BR" dirty="0" err="1"/>
              <a:t>efficitur</a:t>
            </a:r>
            <a:r>
              <a:rPr lang="pt-BR" dirty="0"/>
              <a:t>. </a:t>
            </a:r>
            <a:r>
              <a:rPr lang="pt-BR" dirty="0" err="1"/>
              <a:t>Nullam</a:t>
            </a:r>
            <a:r>
              <a:rPr lang="pt-BR" dirty="0"/>
              <a:t>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lorem</a:t>
            </a:r>
            <a:r>
              <a:rPr lang="pt-BR" dirty="0"/>
              <a:t> </a:t>
            </a:r>
            <a:r>
              <a:rPr lang="pt-BR" dirty="0" err="1"/>
              <a:t>molestie</a:t>
            </a:r>
            <a:r>
              <a:rPr lang="pt-BR" dirty="0"/>
              <a:t> </a:t>
            </a:r>
            <a:r>
              <a:rPr lang="pt-BR" dirty="0" err="1"/>
              <a:t>velit</a:t>
            </a:r>
            <a:r>
              <a:rPr lang="pt-BR" dirty="0"/>
              <a:t> </a:t>
            </a:r>
            <a:r>
              <a:rPr lang="pt-BR" dirty="0" err="1"/>
              <a:t>vestibulum</a:t>
            </a:r>
            <a:r>
              <a:rPr lang="pt-BR" dirty="0"/>
              <a:t> </a:t>
            </a:r>
            <a:r>
              <a:rPr lang="pt-BR" dirty="0" err="1"/>
              <a:t>dictum</a:t>
            </a:r>
            <a:r>
              <a:rPr lang="pt-BR" dirty="0"/>
              <a:t>. </a:t>
            </a:r>
            <a:r>
              <a:rPr lang="pt-BR" dirty="0" err="1"/>
              <a:t>Morbi</a:t>
            </a:r>
            <a:r>
              <a:rPr lang="pt-BR" dirty="0"/>
              <a:t> </a:t>
            </a:r>
            <a:r>
              <a:rPr lang="pt-BR" dirty="0" err="1"/>
              <a:t>eget</a:t>
            </a:r>
            <a:r>
              <a:rPr lang="pt-BR" dirty="0"/>
              <a:t> </a:t>
            </a:r>
            <a:r>
              <a:rPr lang="pt-BR" dirty="0" err="1"/>
              <a:t>nisi</a:t>
            </a:r>
            <a:r>
              <a:rPr lang="pt-BR" dirty="0"/>
              <a:t> </a:t>
            </a:r>
            <a:r>
              <a:rPr lang="pt-BR" dirty="0" err="1"/>
              <a:t>dolor</a:t>
            </a:r>
            <a:r>
              <a:rPr lang="pt-BR" dirty="0"/>
              <a:t>. </a:t>
            </a:r>
            <a:r>
              <a:rPr lang="pt-BR" dirty="0" err="1"/>
              <a:t>Aliquam</a:t>
            </a:r>
            <a:r>
              <a:rPr lang="pt-BR" dirty="0"/>
              <a:t> </a:t>
            </a:r>
            <a:r>
              <a:rPr lang="pt-BR" dirty="0" err="1"/>
              <a:t>imperdiet</a:t>
            </a:r>
            <a:r>
              <a:rPr lang="pt-BR" dirty="0"/>
              <a:t> </a:t>
            </a:r>
            <a:r>
              <a:rPr lang="pt-BR" dirty="0" err="1"/>
              <a:t>ex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, id </a:t>
            </a:r>
            <a:r>
              <a:rPr lang="pt-BR" dirty="0" err="1"/>
              <a:t>mattis</a:t>
            </a:r>
            <a:r>
              <a:rPr lang="pt-BR" dirty="0"/>
              <a:t> </a:t>
            </a:r>
            <a:r>
              <a:rPr lang="pt-BR" dirty="0" err="1"/>
              <a:t>lacus</a:t>
            </a:r>
            <a:r>
              <a:rPr lang="pt-BR" dirty="0"/>
              <a:t> </a:t>
            </a:r>
            <a:r>
              <a:rPr lang="pt-BR" dirty="0" err="1"/>
              <a:t>feugiat</a:t>
            </a:r>
            <a:r>
              <a:rPr lang="pt-BR" dirty="0"/>
              <a:t> </a:t>
            </a:r>
            <a:r>
              <a:rPr lang="pt-BR" dirty="0" err="1"/>
              <a:t>sit</a:t>
            </a:r>
            <a:r>
              <a:rPr lang="pt-BR" dirty="0"/>
              <a:t> </a:t>
            </a:r>
            <a:r>
              <a:rPr lang="pt-BR" dirty="0" err="1"/>
              <a:t>amet</a:t>
            </a:r>
            <a:r>
              <a:rPr lang="pt-BR" dirty="0"/>
              <a:t>. </a:t>
            </a:r>
          </a:p>
        </p:txBody>
      </p:sp>
    </p:spTree>
    <p:extLst>
      <p:ext uri="{BB962C8B-B14F-4D97-AF65-F5344CB8AC3E}">
        <p14:creationId xmlns:p14="http://schemas.microsoft.com/office/powerpoint/2010/main" val="198231198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mpara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Imagem 9" descr="Forma&#10;&#10;O conteúdo gerado por IA pode estar incorreto.">
            <a:extLst>
              <a:ext uri="{FF2B5EF4-FFF2-40B4-BE49-F238E27FC236}">
                <a16:creationId xmlns:a16="http://schemas.microsoft.com/office/drawing/2014/main" id="{3C9A769A-63A3-DE23-592B-55245BC35287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-8750"/>
            <a:ext cx="12192000" cy="6866749"/>
          </a:xfrm>
          <a:prstGeom prst="rect">
            <a:avLst/>
          </a:prstGeom>
        </p:spPr>
      </p:pic>
      <p:pic>
        <p:nvPicPr>
          <p:cNvPr id="14" name="Gráfico 13">
            <a:extLst>
              <a:ext uri="{FF2B5EF4-FFF2-40B4-BE49-F238E27FC236}">
                <a16:creationId xmlns:a16="http://schemas.microsoft.com/office/drawing/2014/main" id="{1E1C6F54-8EED-6A4A-951E-8F53058EBB6A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1361271" y="5963677"/>
            <a:ext cx="531242" cy="531242"/>
          </a:xfrm>
          <a:prstGeom prst="rect">
            <a:avLst/>
          </a:prstGeom>
        </p:spPr>
      </p:pic>
      <p:sp>
        <p:nvSpPr>
          <p:cNvPr id="7" name="Espaço Reservado para Conteúdo 4">
            <a:extLst>
              <a:ext uri="{FF2B5EF4-FFF2-40B4-BE49-F238E27FC236}">
                <a16:creationId xmlns:a16="http://schemas.microsoft.com/office/drawing/2014/main" id="{39251BE9-618E-42E3-99D7-A7567BEAC4F4}"/>
              </a:ext>
            </a:extLst>
          </p:cNvPr>
          <p:cNvSpPr>
            <a:spLocks noGrp="1"/>
          </p:cNvSpPr>
          <p:nvPr>
            <p:ph sz="quarter" idx="12" hasCustomPrompt="1"/>
          </p:nvPr>
        </p:nvSpPr>
        <p:spPr>
          <a:xfrm>
            <a:off x="892701" y="2865601"/>
            <a:ext cx="3927494" cy="1118045"/>
          </a:xfrm>
          <a:prstGeom prst="rect">
            <a:avLst/>
          </a:prstGeom>
        </p:spPr>
        <p:txBody>
          <a:bodyPr anchor="ctr"/>
          <a:lstStyle>
            <a:lvl1pPr marL="0" indent="0">
              <a:lnSpc>
                <a:spcPct val="80000"/>
              </a:lnSpc>
              <a:spcBef>
                <a:spcPts val="0"/>
              </a:spcBef>
              <a:buNone/>
              <a:defRPr sz="4800">
                <a:solidFill>
                  <a:srgbClr val="21049A"/>
                </a:solidFill>
                <a:latin typeface="Roboto Black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TÍTULO</a:t>
            </a:r>
          </a:p>
          <a:p>
            <a:pPr lvl="0"/>
            <a:r>
              <a:rPr lang="pt-BR" dirty="0"/>
              <a:t>TÍTULO</a:t>
            </a:r>
          </a:p>
        </p:txBody>
      </p:sp>
      <p:sp>
        <p:nvSpPr>
          <p:cNvPr id="9" name="Espaço Reservado para Conteúdo 4">
            <a:extLst>
              <a:ext uri="{FF2B5EF4-FFF2-40B4-BE49-F238E27FC236}">
                <a16:creationId xmlns:a16="http://schemas.microsoft.com/office/drawing/2014/main" id="{37BB87C6-3A52-4563-8FED-B6B3781BF212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892701" y="794269"/>
            <a:ext cx="3927494" cy="1118045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80000"/>
              </a:lnSpc>
              <a:spcBef>
                <a:spcPts val="0"/>
              </a:spcBef>
              <a:buNone/>
              <a:defRPr sz="4000">
                <a:solidFill>
                  <a:schemeClr val="bg1">
                    <a:lumMod val="85000"/>
                  </a:schemeClr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TÍTULO</a:t>
            </a:r>
          </a:p>
          <a:p>
            <a:pPr lvl="0"/>
            <a:r>
              <a:rPr lang="pt-BR" dirty="0"/>
              <a:t>TÍTULO</a:t>
            </a:r>
          </a:p>
        </p:txBody>
      </p:sp>
      <p:sp>
        <p:nvSpPr>
          <p:cNvPr id="16" name="Espaço Reservado para Conteúdo 4">
            <a:extLst>
              <a:ext uri="{FF2B5EF4-FFF2-40B4-BE49-F238E27FC236}">
                <a16:creationId xmlns:a16="http://schemas.microsoft.com/office/drawing/2014/main" id="{74A45D75-7A9C-404D-BDF7-39D938D9204A}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6231687" y="2271833"/>
            <a:ext cx="3927494" cy="1118045"/>
          </a:xfrm>
          <a:prstGeom prst="rect">
            <a:avLst/>
          </a:prstGeom>
        </p:spPr>
        <p:txBody>
          <a:bodyPr/>
          <a:lstStyle>
            <a:lvl1pPr marL="285750" indent="-285750">
              <a:lnSpc>
                <a:spcPct val="100000"/>
              </a:lnSpc>
              <a:spcBef>
                <a:spcPts val="0"/>
              </a:spcBef>
              <a:spcAft>
                <a:spcPts val="1000"/>
              </a:spcAft>
              <a:buFontTx/>
              <a:buChar char="•"/>
              <a:defRPr sz="1600">
                <a:solidFill>
                  <a:schemeClr val="bg1">
                    <a:lumMod val="85000"/>
                  </a:schemeClr>
                </a:solidFill>
                <a:latin typeface="Roboto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ITEM 1</a:t>
            </a:r>
          </a:p>
          <a:p>
            <a:pPr lvl="0"/>
            <a:r>
              <a:rPr lang="pt-BR" dirty="0"/>
              <a:t>ITEM 2</a:t>
            </a:r>
          </a:p>
          <a:p>
            <a:pPr lvl="0"/>
            <a:r>
              <a:rPr lang="pt-BR" dirty="0"/>
              <a:t>ITEM 3</a:t>
            </a:r>
          </a:p>
          <a:p>
            <a:pPr lvl="0"/>
            <a:r>
              <a:rPr lang="pt-BR" dirty="0"/>
              <a:t>ITEM 4</a:t>
            </a:r>
          </a:p>
          <a:p>
            <a:pPr lvl="0"/>
            <a:r>
              <a:rPr lang="pt-BR" dirty="0"/>
              <a:t>ITEM 5</a:t>
            </a:r>
          </a:p>
          <a:p>
            <a:pPr lvl="0"/>
            <a:r>
              <a:rPr lang="pt-BR" dirty="0"/>
              <a:t>ITEM 6</a:t>
            </a:r>
          </a:p>
          <a:p>
            <a:pPr lvl="0"/>
            <a:r>
              <a:rPr lang="pt-BR" dirty="0"/>
              <a:t>ITEM 7</a:t>
            </a:r>
          </a:p>
        </p:txBody>
      </p:sp>
    </p:spTree>
    <p:extLst>
      <p:ext uri="{BB962C8B-B14F-4D97-AF65-F5344CB8AC3E}">
        <p14:creationId xmlns:p14="http://schemas.microsoft.com/office/powerpoint/2010/main" val="346779288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oment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" name="Imagem 13">
            <a:extLst>
              <a:ext uri="{FF2B5EF4-FFF2-40B4-BE49-F238E27FC236}">
                <a16:creationId xmlns:a16="http://schemas.microsoft.com/office/drawing/2014/main" id="{4A036B0A-933A-2985-8269-6345DAD8922C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6" name="Espaço Reservado para Conteúdo 4">
            <a:extLst>
              <a:ext uri="{FF2B5EF4-FFF2-40B4-BE49-F238E27FC236}">
                <a16:creationId xmlns:a16="http://schemas.microsoft.com/office/drawing/2014/main" id="{45D534F8-C499-4401-B371-2922E2FC60F2}"/>
              </a:ext>
            </a:extLst>
          </p:cNvPr>
          <p:cNvSpPr>
            <a:spLocks noGrp="1"/>
          </p:cNvSpPr>
          <p:nvPr>
            <p:ph sz="quarter" idx="12" hasCustomPrompt="1"/>
          </p:nvPr>
        </p:nvSpPr>
        <p:spPr>
          <a:xfrm>
            <a:off x="1815738" y="2608895"/>
            <a:ext cx="9013371" cy="820105"/>
          </a:xfrm>
          <a:prstGeom prst="rect">
            <a:avLst/>
          </a:prstGeom>
        </p:spPr>
        <p:txBody>
          <a:bodyPr/>
          <a:lstStyle>
            <a:lvl1pPr marL="0" indent="0" algn="ctr">
              <a:lnSpc>
                <a:spcPct val="80000"/>
              </a:lnSpc>
              <a:spcBef>
                <a:spcPts val="0"/>
              </a:spcBef>
              <a:buNone/>
              <a:defRPr sz="8000">
                <a:solidFill>
                  <a:schemeClr val="bg1"/>
                </a:solidFill>
                <a:latin typeface="Roboto Black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TÍTULO</a:t>
            </a:r>
          </a:p>
        </p:txBody>
      </p:sp>
      <p:sp>
        <p:nvSpPr>
          <p:cNvPr id="8" name="Espaço Reservado para Conteúdo 4">
            <a:extLst>
              <a:ext uri="{FF2B5EF4-FFF2-40B4-BE49-F238E27FC236}">
                <a16:creationId xmlns:a16="http://schemas.microsoft.com/office/drawing/2014/main" id="{BB3FE49F-E596-4FC6-AC93-7944FFF72447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2971518" y="3526859"/>
            <a:ext cx="6851751" cy="2351427"/>
          </a:xfrm>
          <a:prstGeom prst="rect">
            <a:avLst/>
          </a:prstGeom>
        </p:spPr>
        <p:txBody>
          <a:bodyPr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1800">
                <a:solidFill>
                  <a:schemeClr val="bg1"/>
                </a:solidFill>
                <a:latin typeface="Roboto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 err="1"/>
              <a:t>Vestibulum</a:t>
            </a:r>
            <a:r>
              <a:rPr lang="pt-BR" dirty="0"/>
              <a:t> et nunc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 </a:t>
            </a:r>
            <a:r>
              <a:rPr lang="pt-BR" dirty="0" err="1"/>
              <a:t>consectetur</a:t>
            </a:r>
            <a:r>
              <a:rPr lang="pt-BR" dirty="0"/>
              <a:t> </a:t>
            </a:r>
            <a:r>
              <a:rPr lang="pt-BR" dirty="0" err="1"/>
              <a:t>efficitur</a:t>
            </a:r>
            <a:r>
              <a:rPr lang="pt-BR" dirty="0"/>
              <a:t>. </a:t>
            </a:r>
            <a:r>
              <a:rPr lang="pt-BR" dirty="0" err="1"/>
              <a:t>Nullam</a:t>
            </a:r>
            <a:r>
              <a:rPr lang="pt-BR" dirty="0"/>
              <a:t>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lorem</a:t>
            </a:r>
            <a:r>
              <a:rPr lang="pt-BR" dirty="0"/>
              <a:t> </a:t>
            </a:r>
            <a:r>
              <a:rPr lang="pt-BR" dirty="0" err="1"/>
              <a:t>molestie</a:t>
            </a:r>
            <a:r>
              <a:rPr lang="pt-BR" dirty="0"/>
              <a:t> </a:t>
            </a:r>
            <a:r>
              <a:rPr lang="pt-BR" dirty="0" err="1"/>
              <a:t>velit</a:t>
            </a:r>
            <a:r>
              <a:rPr lang="pt-BR" dirty="0"/>
              <a:t> </a:t>
            </a:r>
            <a:r>
              <a:rPr lang="pt-BR" dirty="0" err="1"/>
              <a:t>vestibulum</a:t>
            </a:r>
            <a:r>
              <a:rPr lang="pt-BR" dirty="0"/>
              <a:t> </a:t>
            </a:r>
            <a:r>
              <a:rPr lang="pt-BR" dirty="0" err="1"/>
              <a:t>dictum</a:t>
            </a:r>
            <a:r>
              <a:rPr lang="pt-BR" dirty="0"/>
              <a:t>. </a:t>
            </a:r>
            <a:r>
              <a:rPr lang="pt-BR" dirty="0" err="1"/>
              <a:t>Morbi</a:t>
            </a:r>
            <a:r>
              <a:rPr lang="pt-BR" dirty="0"/>
              <a:t> </a:t>
            </a:r>
            <a:r>
              <a:rPr lang="pt-BR" dirty="0" err="1"/>
              <a:t>eget</a:t>
            </a:r>
            <a:r>
              <a:rPr lang="pt-BR" dirty="0"/>
              <a:t> </a:t>
            </a:r>
            <a:r>
              <a:rPr lang="pt-BR" dirty="0" err="1"/>
              <a:t>nisi</a:t>
            </a:r>
            <a:r>
              <a:rPr lang="pt-BR" dirty="0"/>
              <a:t> </a:t>
            </a:r>
            <a:r>
              <a:rPr lang="pt-BR" dirty="0" err="1"/>
              <a:t>dolor</a:t>
            </a:r>
            <a:r>
              <a:rPr lang="pt-BR" dirty="0"/>
              <a:t>. </a:t>
            </a:r>
            <a:r>
              <a:rPr lang="pt-BR" dirty="0" err="1"/>
              <a:t>Aliquam</a:t>
            </a:r>
            <a:r>
              <a:rPr lang="pt-BR" dirty="0"/>
              <a:t> </a:t>
            </a:r>
            <a:r>
              <a:rPr lang="pt-BR" dirty="0" err="1"/>
              <a:t>imperdiet</a:t>
            </a:r>
            <a:r>
              <a:rPr lang="pt-BR" dirty="0"/>
              <a:t> </a:t>
            </a:r>
            <a:r>
              <a:rPr lang="pt-BR" dirty="0" err="1"/>
              <a:t>ex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, id </a:t>
            </a:r>
            <a:r>
              <a:rPr lang="pt-BR" dirty="0" err="1"/>
              <a:t>mattis</a:t>
            </a:r>
            <a:r>
              <a:rPr lang="pt-BR" dirty="0"/>
              <a:t> </a:t>
            </a:r>
            <a:r>
              <a:rPr lang="pt-BR" dirty="0" err="1"/>
              <a:t>lacus</a:t>
            </a:r>
            <a:r>
              <a:rPr lang="pt-BR" dirty="0"/>
              <a:t> </a:t>
            </a:r>
            <a:r>
              <a:rPr lang="pt-BR" dirty="0" err="1"/>
              <a:t>feugiat</a:t>
            </a:r>
            <a:r>
              <a:rPr lang="pt-BR" dirty="0"/>
              <a:t> </a:t>
            </a:r>
            <a:r>
              <a:rPr lang="pt-BR" dirty="0" err="1"/>
              <a:t>sit</a:t>
            </a:r>
            <a:r>
              <a:rPr lang="pt-BR" dirty="0"/>
              <a:t> </a:t>
            </a:r>
            <a:r>
              <a:rPr lang="pt-BR" dirty="0" err="1"/>
              <a:t>amet</a:t>
            </a:r>
            <a:r>
              <a:rPr lang="pt-BR" dirty="0"/>
              <a:t>. </a:t>
            </a:r>
          </a:p>
        </p:txBody>
      </p:sp>
    </p:spTree>
    <p:extLst>
      <p:ext uri="{BB962C8B-B14F-4D97-AF65-F5344CB8AC3E}">
        <p14:creationId xmlns:p14="http://schemas.microsoft.com/office/powerpoint/2010/main" val="346226434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m br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Imagem 7" descr="Ícone&#10;&#10;O conteúdo gerado por IA pode estar incorreto.">
            <a:extLst>
              <a:ext uri="{FF2B5EF4-FFF2-40B4-BE49-F238E27FC236}">
                <a16:creationId xmlns:a16="http://schemas.microsoft.com/office/drawing/2014/main" id="{AF2EB98D-EF35-397E-FA18-F906466EB535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0" name="Espaço Reservado para Conteúdo 4">
            <a:extLst>
              <a:ext uri="{FF2B5EF4-FFF2-40B4-BE49-F238E27FC236}">
                <a16:creationId xmlns:a16="http://schemas.microsoft.com/office/drawing/2014/main" id="{2B6F4DD1-33F3-4B49-95ED-C95B61876CA5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1476376" y="3916012"/>
            <a:ext cx="2819400" cy="1815882"/>
          </a:xfrm>
          <a:prstGeom prst="rect">
            <a:avLst/>
          </a:prstGeom>
        </p:spPr>
        <p:txBody>
          <a:bodyPr/>
          <a:lstStyle>
            <a:lvl1pPr marL="285750" indent="-285750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Char char="•"/>
              <a:defRPr sz="1400">
                <a:solidFill>
                  <a:schemeClr val="tx1"/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 err="1"/>
              <a:t>Vestibulum</a:t>
            </a:r>
            <a:r>
              <a:rPr lang="pt-BR" dirty="0"/>
              <a:t> et nunc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 </a:t>
            </a:r>
            <a:r>
              <a:rPr lang="pt-BR" dirty="0" err="1"/>
              <a:t>consectetur</a:t>
            </a:r>
            <a:r>
              <a:rPr lang="pt-BR" dirty="0"/>
              <a:t> </a:t>
            </a:r>
            <a:r>
              <a:rPr lang="pt-BR" dirty="0" err="1"/>
              <a:t>efficitur</a:t>
            </a:r>
            <a:r>
              <a:rPr lang="pt-BR" dirty="0"/>
              <a:t>. </a:t>
            </a:r>
          </a:p>
          <a:p>
            <a:pPr lvl="0"/>
            <a:r>
              <a:rPr lang="pt-BR" dirty="0" err="1"/>
              <a:t>Nullam</a:t>
            </a:r>
            <a:r>
              <a:rPr lang="pt-BR" dirty="0"/>
              <a:t>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lorem</a:t>
            </a:r>
            <a:r>
              <a:rPr lang="pt-BR" dirty="0"/>
              <a:t> </a:t>
            </a:r>
            <a:r>
              <a:rPr lang="pt-BR" dirty="0" err="1"/>
              <a:t>molestie</a:t>
            </a:r>
            <a:r>
              <a:rPr lang="pt-BR" dirty="0"/>
              <a:t> </a:t>
            </a:r>
            <a:r>
              <a:rPr lang="pt-BR" dirty="0" err="1"/>
              <a:t>velit</a:t>
            </a:r>
            <a:r>
              <a:rPr lang="pt-BR" dirty="0"/>
              <a:t> </a:t>
            </a:r>
            <a:r>
              <a:rPr lang="pt-BR" dirty="0" err="1"/>
              <a:t>vestibulum</a:t>
            </a:r>
            <a:r>
              <a:rPr lang="pt-BR" dirty="0"/>
              <a:t> </a:t>
            </a:r>
            <a:r>
              <a:rPr lang="pt-BR" dirty="0" err="1"/>
              <a:t>dictum</a:t>
            </a:r>
            <a:r>
              <a:rPr lang="pt-BR" dirty="0"/>
              <a:t>. </a:t>
            </a:r>
          </a:p>
          <a:p>
            <a:pPr lvl="0"/>
            <a:r>
              <a:rPr lang="pt-BR" dirty="0" err="1"/>
              <a:t>Morbi</a:t>
            </a:r>
            <a:r>
              <a:rPr lang="pt-BR" dirty="0"/>
              <a:t> </a:t>
            </a:r>
            <a:r>
              <a:rPr lang="pt-BR" dirty="0" err="1"/>
              <a:t>eget</a:t>
            </a:r>
            <a:r>
              <a:rPr lang="pt-BR" dirty="0"/>
              <a:t> </a:t>
            </a:r>
            <a:r>
              <a:rPr lang="pt-BR" dirty="0" err="1"/>
              <a:t>nisi</a:t>
            </a:r>
            <a:r>
              <a:rPr lang="pt-BR" dirty="0"/>
              <a:t> </a:t>
            </a:r>
            <a:r>
              <a:rPr lang="pt-BR" dirty="0" err="1"/>
              <a:t>dolor</a:t>
            </a:r>
            <a:r>
              <a:rPr lang="pt-BR" dirty="0"/>
              <a:t>. </a:t>
            </a:r>
            <a:r>
              <a:rPr lang="pt-BR" dirty="0" err="1"/>
              <a:t>Aliquam</a:t>
            </a:r>
            <a:r>
              <a:rPr lang="pt-BR" dirty="0"/>
              <a:t> </a:t>
            </a:r>
            <a:r>
              <a:rPr lang="pt-BR" dirty="0" err="1"/>
              <a:t>imperdiet</a:t>
            </a:r>
            <a:r>
              <a:rPr lang="pt-BR" dirty="0"/>
              <a:t> </a:t>
            </a:r>
            <a:r>
              <a:rPr lang="pt-BR" dirty="0" err="1"/>
              <a:t>ex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, id </a:t>
            </a:r>
            <a:r>
              <a:rPr lang="pt-BR" dirty="0" err="1"/>
              <a:t>mattis</a:t>
            </a:r>
            <a:r>
              <a:rPr lang="pt-BR" dirty="0"/>
              <a:t> </a:t>
            </a:r>
            <a:r>
              <a:rPr lang="pt-BR" dirty="0" err="1"/>
              <a:t>lacus</a:t>
            </a:r>
            <a:r>
              <a:rPr lang="pt-BR" dirty="0"/>
              <a:t> </a:t>
            </a:r>
            <a:r>
              <a:rPr lang="pt-BR" dirty="0" err="1"/>
              <a:t>feugiat</a:t>
            </a:r>
            <a:r>
              <a:rPr lang="pt-BR" dirty="0"/>
              <a:t> </a:t>
            </a:r>
            <a:r>
              <a:rPr lang="pt-BR" dirty="0" err="1"/>
              <a:t>sit</a:t>
            </a:r>
            <a:r>
              <a:rPr lang="pt-BR" dirty="0"/>
              <a:t> </a:t>
            </a:r>
            <a:r>
              <a:rPr lang="pt-BR" dirty="0" err="1"/>
              <a:t>amet</a:t>
            </a:r>
            <a:r>
              <a:rPr lang="pt-BR" dirty="0"/>
              <a:t>. </a:t>
            </a:r>
          </a:p>
        </p:txBody>
      </p:sp>
      <p:sp>
        <p:nvSpPr>
          <p:cNvPr id="21" name="Espaço Reservado para Conteúdo 4">
            <a:extLst>
              <a:ext uri="{FF2B5EF4-FFF2-40B4-BE49-F238E27FC236}">
                <a16:creationId xmlns:a16="http://schemas.microsoft.com/office/drawing/2014/main" id="{141E17BE-679D-4780-A50B-95ABDEA83415}"/>
              </a:ext>
            </a:extLst>
          </p:cNvPr>
          <p:cNvSpPr>
            <a:spLocks noGrp="1"/>
          </p:cNvSpPr>
          <p:nvPr>
            <p:ph sz="quarter" idx="11" hasCustomPrompt="1"/>
          </p:nvPr>
        </p:nvSpPr>
        <p:spPr>
          <a:xfrm>
            <a:off x="1476375" y="3083044"/>
            <a:ext cx="2819400" cy="785342"/>
          </a:xfrm>
          <a:prstGeom prst="rect">
            <a:avLst/>
          </a:prstGeom>
        </p:spPr>
        <p:txBody>
          <a:bodyPr anchor="b"/>
          <a:lstStyle>
            <a:lvl1pPr marL="0" marR="0" indent="0" algn="l" defTabSz="914400" rtl="0" eaLnBrk="1" fontAlgn="auto" latinLnBrk="0" hangingPunct="1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2800">
                <a:solidFill>
                  <a:srgbClr val="21049A"/>
                </a:solidFill>
                <a:latin typeface="Roboto Black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marL="0" marR="0" lvl="0" indent="0" algn="l" defTabSz="914400" rtl="0" eaLnBrk="1" fontAlgn="auto" latinLnBrk="0" hangingPunct="1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pt-BR" dirty="0"/>
              <a:t>INTERTÍTULO</a:t>
            </a:r>
            <a:br>
              <a:rPr lang="pt-BR" dirty="0"/>
            </a:br>
            <a:r>
              <a:rPr lang="pt-BR" dirty="0" err="1"/>
              <a:t>INTERTÍTULO</a:t>
            </a:r>
            <a:endParaRPr lang="pt-BR" dirty="0"/>
          </a:p>
        </p:txBody>
      </p:sp>
      <p:sp>
        <p:nvSpPr>
          <p:cNvPr id="24" name="Espaço Reservado para Conteúdo 4">
            <a:extLst>
              <a:ext uri="{FF2B5EF4-FFF2-40B4-BE49-F238E27FC236}">
                <a16:creationId xmlns:a16="http://schemas.microsoft.com/office/drawing/2014/main" id="{BB3C5678-B5DE-4BCA-900A-F36CE17308F5}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4800601" y="4823953"/>
            <a:ext cx="2819400" cy="1815882"/>
          </a:xfrm>
          <a:prstGeom prst="rect">
            <a:avLst/>
          </a:prstGeom>
        </p:spPr>
        <p:txBody>
          <a:bodyPr/>
          <a:lstStyle>
            <a:lvl1pPr marL="285750" indent="-285750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Char char="•"/>
              <a:defRPr sz="1400">
                <a:solidFill>
                  <a:schemeClr val="tx1"/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 err="1"/>
              <a:t>Vestibulum</a:t>
            </a:r>
            <a:r>
              <a:rPr lang="pt-BR" dirty="0"/>
              <a:t> et nunc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 </a:t>
            </a:r>
            <a:r>
              <a:rPr lang="pt-BR" dirty="0" err="1"/>
              <a:t>consectetur</a:t>
            </a:r>
            <a:r>
              <a:rPr lang="pt-BR" dirty="0"/>
              <a:t> </a:t>
            </a:r>
            <a:r>
              <a:rPr lang="pt-BR" dirty="0" err="1"/>
              <a:t>efficitur</a:t>
            </a:r>
            <a:r>
              <a:rPr lang="pt-BR" dirty="0"/>
              <a:t>. </a:t>
            </a:r>
          </a:p>
          <a:p>
            <a:pPr lvl="0"/>
            <a:r>
              <a:rPr lang="pt-BR" dirty="0" err="1"/>
              <a:t>Nullam</a:t>
            </a:r>
            <a:r>
              <a:rPr lang="pt-BR" dirty="0"/>
              <a:t>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lorem</a:t>
            </a:r>
            <a:r>
              <a:rPr lang="pt-BR" dirty="0"/>
              <a:t> </a:t>
            </a:r>
            <a:r>
              <a:rPr lang="pt-BR" dirty="0" err="1"/>
              <a:t>molestie</a:t>
            </a:r>
            <a:r>
              <a:rPr lang="pt-BR" dirty="0"/>
              <a:t> </a:t>
            </a:r>
            <a:r>
              <a:rPr lang="pt-BR" dirty="0" err="1"/>
              <a:t>velit</a:t>
            </a:r>
            <a:r>
              <a:rPr lang="pt-BR" dirty="0"/>
              <a:t> </a:t>
            </a:r>
            <a:r>
              <a:rPr lang="pt-BR" dirty="0" err="1"/>
              <a:t>vestibulum</a:t>
            </a:r>
            <a:r>
              <a:rPr lang="pt-BR" dirty="0"/>
              <a:t> </a:t>
            </a:r>
            <a:r>
              <a:rPr lang="pt-BR" dirty="0" err="1"/>
              <a:t>dictum</a:t>
            </a:r>
            <a:r>
              <a:rPr lang="pt-BR" dirty="0"/>
              <a:t>. </a:t>
            </a:r>
          </a:p>
          <a:p>
            <a:pPr lvl="0"/>
            <a:r>
              <a:rPr lang="pt-BR" dirty="0" err="1"/>
              <a:t>Morbi</a:t>
            </a:r>
            <a:r>
              <a:rPr lang="pt-BR" dirty="0"/>
              <a:t> </a:t>
            </a:r>
            <a:r>
              <a:rPr lang="pt-BR" dirty="0" err="1"/>
              <a:t>eget</a:t>
            </a:r>
            <a:r>
              <a:rPr lang="pt-BR" dirty="0"/>
              <a:t> </a:t>
            </a:r>
            <a:r>
              <a:rPr lang="pt-BR" dirty="0" err="1"/>
              <a:t>nisi</a:t>
            </a:r>
            <a:r>
              <a:rPr lang="pt-BR" dirty="0"/>
              <a:t> </a:t>
            </a:r>
            <a:r>
              <a:rPr lang="pt-BR" dirty="0" err="1"/>
              <a:t>dolor</a:t>
            </a:r>
            <a:r>
              <a:rPr lang="pt-BR" dirty="0"/>
              <a:t>. </a:t>
            </a:r>
            <a:r>
              <a:rPr lang="pt-BR" dirty="0" err="1"/>
              <a:t>Aliquam</a:t>
            </a:r>
            <a:r>
              <a:rPr lang="pt-BR" dirty="0"/>
              <a:t> </a:t>
            </a:r>
            <a:r>
              <a:rPr lang="pt-BR" dirty="0" err="1"/>
              <a:t>imperdiet</a:t>
            </a:r>
            <a:r>
              <a:rPr lang="pt-BR" dirty="0"/>
              <a:t> </a:t>
            </a:r>
            <a:r>
              <a:rPr lang="pt-BR" dirty="0" err="1"/>
              <a:t>ex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, id </a:t>
            </a:r>
            <a:r>
              <a:rPr lang="pt-BR" dirty="0" err="1"/>
              <a:t>mattis</a:t>
            </a:r>
            <a:r>
              <a:rPr lang="pt-BR" dirty="0"/>
              <a:t> </a:t>
            </a:r>
            <a:r>
              <a:rPr lang="pt-BR" dirty="0" err="1"/>
              <a:t>lacus</a:t>
            </a:r>
            <a:r>
              <a:rPr lang="pt-BR" dirty="0"/>
              <a:t> </a:t>
            </a:r>
            <a:r>
              <a:rPr lang="pt-BR" dirty="0" err="1"/>
              <a:t>feugiat</a:t>
            </a:r>
            <a:r>
              <a:rPr lang="pt-BR" dirty="0"/>
              <a:t> </a:t>
            </a:r>
            <a:r>
              <a:rPr lang="pt-BR" dirty="0" err="1"/>
              <a:t>sit</a:t>
            </a:r>
            <a:r>
              <a:rPr lang="pt-BR" dirty="0"/>
              <a:t> </a:t>
            </a:r>
            <a:r>
              <a:rPr lang="pt-BR" dirty="0" err="1"/>
              <a:t>amet</a:t>
            </a:r>
            <a:r>
              <a:rPr lang="pt-BR" dirty="0"/>
              <a:t>. </a:t>
            </a:r>
          </a:p>
        </p:txBody>
      </p:sp>
      <p:sp>
        <p:nvSpPr>
          <p:cNvPr id="25" name="Espaço Reservado para Conteúdo 4">
            <a:extLst>
              <a:ext uri="{FF2B5EF4-FFF2-40B4-BE49-F238E27FC236}">
                <a16:creationId xmlns:a16="http://schemas.microsoft.com/office/drawing/2014/main" id="{063FB4E0-9626-4EF4-806F-71DFF51C6511}"/>
              </a:ext>
            </a:extLst>
          </p:cNvPr>
          <p:cNvSpPr>
            <a:spLocks noGrp="1"/>
          </p:cNvSpPr>
          <p:nvPr>
            <p:ph sz="quarter" idx="15" hasCustomPrompt="1"/>
          </p:nvPr>
        </p:nvSpPr>
        <p:spPr>
          <a:xfrm>
            <a:off x="4800600" y="3990985"/>
            <a:ext cx="2819400" cy="785342"/>
          </a:xfrm>
          <a:prstGeom prst="rect">
            <a:avLst/>
          </a:prstGeom>
        </p:spPr>
        <p:txBody>
          <a:bodyPr anchor="b"/>
          <a:lstStyle>
            <a:lvl1pPr marL="0" marR="0" indent="0" algn="l" defTabSz="914400" rtl="0" eaLnBrk="1" fontAlgn="auto" latinLnBrk="0" hangingPunct="1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2800">
                <a:solidFill>
                  <a:srgbClr val="21049A"/>
                </a:solidFill>
                <a:latin typeface="Roboto Black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marL="0" marR="0" lvl="0" indent="0" algn="l" defTabSz="914400" rtl="0" eaLnBrk="1" fontAlgn="auto" latinLnBrk="0" hangingPunct="1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pt-BR" dirty="0"/>
              <a:t>INTERTÍTULO</a:t>
            </a:r>
          </a:p>
          <a:p>
            <a:pPr marL="0" marR="0" lvl="0" indent="0" algn="l" defTabSz="914400" rtl="0" eaLnBrk="1" fontAlgn="auto" latinLnBrk="0" hangingPunct="1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pt-BR" dirty="0"/>
              <a:t>INTERTÍTULO</a:t>
            </a:r>
          </a:p>
        </p:txBody>
      </p:sp>
      <p:sp>
        <p:nvSpPr>
          <p:cNvPr id="26" name="Espaço Reservado para Conteúdo 4">
            <a:extLst>
              <a:ext uri="{FF2B5EF4-FFF2-40B4-BE49-F238E27FC236}">
                <a16:creationId xmlns:a16="http://schemas.microsoft.com/office/drawing/2014/main" id="{188B0BB6-CE3D-4850-B5D3-213A7B0CB16A}"/>
              </a:ext>
            </a:extLst>
          </p:cNvPr>
          <p:cNvSpPr>
            <a:spLocks noGrp="1"/>
          </p:cNvSpPr>
          <p:nvPr>
            <p:ph sz="quarter" idx="16" hasCustomPrompt="1"/>
          </p:nvPr>
        </p:nvSpPr>
        <p:spPr>
          <a:xfrm>
            <a:off x="8124825" y="3122148"/>
            <a:ext cx="2819400" cy="1815882"/>
          </a:xfrm>
          <a:prstGeom prst="rect">
            <a:avLst/>
          </a:prstGeom>
        </p:spPr>
        <p:txBody>
          <a:bodyPr/>
          <a:lstStyle>
            <a:lvl1pPr marL="285750" indent="-285750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Char char="•"/>
              <a:defRPr sz="1400">
                <a:solidFill>
                  <a:schemeClr val="tx1"/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 err="1"/>
              <a:t>Vestibulum</a:t>
            </a:r>
            <a:r>
              <a:rPr lang="pt-BR" dirty="0"/>
              <a:t> et nunc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 </a:t>
            </a:r>
            <a:r>
              <a:rPr lang="pt-BR" dirty="0" err="1"/>
              <a:t>consectetur</a:t>
            </a:r>
            <a:r>
              <a:rPr lang="pt-BR" dirty="0"/>
              <a:t> </a:t>
            </a:r>
            <a:r>
              <a:rPr lang="pt-BR" dirty="0" err="1"/>
              <a:t>efficitur</a:t>
            </a:r>
            <a:r>
              <a:rPr lang="pt-BR" dirty="0"/>
              <a:t>. </a:t>
            </a:r>
          </a:p>
          <a:p>
            <a:pPr lvl="0"/>
            <a:r>
              <a:rPr lang="pt-BR" dirty="0" err="1"/>
              <a:t>Nullam</a:t>
            </a:r>
            <a:r>
              <a:rPr lang="pt-BR" dirty="0"/>
              <a:t>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lorem</a:t>
            </a:r>
            <a:r>
              <a:rPr lang="pt-BR" dirty="0"/>
              <a:t> </a:t>
            </a:r>
            <a:r>
              <a:rPr lang="pt-BR" dirty="0" err="1"/>
              <a:t>molestie</a:t>
            </a:r>
            <a:r>
              <a:rPr lang="pt-BR" dirty="0"/>
              <a:t> </a:t>
            </a:r>
            <a:r>
              <a:rPr lang="pt-BR" dirty="0" err="1"/>
              <a:t>velit</a:t>
            </a:r>
            <a:r>
              <a:rPr lang="pt-BR" dirty="0"/>
              <a:t> </a:t>
            </a:r>
            <a:r>
              <a:rPr lang="pt-BR" dirty="0" err="1"/>
              <a:t>vestibulum</a:t>
            </a:r>
            <a:r>
              <a:rPr lang="pt-BR" dirty="0"/>
              <a:t> </a:t>
            </a:r>
            <a:r>
              <a:rPr lang="pt-BR" dirty="0" err="1"/>
              <a:t>dictum</a:t>
            </a:r>
            <a:r>
              <a:rPr lang="pt-BR" dirty="0"/>
              <a:t>. </a:t>
            </a:r>
          </a:p>
          <a:p>
            <a:pPr lvl="0"/>
            <a:r>
              <a:rPr lang="pt-BR" dirty="0" err="1"/>
              <a:t>Morbi</a:t>
            </a:r>
            <a:r>
              <a:rPr lang="pt-BR" dirty="0"/>
              <a:t> </a:t>
            </a:r>
            <a:r>
              <a:rPr lang="pt-BR" dirty="0" err="1"/>
              <a:t>eget</a:t>
            </a:r>
            <a:r>
              <a:rPr lang="pt-BR" dirty="0"/>
              <a:t> </a:t>
            </a:r>
            <a:r>
              <a:rPr lang="pt-BR" dirty="0" err="1"/>
              <a:t>nisi</a:t>
            </a:r>
            <a:r>
              <a:rPr lang="pt-BR" dirty="0"/>
              <a:t> </a:t>
            </a:r>
            <a:r>
              <a:rPr lang="pt-BR" dirty="0" err="1"/>
              <a:t>dolor</a:t>
            </a:r>
            <a:r>
              <a:rPr lang="pt-BR" dirty="0"/>
              <a:t>. </a:t>
            </a:r>
            <a:r>
              <a:rPr lang="pt-BR" dirty="0" err="1"/>
              <a:t>Aliquam</a:t>
            </a:r>
            <a:r>
              <a:rPr lang="pt-BR" dirty="0"/>
              <a:t> </a:t>
            </a:r>
            <a:r>
              <a:rPr lang="pt-BR" dirty="0" err="1"/>
              <a:t>imperdiet</a:t>
            </a:r>
            <a:r>
              <a:rPr lang="pt-BR" dirty="0"/>
              <a:t> </a:t>
            </a:r>
            <a:r>
              <a:rPr lang="pt-BR" dirty="0" err="1"/>
              <a:t>ex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, id </a:t>
            </a:r>
            <a:r>
              <a:rPr lang="pt-BR" dirty="0" err="1"/>
              <a:t>mattis</a:t>
            </a:r>
            <a:r>
              <a:rPr lang="pt-BR" dirty="0"/>
              <a:t> </a:t>
            </a:r>
            <a:r>
              <a:rPr lang="pt-BR" dirty="0" err="1"/>
              <a:t>lacus</a:t>
            </a:r>
            <a:r>
              <a:rPr lang="pt-BR" dirty="0"/>
              <a:t> </a:t>
            </a:r>
            <a:r>
              <a:rPr lang="pt-BR" dirty="0" err="1"/>
              <a:t>feugiat</a:t>
            </a:r>
            <a:r>
              <a:rPr lang="pt-BR" dirty="0"/>
              <a:t> </a:t>
            </a:r>
            <a:r>
              <a:rPr lang="pt-BR" dirty="0" err="1"/>
              <a:t>sit</a:t>
            </a:r>
            <a:r>
              <a:rPr lang="pt-BR" dirty="0"/>
              <a:t> </a:t>
            </a:r>
            <a:r>
              <a:rPr lang="pt-BR" dirty="0" err="1"/>
              <a:t>amet</a:t>
            </a:r>
            <a:r>
              <a:rPr lang="pt-BR" dirty="0"/>
              <a:t>. </a:t>
            </a:r>
          </a:p>
        </p:txBody>
      </p:sp>
      <p:sp>
        <p:nvSpPr>
          <p:cNvPr id="27" name="Espaço Reservado para Conteúdo 4">
            <a:extLst>
              <a:ext uri="{FF2B5EF4-FFF2-40B4-BE49-F238E27FC236}">
                <a16:creationId xmlns:a16="http://schemas.microsoft.com/office/drawing/2014/main" id="{07A0879C-E9A3-4A48-A4AC-1DE60387F7C4}"/>
              </a:ext>
            </a:extLst>
          </p:cNvPr>
          <p:cNvSpPr>
            <a:spLocks noGrp="1"/>
          </p:cNvSpPr>
          <p:nvPr>
            <p:ph sz="quarter" idx="17" hasCustomPrompt="1"/>
          </p:nvPr>
        </p:nvSpPr>
        <p:spPr>
          <a:xfrm>
            <a:off x="8124824" y="2289180"/>
            <a:ext cx="2819400" cy="785342"/>
          </a:xfrm>
          <a:prstGeom prst="rect">
            <a:avLst/>
          </a:prstGeom>
        </p:spPr>
        <p:txBody>
          <a:bodyPr anchor="b"/>
          <a:lstStyle>
            <a:lvl1pPr marL="0" marR="0" indent="0" algn="l" defTabSz="914400" rtl="0" eaLnBrk="1" fontAlgn="auto" latinLnBrk="0" hangingPunct="1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2800">
                <a:solidFill>
                  <a:srgbClr val="21049A"/>
                </a:solidFill>
                <a:latin typeface="Roboto Black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marL="0" marR="0" lvl="0" indent="0" algn="l" defTabSz="914400" rtl="0" eaLnBrk="1" fontAlgn="auto" latinLnBrk="0" hangingPunct="1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pt-BR" dirty="0"/>
              <a:t>INTERTÍTULO</a:t>
            </a:r>
            <a:br>
              <a:rPr lang="pt-BR" dirty="0"/>
            </a:br>
            <a:r>
              <a:rPr lang="pt-BR" dirty="0" err="1"/>
              <a:t>INTERTÍTULO</a:t>
            </a:r>
            <a:endParaRPr lang="pt-BR" dirty="0"/>
          </a:p>
        </p:txBody>
      </p:sp>
      <p:sp>
        <p:nvSpPr>
          <p:cNvPr id="28" name="Espaço Reservado para Conteúdo 4">
            <a:extLst>
              <a:ext uri="{FF2B5EF4-FFF2-40B4-BE49-F238E27FC236}">
                <a16:creationId xmlns:a16="http://schemas.microsoft.com/office/drawing/2014/main" id="{C93AF59E-0B59-41F7-8D76-870509D7AAFB}"/>
              </a:ext>
            </a:extLst>
          </p:cNvPr>
          <p:cNvSpPr>
            <a:spLocks noGrp="1"/>
          </p:cNvSpPr>
          <p:nvPr>
            <p:ph sz="quarter" idx="12" hasCustomPrompt="1"/>
          </p:nvPr>
        </p:nvSpPr>
        <p:spPr>
          <a:xfrm>
            <a:off x="885455" y="1040475"/>
            <a:ext cx="6734546" cy="1118045"/>
          </a:xfrm>
          <a:prstGeom prst="rect">
            <a:avLst/>
          </a:prstGeom>
        </p:spPr>
        <p:txBody>
          <a:bodyPr anchor="ctr"/>
          <a:lstStyle>
            <a:lvl1pPr marL="0" indent="0">
              <a:lnSpc>
                <a:spcPct val="80000"/>
              </a:lnSpc>
              <a:spcBef>
                <a:spcPts val="0"/>
              </a:spcBef>
              <a:buNone/>
              <a:defRPr sz="4800">
                <a:solidFill>
                  <a:schemeClr val="bg1"/>
                </a:solidFill>
                <a:latin typeface="Roboto Black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TÍTULO DO SLIDE</a:t>
            </a:r>
          </a:p>
          <a:p>
            <a:pPr lvl="0"/>
            <a:r>
              <a:rPr lang="pt-BR" dirty="0"/>
              <a:t>TÍTULO DO SLIDE</a:t>
            </a:r>
          </a:p>
        </p:txBody>
      </p:sp>
    </p:spTree>
    <p:extLst>
      <p:ext uri="{BB962C8B-B14F-4D97-AF65-F5344CB8AC3E}">
        <p14:creationId xmlns:p14="http://schemas.microsoft.com/office/powerpoint/2010/main" val="335595859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údo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6" name="Imagem 25" descr="Forma&#10;&#10;O conteúdo gerado por IA pode estar incorreto.">
            <a:extLst>
              <a:ext uri="{FF2B5EF4-FFF2-40B4-BE49-F238E27FC236}">
                <a16:creationId xmlns:a16="http://schemas.microsoft.com/office/drawing/2014/main" id="{412108E6-D36D-1E5D-A463-5DB8DA6A1B0A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0" name="Espaço Reservado para Conteúdo 4">
            <a:extLst>
              <a:ext uri="{FF2B5EF4-FFF2-40B4-BE49-F238E27FC236}">
                <a16:creationId xmlns:a16="http://schemas.microsoft.com/office/drawing/2014/main" id="{82B24A9D-A588-4551-9139-9C6E04107613}"/>
              </a:ext>
            </a:extLst>
          </p:cNvPr>
          <p:cNvSpPr>
            <a:spLocks noGrp="1"/>
          </p:cNvSpPr>
          <p:nvPr>
            <p:ph sz="quarter" idx="12" hasCustomPrompt="1"/>
          </p:nvPr>
        </p:nvSpPr>
        <p:spPr>
          <a:xfrm>
            <a:off x="391887" y="378824"/>
            <a:ext cx="4602014" cy="6126480"/>
          </a:xfrm>
          <a:prstGeom prst="rect">
            <a:avLst/>
          </a:prstGeom>
        </p:spPr>
        <p:txBody>
          <a:bodyPr anchor="ctr"/>
          <a:lstStyle>
            <a:lvl1pPr marL="0" indent="0" algn="ctr">
              <a:lnSpc>
                <a:spcPct val="80000"/>
              </a:lnSpc>
              <a:spcBef>
                <a:spcPts val="0"/>
              </a:spcBef>
              <a:buNone/>
              <a:defRPr sz="4800">
                <a:solidFill>
                  <a:schemeClr val="bg1"/>
                </a:solidFill>
                <a:latin typeface="Roboto Black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TÍTULO</a:t>
            </a:r>
            <a:br>
              <a:rPr lang="pt-BR" dirty="0"/>
            </a:br>
            <a:r>
              <a:rPr lang="pt-BR" dirty="0" err="1"/>
              <a:t>TÍTULO</a:t>
            </a:r>
            <a:endParaRPr lang="pt-BR" dirty="0"/>
          </a:p>
          <a:p>
            <a:pPr lvl="0"/>
            <a:r>
              <a:rPr lang="pt-BR" dirty="0"/>
              <a:t>TÍTULO</a:t>
            </a:r>
          </a:p>
        </p:txBody>
      </p:sp>
      <p:sp>
        <p:nvSpPr>
          <p:cNvPr id="24" name="Espaço Reservado para Conteúdo 4">
            <a:extLst>
              <a:ext uri="{FF2B5EF4-FFF2-40B4-BE49-F238E27FC236}">
                <a16:creationId xmlns:a16="http://schemas.microsoft.com/office/drawing/2014/main" id="{A21AE171-2175-4DAD-8189-61FFCBDB02B1}"/>
              </a:ext>
            </a:extLst>
          </p:cNvPr>
          <p:cNvSpPr>
            <a:spLocks noGrp="1"/>
          </p:cNvSpPr>
          <p:nvPr>
            <p:ph sz="quarter" idx="11" hasCustomPrompt="1"/>
          </p:nvPr>
        </p:nvSpPr>
        <p:spPr>
          <a:xfrm>
            <a:off x="5392643" y="616721"/>
            <a:ext cx="708406" cy="1098093"/>
          </a:xfrm>
          <a:prstGeom prst="rect">
            <a:avLst/>
          </a:prstGeom>
        </p:spPr>
        <p:txBody>
          <a:bodyPr anchor="b"/>
          <a:lstStyle>
            <a:lvl1pPr marL="0" indent="0">
              <a:lnSpc>
                <a:spcPct val="80000"/>
              </a:lnSpc>
              <a:spcBef>
                <a:spcPts val="0"/>
              </a:spcBef>
              <a:buNone/>
              <a:defRPr sz="7000">
                <a:solidFill>
                  <a:schemeClr val="bg1">
                    <a:lumMod val="95000"/>
                  </a:schemeClr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1</a:t>
            </a:r>
          </a:p>
        </p:txBody>
      </p:sp>
      <p:sp>
        <p:nvSpPr>
          <p:cNvPr id="25" name="Espaço Reservado para Conteúdo 4">
            <a:extLst>
              <a:ext uri="{FF2B5EF4-FFF2-40B4-BE49-F238E27FC236}">
                <a16:creationId xmlns:a16="http://schemas.microsoft.com/office/drawing/2014/main" id="{56D3D759-453E-442D-AEC3-0FFF411B48AA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5788311" y="1023583"/>
            <a:ext cx="2029461" cy="1042424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400">
                <a:solidFill>
                  <a:schemeClr val="tx1"/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 err="1"/>
              <a:t>Vestibulum</a:t>
            </a:r>
            <a:r>
              <a:rPr lang="pt-BR" dirty="0"/>
              <a:t> et nunc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 </a:t>
            </a:r>
            <a:r>
              <a:rPr lang="pt-BR" dirty="0" err="1"/>
              <a:t>consectetur</a:t>
            </a:r>
            <a:r>
              <a:rPr lang="pt-BR" dirty="0"/>
              <a:t> </a:t>
            </a:r>
            <a:r>
              <a:rPr lang="pt-BR" dirty="0" err="1"/>
              <a:t>efficitur</a:t>
            </a:r>
            <a:r>
              <a:rPr lang="pt-BR" dirty="0"/>
              <a:t>. </a:t>
            </a:r>
            <a:r>
              <a:rPr lang="pt-BR" dirty="0" err="1"/>
              <a:t>Nullam</a:t>
            </a:r>
            <a:r>
              <a:rPr lang="pt-BR" dirty="0"/>
              <a:t>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lorem</a:t>
            </a:r>
            <a:r>
              <a:rPr lang="pt-BR" dirty="0"/>
              <a:t> </a:t>
            </a:r>
            <a:r>
              <a:rPr lang="pt-BR" dirty="0" err="1"/>
              <a:t>molestie</a:t>
            </a:r>
            <a:r>
              <a:rPr lang="pt-BR" dirty="0"/>
              <a:t> </a:t>
            </a:r>
            <a:r>
              <a:rPr lang="pt-BR" dirty="0" err="1"/>
              <a:t>velit</a:t>
            </a:r>
            <a:r>
              <a:rPr lang="pt-BR" dirty="0"/>
              <a:t>.</a:t>
            </a:r>
          </a:p>
        </p:txBody>
      </p:sp>
      <p:sp>
        <p:nvSpPr>
          <p:cNvPr id="48" name="Espaço Reservado para Conteúdo 4">
            <a:extLst>
              <a:ext uri="{FF2B5EF4-FFF2-40B4-BE49-F238E27FC236}">
                <a16:creationId xmlns:a16="http://schemas.microsoft.com/office/drawing/2014/main" id="{8C3073B7-3423-46D9-8011-B23D48EB9616}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8396653" y="616721"/>
            <a:ext cx="708406" cy="1098093"/>
          </a:xfrm>
          <a:prstGeom prst="rect">
            <a:avLst/>
          </a:prstGeom>
        </p:spPr>
        <p:txBody>
          <a:bodyPr anchor="b"/>
          <a:lstStyle>
            <a:lvl1pPr marL="0" indent="0">
              <a:lnSpc>
                <a:spcPct val="80000"/>
              </a:lnSpc>
              <a:spcBef>
                <a:spcPts val="0"/>
              </a:spcBef>
              <a:buNone/>
              <a:defRPr sz="7000">
                <a:solidFill>
                  <a:schemeClr val="bg1">
                    <a:lumMod val="95000"/>
                  </a:schemeClr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2</a:t>
            </a:r>
          </a:p>
        </p:txBody>
      </p:sp>
      <p:sp>
        <p:nvSpPr>
          <p:cNvPr id="49" name="Espaço Reservado para Conteúdo 4">
            <a:extLst>
              <a:ext uri="{FF2B5EF4-FFF2-40B4-BE49-F238E27FC236}">
                <a16:creationId xmlns:a16="http://schemas.microsoft.com/office/drawing/2014/main" id="{79C9CBE2-F540-4408-8EB3-A373311F1633}"/>
              </a:ext>
            </a:extLst>
          </p:cNvPr>
          <p:cNvSpPr>
            <a:spLocks noGrp="1"/>
          </p:cNvSpPr>
          <p:nvPr>
            <p:ph sz="quarter" idx="15" hasCustomPrompt="1"/>
          </p:nvPr>
        </p:nvSpPr>
        <p:spPr>
          <a:xfrm>
            <a:off x="8792321" y="1023583"/>
            <a:ext cx="2029461" cy="1042424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400">
                <a:solidFill>
                  <a:schemeClr val="tx1"/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 err="1"/>
              <a:t>Vestibulum</a:t>
            </a:r>
            <a:r>
              <a:rPr lang="pt-BR" dirty="0"/>
              <a:t> et nunc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 </a:t>
            </a:r>
            <a:r>
              <a:rPr lang="pt-BR" dirty="0" err="1"/>
              <a:t>consectetur</a:t>
            </a:r>
            <a:r>
              <a:rPr lang="pt-BR" dirty="0"/>
              <a:t> </a:t>
            </a:r>
            <a:r>
              <a:rPr lang="pt-BR" dirty="0" err="1"/>
              <a:t>efficitur</a:t>
            </a:r>
            <a:r>
              <a:rPr lang="pt-BR" dirty="0"/>
              <a:t>. </a:t>
            </a:r>
            <a:r>
              <a:rPr lang="pt-BR" dirty="0" err="1"/>
              <a:t>Nullam</a:t>
            </a:r>
            <a:r>
              <a:rPr lang="pt-BR" dirty="0"/>
              <a:t>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lorem</a:t>
            </a:r>
            <a:r>
              <a:rPr lang="pt-BR" dirty="0"/>
              <a:t> </a:t>
            </a:r>
            <a:r>
              <a:rPr lang="pt-BR" dirty="0" err="1"/>
              <a:t>molestie</a:t>
            </a:r>
            <a:r>
              <a:rPr lang="pt-BR" dirty="0"/>
              <a:t> </a:t>
            </a:r>
            <a:r>
              <a:rPr lang="pt-BR" dirty="0" err="1"/>
              <a:t>velit</a:t>
            </a:r>
            <a:r>
              <a:rPr lang="pt-BR" dirty="0"/>
              <a:t>.</a:t>
            </a:r>
          </a:p>
        </p:txBody>
      </p:sp>
      <p:sp>
        <p:nvSpPr>
          <p:cNvPr id="50" name="Espaço Reservado para Conteúdo 4">
            <a:extLst>
              <a:ext uri="{FF2B5EF4-FFF2-40B4-BE49-F238E27FC236}">
                <a16:creationId xmlns:a16="http://schemas.microsoft.com/office/drawing/2014/main" id="{7534DFE6-358C-4FF5-B3B9-6C34B0781772}"/>
              </a:ext>
            </a:extLst>
          </p:cNvPr>
          <p:cNvSpPr>
            <a:spLocks noGrp="1"/>
          </p:cNvSpPr>
          <p:nvPr>
            <p:ph sz="quarter" idx="16" hasCustomPrompt="1"/>
          </p:nvPr>
        </p:nvSpPr>
        <p:spPr>
          <a:xfrm>
            <a:off x="5388289" y="2066007"/>
            <a:ext cx="708406" cy="1098093"/>
          </a:xfrm>
          <a:prstGeom prst="rect">
            <a:avLst/>
          </a:prstGeom>
        </p:spPr>
        <p:txBody>
          <a:bodyPr anchor="b"/>
          <a:lstStyle>
            <a:lvl1pPr marL="0" indent="0">
              <a:lnSpc>
                <a:spcPct val="80000"/>
              </a:lnSpc>
              <a:spcBef>
                <a:spcPts val="0"/>
              </a:spcBef>
              <a:buNone/>
              <a:defRPr sz="7000">
                <a:solidFill>
                  <a:schemeClr val="bg1">
                    <a:lumMod val="95000"/>
                  </a:schemeClr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3</a:t>
            </a:r>
          </a:p>
        </p:txBody>
      </p:sp>
      <p:sp>
        <p:nvSpPr>
          <p:cNvPr id="51" name="Espaço Reservado para Conteúdo 4">
            <a:extLst>
              <a:ext uri="{FF2B5EF4-FFF2-40B4-BE49-F238E27FC236}">
                <a16:creationId xmlns:a16="http://schemas.microsoft.com/office/drawing/2014/main" id="{2D4FC50B-1040-4A33-9D53-F74DFB48C830}"/>
              </a:ext>
            </a:extLst>
          </p:cNvPr>
          <p:cNvSpPr>
            <a:spLocks noGrp="1"/>
          </p:cNvSpPr>
          <p:nvPr>
            <p:ph sz="quarter" idx="17" hasCustomPrompt="1"/>
          </p:nvPr>
        </p:nvSpPr>
        <p:spPr>
          <a:xfrm>
            <a:off x="5783957" y="2472869"/>
            <a:ext cx="2029461" cy="1042424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400">
                <a:solidFill>
                  <a:schemeClr val="tx1"/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 err="1"/>
              <a:t>Vestibulum</a:t>
            </a:r>
            <a:r>
              <a:rPr lang="pt-BR" dirty="0"/>
              <a:t> et nunc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 </a:t>
            </a:r>
            <a:r>
              <a:rPr lang="pt-BR" dirty="0" err="1"/>
              <a:t>consectetur</a:t>
            </a:r>
            <a:r>
              <a:rPr lang="pt-BR" dirty="0"/>
              <a:t> </a:t>
            </a:r>
            <a:r>
              <a:rPr lang="pt-BR" dirty="0" err="1"/>
              <a:t>efficitur</a:t>
            </a:r>
            <a:r>
              <a:rPr lang="pt-BR" dirty="0"/>
              <a:t>. </a:t>
            </a:r>
            <a:r>
              <a:rPr lang="pt-BR" dirty="0" err="1"/>
              <a:t>Nullam</a:t>
            </a:r>
            <a:r>
              <a:rPr lang="pt-BR" dirty="0"/>
              <a:t>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lorem</a:t>
            </a:r>
            <a:r>
              <a:rPr lang="pt-BR" dirty="0"/>
              <a:t> </a:t>
            </a:r>
            <a:r>
              <a:rPr lang="pt-BR" dirty="0" err="1"/>
              <a:t>molestie</a:t>
            </a:r>
            <a:r>
              <a:rPr lang="pt-BR" dirty="0"/>
              <a:t> </a:t>
            </a:r>
            <a:r>
              <a:rPr lang="pt-BR" dirty="0" err="1"/>
              <a:t>velit</a:t>
            </a:r>
            <a:r>
              <a:rPr lang="pt-BR" dirty="0"/>
              <a:t>.</a:t>
            </a:r>
          </a:p>
        </p:txBody>
      </p:sp>
      <p:sp>
        <p:nvSpPr>
          <p:cNvPr id="52" name="Espaço Reservado para Conteúdo 4">
            <a:extLst>
              <a:ext uri="{FF2B5EF4-FFF2-40B4-BE49-F238E27FC236}">
                <a16:creationId xmlns:a16="http://schemas.microsoft.com/office/drawing/2014/main" id="{F847EBBC-8153-4D80-BBEA-981CCB037D67}"/>
              </a:ext>
            </a:extLst>
          </p:cNvPr>
          <p:cNvSpPr>
            <a:spLocks noGrp="1"/>
          </p:cNvSpPr>
          <p:nvPr>
            <p:ph sz="quarter" idx="18" hasCustomPrompt="1"/>
          </p:nvPr>
        </p:nvSpPr>
        <p:spPr>
          <a:xfrm>
            <a:off x="8392299" y="2066007"/>
            <a:ext cx="708406" cy="1098093"/>
          </a:xfrm>
          <a:prstGeom prst="rect">
            <a:avLst/>
          </a:prstGeom>
        </p:spPr>
        <p:txBody>
          <a:bodyPr anchor="b"/>
          <a:lstStyle>
            <a:lvl1pPr marL="0" indent="0">
              <a:lnSpc>
                <a:spcPct val="80000"/>
              </a:lnSpc>
              <a:spcBef>
                <a:spcPts val="0"/>
              </a:spcBef>
              <a:buNone/>
              <a:defRPr sz="7000">
                <a:solidFill>
                  <a:schemeClr val="bg1">
                    <a:lumMod val="95000"/>
                  </a:schemeClr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4</a:t>
            </a:r>
          </a:p>
        </p:txBody>
      </p:sp>
      <p:sp>
        <p:nvSpPr>
          <p:cNvPr id="53" name="Espaço Reservado para Conteúdo 4">
            <a:extLst>
              <a:ext uri="{FF2B5EF4-FFF2-40B4-BE49-F238E27FC236}">
                <a16:creationId xmlns:a16="http://schemas.microsoft.com/office/drawing/2014/main" id="{170C864E-D912-46D5-B580-C79231F833A0}"/>
              </a:ext>
            </a:extLst>
          </p:cNvPr>
          <p:cNvSpPr>
            <a:spLocks noGrp="1"/>
          </p:cNvSpPr>
          <p:nvPr>
            <p:ph sz="quarter" idx="19" hasCustomPrompt="1"/>
          </p:nvPr>
        </p:nvSpPr>
        <p:spPr>
          <a:xfrm>
            <a:off x="8787967" y="2472869"/>
            <a:ext cx="2029461" cy="1042424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400">
                <a:solidFill>
                  <a:schemeClr val="tx1"/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 err="1"/>
              <a:t>Vestibulum</a:t>
            </a:r>
            <a:r>
              <a:rPr lang="pt-BR" dirty="0"/>
              <a:t> et nunc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 </a:t>
            </a:r>
            <a:r>
              <a:rPr lang="pt-BR" dirty="0" err="1"/>
              <a:t>consectetur</a:t>
            </a:r>
            <a:r>
              <a:rPr lang="pt-BR" dirty="0"/>
              <a:t> </a:t>
            </a:r>
            <a:r>
              <a:rPr lang="pt-BR" dirty="0" err="1"/>
              <a:t>efficitur</a:t>
            </a:r>
            <a:r>
              <a:rPr lang="pt-BR" dirty="0"/>
              <a:t>. </a:t>
            </a:r>
            <a:r>
              <a:rPr lang="pt-BR" dirty="0" err="1"/>
              <a:t>Nullam</a:t>
            </a:r>
            <a:r>
              <a:rPr lang="pt-BR" dirty="0"/>
              <a:t>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lorem</a:t>
            </a:r>
            <a:r>
              <a:rPr lang="pt-BR" dirty="0"/>
              <a:t> </a:t>
            </a:r>
            <a:r>
              <a:rPr lang="pt-BR" dirty="0" err="1"/>
              <a:t>molestie</a:t>
            </a:r>
            <a:r>
              <a:rPr lang="pt-BR" dirty="0"/>
              <a:t> </a:t>
            </a:r>
            <a:r>
              <a:rPr lang="pt-BR" dirty="0" err="1"/>
              <a:t>velit</a:t>
            </a:r>
            <a:r>
              <a:rPr lang="pt-BR" dirty="0"/>
              <a:t>.</a:t>
            </a:r>
          </a:p>
        </p:txBody>
      </p:sp>
      <p:sp>
        <p:nvSpPr>
          <p:cNvPr id="54" name="Espaço Reservado para Conteúdo 4">
            <a:extLst>
              <a:ext uri="{FF2B5EF4-FFF2-40B4-BE49-F238E27FC236}">
                <a16:creationId xmlns:a16="http://schemas.microsoft.com/office/drawing/2014/main" id="{C4786A3E-B372-4DCC-B4F6-D10391BC6344}"/>
              </a:ext>
            </a:extLst>
          </p:cNvPr>
          <p:cNvSpPr>
            <a:spLocks noGrp="1"/>
          </p:cNvSpPr>
          <p:nvPr>
            <p:ph sz="quarter" idx="20" hasCustomPrompt="1"/>
          </p:nvPr>
        </p:nvSpPr>
        <p:spPr>
          <a:xfrm>
            <a:off x="5392643" y="3515293"/>
            <a:ext cx="708406" cy="1098093"/>
          </a:xfrm>
          <a:prstGeom prst="rect">
            <a:avLst/>
          </a:prstGeom>
        </p:spPr>
        <p:txBody>
          <a:bodyPr anchor="b"/>
          <a:lstStyle>
            <a:lvl1pPr marL="0" indent="0">
              <a:lnSpc>
                <a:spcPct val="80000"/>
              </a:lnSpc>
              <a:spcBef>
                <a:spcPts val="0"/>
              </a:spcBef>
              <a:buNone/>
              <a:defRPr sz="7000">
                <a:solidFill>
                  <a:schemeClr val="bg1">
                    <a:lumMod val="95000"/>
                  </a:schemeClr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5</a:t>
            </a:r>
          </a:p>
        </p:txBody>
      </p:sp>
      <p:sp>
        <p:nvSpPr>
          <p:cNvPr id="55" name="Espaço Reservado para Conteúdo 4">
            <a:extLst>
              <a:ext uri="{FF2B5EF4-FFF2-40B4-BE49-F238E27FC236}">
                <a16:creationId xmlns:a16="http://schemas.microsoft.com/office/drawing/2014/main" id="{B330D9FC-3804-478B-8B2F-BD1D550EB724}"/>
              </a:ext>
            </a:extLst>
          </p:cNvPr>
          <p:cNvSpPr>
            <a:spLocks noGrp="1"/>
          </p:cNvSpPr>
          <p:nvPr>
            <p:ph sz="quarter" idx="21" hasCustomPrompt="1"/>
          </p:nvPr>
        </p:nvSpPr>
        <p:spPr>
          <a:xfrm>
            <a:off x="5788311" y="3922155"/>
            <a:ext cx="2029461" cy="1042424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400">
                <a:solidFill>
                  <a:schemeClr val="tx1"/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 err="1"/>
              <a:t>Vestibulum</a:t>
            </a:r>
            <a:r>
              <a:rPr lang="pt-BR" dirty="0"/>
              <a:t> et nunc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 </a:t>
            </a:r>
            <a:r>
              <a:rPr lang="pt-BR" dirty="0" err="1"/>
              <a:t>consectetur</a:t>
            </a:r>
            <a:r>
              <a:rPr lang="pt-BR" dirty="0"/>
              <a:t> </a:t>
            </a:r>
            <a:r>
              <a:rPr lang="pt-BR" dirty="0" err="1"/>
              <a:t>efficitur</a:t>
            </a:r>
            <a:r>
              <a:rPr lang="pt-BR" dirty="0"/>
              <a:t>. </a:t>
            </a:r>
            <a:r>
              <a:rPr lang="pt-BR" dirty="0" err="1"/>
              <a:t>Nullam</a:t>
            </a:r>
            <a:r>
              <a:rPr lang="pt-BR" dirty="0"/>
              <a:t>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lorem</a:t>
            </a:r>
            <a:r>
              <a:rPr lang="pt-BR" dirty="0"/>
              <a:t> </a:t>
            </a:r>
            <a:r>
              <a:rPr lang="pt-BR" dirty="0" err="1"/>
              <a:t>molestie</a:t>
            </a:r>
            <a:r>
              <a:rPr lang="pt-BR" dirty="0"/>
              <a:t> </a:t>
            </a:r>
            <a:r>
              <a:rPr lang="pt-BR" dirty="0" err="1"/>
              <a:t>velit</a:t>
            </a:r>
            <a:r>
              <a:rPr lang="pt-BR" dirty="0"/>
              <a:t>.</a:t>
            </a:r>
          </a:p>
        </p:txBody>
      </p:sp>
      <p:sp>
        <p:nvSpPr>
          <p:cNvPr id="56" name="Espaço Reservado para Conteúdo 4">
            <a:extLst>
              <a:ext uri="{FF2B5EF4-FFF2-40B4-BE49-F238E27FC236}">
                <a16:creationId xmlns:a16="http://schemas.microsoft.com/office/drawing/2014/main" id="{AADC77ED-B602-4D58-BF71-D63985E8F86D}"/>
              </a:ext>
            </a:extLst>
          </p:cNvPr>
          <p:cNvSpPr>
            <a:spLocks noGrp="1"/>
          </p:cNvSpPr>
          <p:nvPr>
            <p:ph sz="quarter" idx="22" hasCustomPrompt="1"/>
          </p:nvPr>
        </p:nvSpPr>
        <p:spPr>
          <a:xfrm>
            <a:off x="8396653" y="3515293"/>
            <a:ext cx="708406" cy="1098093"/>
          </a:xfrm>
          <a:prstGeom prst="rect">
            <a:avLst/>
          </a:prstGeom>
        </p:spPr>
        <p:txBody>
          <a:bodyPr anchor="b"/>
          <a:lstStyle>
            <a:lvl1pPr marL="0" indent="0">
              <a:lnSpc>
                <a:spcPct val="80000"/>
              </a:lnSpc>
              <a:spcBef>
                <a:spcPts val="0"/>
              </a:spcBef>
              <a:buNone/>
              <a:defRPr sz="7000">
                <a:solidFill>
                  <a:schemeClr val="bg1">
                    <a:lumMod val="95000"/>
                  </a:schemeClr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6</a:t>
            </a:r>
          </a:p>
        </p:txBody>
      </p:sp>
      <p:sp>
        <p:nvSpPr>
          <p:cNvPr id="57" name="Espaço Reservado para Conteúdo 4">
            <a:extLst>
              <a:ext uri="{FF2B5EF4-FFF2-40B4-BE49-F238E27FC236}">
                <a16:creationId xmlns:a16="http://schemas.microsoft.com/office/drawing/2014/main" id="{E912F27E-5DAD-40E4-A876-B9139A7C4862}"/>
              </a:ext>
            </a:extLst>
          </p:cNvPr>
          <p:cNvSpPr>
            <a:spLocks noGrp="1"/>
          </p:cNvSpPr>
          <p:nvPr>
            <p:ph sz="quarter" idx="23" hasCustomPrompt="1"/>
          </p:nvPr>
        </p:nvSpPr>
        <p:spPr>
          <a:xfrm>
            <a:off x="8792321" y="3922155"/>
            <a:ext cx="2029461" cy="1042424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400">
                <a:solidFill>
                  <a:schemeClr val="tx1"/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 err="1"/>
              <a:t>Vestibulum</a:t>
            </a:r>
            <a:r>
              <a:rPr lang="pt-BR" dirty="0"/>
              <a:t> et nunc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 </a:t>
            </a:r>
            <a:r>
              <a:rPr lang="pt-BR" dirty="0" err="1"/>
              <a:t>consectetur</a:t>
            </a:r>
            <a:r>
              <a:rPr lang="pt-BR" dirty="0"/>
              <a:t> </a:t>
            </a:r>
            <a:r>
              <a:rPr lang="pt-BR" dirty="0" err="1"/>
              <a:t>efficitur</a:t>
            </a:r>
            <a:r>
              <a:rPr lang="pt-BR" dirty="0"/>
              <a:t>. </a:t>
            </a:r>
            <a:r>
              <a:rPr lang="pt-BR" dirty="0" err="1"/>
              <a:t>Nullam</a:t>
            </a:r>
            <a:r>
              <a:rPr lang="pt-BR" dirty="0"/>
              <a:t>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lorem</a:t>
            </a:r>
            <a:r>
              <a:rPr lang="pt-BR" dirty="0"/>
              <a:t> </a:t>
            </a:r>
            <a:r>
              <a:rPr lang="pt-BR" dirty="0" err="1"/>
              <a:t>molestie</a:t>
            </a:r>
            <a:r>
              <a:rPr lang="pt-BR" dirty="0"/>
              <a:t> </a:t>
            </a:r>
            <a:r>
              <a:rPr lang="pt-BR" dirty="0" err="1"/>
              <a:t>velit</a:t>
            </a:r>
            <a:r>
              <a:rPr lang="pt-BR" dirty="0"/>
              <a:t>.</a:t>
            </a:r>
          </a:p>
        </p:txBody>
      </p:sp>
      <p:sp>
        <p:nvSpPr>
          <p:cNvPr id="58" name="Espaço Reservado para Conteúdo 4">
            <a:extLst>
              <a:ext uri="{FF2B5EF4-FFF2-40B4-BE49-F238E27FC236}">
                <a16:creationId xmlns:a16="http://schemas.microsoft.com/office/drawing/2014/main" id="{70F43E27-89B9-4AFE-9DB9-4B4A0555AEDA}"/>
              </a:ext>
            </a:extLst>
          </p:cNvPr>
          <p:cNvSpPr>
            <a:spLocks noGrp="1"/>
          </p:cNvSpPr>
          <p:nvPr>
            <p:ph sz="quarter" idx="24" hasCustomPrompt="1"/>
          </p:nvPr>
        </p:nvSpPr>
        <p:spPr>
          <a:xfrm>
            <a:off x="5388289" y="4964579"/>
            <a:ext cx="708406" cy="1098093"/>
          </a:xfrm>
          <a:prstGeom prst="rect">
            <a:avLst/>
          </a:prstGeom>
        </p:spPr>
        <p:txBody>
          <a:bodyPr anchor="b"/>
          <a:lstStyle>
            <a:lvl1pPr marL="0" indent="0">
              <a:lnSpc>
                <a:spcPct val="80000"/>
              </a:lnSpc>
              <a:spcBef>
                <a:spcPts val="0"/>
              </a:spcBef>
              <a:buNone/>
              <a:defRPr sz="7000">
                <a:solidFill>
                  <a:schemeClr val="bg1">
                    <a:lumMod val="95000"/>
                  </a:schemeClr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7</a:t>
            </a:r>
          </a:p>
        </p:txBody>
      </p:sp>
      <p:sp>
        <p:nvSpPr>
          <p:cNvPr id="59" name="Espaço Reservado para Conteúdo 4">
            <a:extLst>
              <a:ext uri="{FF2B5EF4-FFF2-40B4-BE49-F238E27FC236}">
                <a16:creationId xmlns:a16="http://schemas.microsoft.com/office/drawing/2014/main" id="{7891A22C-0D7C-4E4E-B231-0A73D868DAF9}"/>
              </a:ext>
            </a:extLst>
          </p:cNvPr>
          <p:cNvSpPr>
            <a:spLocks noGrp="1"/>
          </p:cNvSpPr>
          <p:nvPr>
            <p:ph sz="quarter" idx="25" hasCustomPrompt="1"/>
          </p:nvPr>
        </p:nvSpPr>
        <p:spPr>
          <a:xfrm>
            <a:off x="5783957" y="5371441"/>
            <a:ext cx="2029461" cy="1042424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400">
                <a:solidFill>
                  <a:schemeClr val="tx1"/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 err="1"/>
              <a:t>Vestibulum</a:t>
            </a:r>
            <a:r>
              <a:rPr lang="pt-BR" dirty="0"/>
              <a:t> et nunc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 </a:t>
            </a:r>
            <a:r>
              <a:rPr lang="pt-BR" dirty="0" err="1"/>
              <a:t>consectetur</a:t>
            </a:r>
            <a:r>
              <a:rPr lang="pt-BR" dirty="0"/>
              <a:t> </a:t>
            </a:r>
            <a:r>
              <a:rPr lang="pt-BR" dirty="0" err="1"/>
              <a:t>efficitur</a:t>
            </a:r>
            <a:r>
              <a:rPr lang="pt-BR" dirty="0"/>
              <a:t>. </a:t>
            </a:r>
            <a:r>
              <a:rPr lang="pt-BR" dirty="0" err="1"/>
              <a:t>Nullam</a:t>
            </a:r>
            <a:r>
              <a:rPr lang="pt-BR" dirty="0"/>
              <a:t>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lorem</a:t>
            </a:r>
            <a:r>
              <a:rPr lang="pt-BR" dirty="0"/>
              <a:t> </a:t>
            </a:r>
            <a:r>
              <a:rPr lang="pt-BR" dirty="0" err="1"/>
              <a:t>molestie</a:t>
            </a:r>
            <a:r>
              <a:rPr lang="pt-BR" dirty="0"/>
              <a:t> </a:t>
            </a:r>
            <a:r>
              <a:rPr lang="pt-BR" dirty="0" err="1"/>
              <a:t>velit</a:t>
            </a:r>
            <a:r>
              <a:rPr lang="pt-BR" dirty="0"/>
              <a:t>.</a:t>
            </a:r>
          </a:p>
        </p:txBody>
      </p:sp>
      <p:sp>
        <p:nvSpPr>
          <p:cNvPr id="60" name="Espaço Reservado para Conteúdo 4">
            <a:extLst>
              <a:ext uri="{FF2B5EF4-FFF2-40B4-BE49-F238E27FC236}">
                <a16:creationId xmlns:a16="http://schemas.microsoft.com/office/drawing/2014/main" id="{9AA294D8-A530-4C47-987A-7D029688897B}"/>
              </a:ext>
            </a:extLst>
          </p:cNvPr>
          <p:cNvSpPr>
            <a:spLocks noGrp="1"/>
          </p:cNvSpPr>
          <p:nvPr>
            <p:ph sz="quarter" idx="26" hasCustomPrompt="1"/>
          </p:nvPr>
        </p:nvSpPr>
        <p:spPr>
          <a:xfrm>
            <a:off x="8392299" y="4964579"/>
            <a:ext cx="708406" cy="1098093"/>
          </a:xfrm>
          <a:prstGeom prst="rect">
            <a:avLst/>
          </a:prstGeom>
        </p:spPr>
        <p:txBody>
          <a:bodyPr anchor="b"/>
          <a:lstStyle>
            <a:lvl1pPr marL="0" indent="0">
              <a:lnSpc>
                <a:spcPct val="80000"/>
              </a:lnSpc>
              <a:spcBef>
                <a:spcPts val="0"/>
              </a:spcBef>
              <a:buNone/>
              <a:defRPr sz="7000">
                <a:solidFill>
                  <a:schemeClr val="bg1">
                    <a:lumMod val="95000"/>
                  </a:schemeClr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8</a:t>
            </a:r>
          </a:p>
        </p:txBody>
      </p:sp>
      <p:sp>
        <p:nvSpPr>
          <p:cNvPr id="61" name="Espaço Reservado para Conteúdo 4">
            <a:extLst>
              <a:ext uri="{FF2B5EF4-FFF2-40B4-BE49-F238E27FC236}">
                <a16:creationId xmlns:a16="http://schemas.microsoft.com/office/drawing/2014/main" id="{14C76703-4040-4320-BD4F-1DD7CBE8C563}"/>
              </a:ext>
            </a:extLst>
          </p:cNvPr>
          <p:cNvSpPr>
            <a:spLocks noGrp="1"/>
          </p:cNvSpPr>
          <p:nvPr>
            <p:ph sz="quarter" idx="27" hasCustomPrompt="1"/>
          </p:nvPr>
        </p:nvSpPr>
        <p:spPr>
          <a:xfrm>
            <a:off x="8787967" y="5371441"/>
            <a:ext cx="2029461" cy="1042424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400">
                <a:solidFill>
                  <a:schemeClr val="tx1"/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 err="1"/>
              <a:t>Vestibulum</a:t>
            </a:r>
            <a:r>
              <a:rPr lang="pt-BR" dirty="0"/>
              <a:t> et nunc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 </a:t>
            </a:r>
            <a:r>
              <a:rPr lang="pt-BR" dirty="0" err="1"/>
              <a:t>consectetur</a:t>
            </a:r>
            <a:r>
              <a:rPr lang="pt-BR" dirty="0"/>
              <a:t> </a:t>
            </a:r>
            <a:r>
              <a:rPr lang="pt-BR" dirty="0" err="1"/>
              <a:t>efficitur</a:t>
            </a:r>
            <a:r>
              <a:rPr lang="pt-BR" dirty="0"/>
              <a:t>. </a:t>
            </a:r>
            <a:r>
              <a:rPr lang="pt-BR" dirty="0" err="1"/>
              <a:t>Nullam</a:t>
            </a:r>
            <a:r>
              <a:rPr lang="pt-BR" dirty="0"/>
              <a:t>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lorem</a:t>
            </a:r>
            <a:r>
              <a:rPr lang="pt-BR" dirty="0"/>
              <a:t> </a:t>
            </a:r>
            <a:r>
              <a:rPr lang="pt-BR" dirty="0" err="1"/>
              <a:t>molestie</a:t>
            </a:r>
            <a:r>
              <a:rPr lang="pt-BR" dirty="0"/>
              <a:t> </a:t>
            </a:r>
            <a:r>
              <a:rPr lang="pt-BR" dirty="0" err="1"/>
              <a:t>velit</a:t>
            </a:r>
            <a:r>
              <a:rPr lang="pt-BR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345635880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magem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Gráfico 7">
            <a:extLst>
              <a:ext uri="{FF2B5EF4-FFF2-40B4-BE49-F238E27FC236}">
                <a16:creationId xmlns:a16="http://schemas.microsoft.com/office/drawing/2014/main" id="{C8A2A5EB-55E9-818C-5100-8E3EC4E96C13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1361271" y="5963677"/>
            <a:ext cx="531242" cy="531242"/>
          </a:xfrm>
          <a:prstGeom prst="rect">
            <a:avLst/>
          </a:prstGeom>
        </p:spPr>
      </p:pic>
      <p:sp>
        <p:nvSpPr>
          <p:cNvPr id="25" name="Espaço Reservado para Conteúdo 4">
            <a:extLst>
              <a:ext uri="{FF2B5EF4-FFF2-40B4-BE49-F238E27FC236}">
                <a16:creationId xmlns:a16="http://schemas.microsoft.com/office/drawing/2014/main" id="{F3DFFE69-5EB8-470E-B99B-54A3FB6EE3A9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849074" y="633344"/>
            <a:ext cx="2529556" cy="461665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200" spc="600">
                <a:solidFill>
                  <a:srgbClr val="21049A"/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NOME DA SEÇÃO</a:t>
            </a:r>
            <a:br>
              <a:rPr lang="pt-BR" dirty="0"/>
            </a:br>
            <a:r>
              <a:rPr lang="pt-BR" dirty="0"/>
              <a:t>NOME DA SEÇÃO</a:t>
            </a:r>
          </a:p>
        </p:txBody>
      </p:sp>
      <p:sp>
        <p:nvSpPr>
          <p:cNvPr id="29" name="Espaço Reservado para Conteúdo 4">
            <a:extLst>
              <a:ext uri="{FF2B5EF4-FFF2-40B4-BE49-F238E27FC236}">
                <a16:creationId xmlns:a16="http://schemas.microsoft.com/office/drawing/2014/main" id="{2F7B3AF4-B738-4398-B67B-6BBE8A527D51}"/>
              </a:ext>
            </a:extLst>
          </p:cNvPr>
          <p:cNvSpPr>
            <a:spLocks noGrp="1"/>
          </p:cNvSpPr>
          <p:nvPr>
            <p:ph sz="quarter" idx="11" hasCustomPrompt="1"/>
          </p:nvPr>
        </p:nvSpPr>
        <p:spPr>
          <a:xfrm>
            <a:off x="677669" y="1789450"/>
            <a:ext cx="708406" cy="1098093"/>
          </a:xfrm>
          <a:prstGeom prst="rect">
            <a:avLst/>
          </a:prstGeom>
        </p:spPr>
        <p:txBody>
          <a:bodyPr anchor="b"/>
          <a:lstStyle>
            <a:lvl1pPr marL="0" indent="0">
              <a:lnSpc>
                <a:spcPct val="80000"/>
              </a:lnSpc>
              <a:spcBef>
                <a:spcPts val="0"/>
              </a:spcBef>
              <a:buNone/>
              <a:defRPr sz="7000">
                <a:solidFill>
                  <a:schemeClr val="bg1">
                    <a:lumMod val="95000"/>
                  </a:schemeClr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1</a:t>
            </a:r>
          </a:p>
        </p:txBody>
      </p:sp>
      <p:sp>
        <p:nvSpPr>
          <p:cNvPr id="30" name="Espaço Reservado para Conteúdo 4">
            <a:extLst>
              <a:ext uri="{FF2B5EF4-FFF2-40B4-BE49-F238E27FC236}">
                <a16:creationId xmlns:a16="http://schemas.microsoft.com/office/drawing/2014/main" id="{5D35BA6E-193D-4880-99D4-D6E40313A353}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1386076" y="1789450"/>
            <a:ext cx="1489788" cy="1042424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400">
                <a:solidFill>
                  <a:schemeClr val="tx1"/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 err="1"/>
              <a:t>Vestibulum</a:t>
            </a:r>
            <a:r>
              <a:rPr lang="pt-BR" dirty="0"/>
              <a:t> et nunc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 </a:t>
            </a:r>
            <a:r>
              <a:rPr lang="pt-BR" dirty="0" err="1"/>
              <a:t>consectetur</a:t>
            </a:r>
            <a:r>
              <a:rPr lang="pt-BR" dirty="0"/>
              <a:t> </a:t>
            </a:r>
            <a:r>
              <a:rPr lang="pt-BR" dirty="0" err="1"/>
              <a:t>efficitur</a:t>
            </a:r>
            <a:r>
              <a:rPr lang="pt-BR" dirty="0"/>
              <a:t>. </a:t>
            </a:r>
            <a:r>
              <a:rPr lang="pt-BR" dirty="0" err="1"/>
              <a:t>Nullam</a:t>
            </a:r>
            <a:r>
              <a:rPr lang="pt-BR" dirty="0"/>
              <a:t>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lorem</a:t>
            </a:r>
            <a:r>
              <a:rPr lang="pt-BR" dirty="0"/>
              <a:t> </a:t>
            </a:r>
            <a:r>
              <a:rPr lang="pt-BR" dirty="0" err="1"/>
              <a:t>molestie</a:t>
            </a:r>
            <a:r>
              <a:rPr lang="pt-BR" dirty="0"/>
              <a:t> </a:t>
            </a:r>
            <a:r>
              <a:rPr lang="pt-BR" dirty="0" err="1"/>
              <a:t>velit</a:t>
            </a:r>
            <a:r>
              <a:rPr lang="pt-BR" dirty="0"/>
              <a:t>.</a:t>
            </a:r>
          </a:p>
        </p:txBody>
      </p:sp>
      <p:sp>
        <p:nvSpPr>
          <p:cNvPr id="31" name="Espaço Reservado para Conteúdo 4">
            <a:extLst>
              <a:ext uri="{FF2B5EF4-FFF2-40B4-BE49-F238E27FC236}">
                <a16:creationId xmlns:a16="http://schemas.microsoft.com/office/drawing/2014/main" id="{58CA9FBA-C6F6-48B4-8054-37886D57B897}"/>
              </a:ext>
            </a:extLst>
          </p:cNvPr>
          <p:cNvSpPr>
            <a:spLocks noGrp="1"/>
          </p:cNvSpPr>
          <p:nvPr>
            <p:ph sz="quarter" idx="15" hasCustomPrompt="1"/>
          </p:nvPr>
        </p:nvSpPr>
        <p:spPr>
          <a:xfrm>
            <a:off x="2902119" y="1789450"/>
            <a:ext cx="2819400" cy="1815882"/>
          </a:xfrm>
          <a:prstGeom prst="rect">
            <a:avLst/>
          </a:prstGeom>
        </p:spPr>
        <p:txBody>
          <a:bodyPr/>
          <a:lstStyle>
            <a:lvl1pPr marL="285750" indent="-285750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Char char="•"/>
              <a:defRPr sz="1400">
                <a:solidFill>
                  <a:schemeClr val="tx1"/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 err="1"/>
              <a:t>Vestibulum</a:t>
            </a:r>
            <a:r>
              <a:rPr lang="pt-BR" dirty="0"/>
              <a:t> et nunc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 </a:t>
            </a:r>
            <a:r>
              <a:rPr lang="pt-BR" dirty="0" err="1"/>
              <a:t>consectetur</a:t>
            </a:r>
            <a:r>
              <a:rPr lang="pt-BR" dirty="0"/>
              <a:t> </a:t>
            </a:r>
            <a:r>
              <a:rPr lang="pt-BR" dirty="0" err="1"/>
              <a:t>efficitur</a:t>
            </a:r>
            <a:r>
              <a:rPr lang="pt-BR" dirty="0"/>
              <a:t>. </a:t>
            </a:r>
          </a:p>
          <a:p>
            <a:pPr lvl="0"/>
            <a:r>
              <a:rPr lang="pt-BR" dirty="0" err="1"/>
              <a:t>Nullam</a:t>
            </a:r>
            <a:r>
              <a:rPr lang="pt-BR" dirty="0"/>
              <a:t>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lorem</a:t>
            </a:r>
            <a:r>
              <a:rPr lang="pt-BR" dirty="0"/>
              <a:t> </a:t>
            </a:r>
            <a:r>
              <a:rPr lang="pt-BR" dirty="0" err="1"/>
              <a:t>molestie</a:t>
            </a:r>
            <a:r>
              <a:rPr lang="pt-BR" dirty="0"/>
              <a:t> </a:t>
            </a:r>
            <a:r>
              <a:rPr lang="pt-BR" dirty="0" err="1"/>
              <a:t>velit</a:t>
            </a:r>
            <a:r>
              <a:rPr lang="pt-BR" dirty="0"/>
              <a:t> </a:t>
            </a:r>
            <a:r>
              <a:rPr lang="pt-BR" dirty="0" err="1"/>
              <a:t>vestibulum</a:t>
            </a:r>
            <a:r>
              <a:rPr lang="pt-BR" dirty="0"/>
              <a:t> </a:t>
            </a:r>
            <a:r>
              <a:rPr lang="pt-BR" dirty="0" err="1"/>
              <a:t>dictum</a:t>
            </a:r>
            <a:r>
              <a:rPr lang="pt-BR" dirty="0"/>
              <a:t>. </a:t>
            </a:r>
          </a:p>
          <a:p>
            <a:pPr lvl="0"/>
            <a:r>
              <a:rPr lang="pt-BR" dirty="0" err="1"/>
              <a:t>Morbi</a:t>
            </a:r>
            <a:r>
              <a:rPr lang="pt-BR" dirty="0"/>
              <a:t> </a:t>
            </a:r>
            <a:r>
              <a:rPr lang="pt-BR" dirty="0" err="1"/>
              <a:t>eget</a:t>
            </a:r>
            <a:r>
              <a:rPr lang="pt-BR" dirty="0"/>
              <a:t> </a:t>
            </a:r>
            <a:r>
              <a:rPr lang="pt-BR" dirty="0" err="1"/>
              <a:t>nisi</a:t>
            </a:r>
            <a:r>
              <a:rPr lang="pt-BR" dirty="0"/>
              <a:t> </a:t>
            </a:r>
            <a:r>
              <a:rPr lang="pt-BR" dirty="0" err="1"/>
              <a:t>dolor</a:t>
            </a:r>
            <a:r>
              <a:rPr lang="pt-BR" dirty="0"/>
              <a:t>. </a:t>
            </a:r>
            <a:r>
              <a:rPr lang="pt-BR" dirty="0" err="1"/>
              <a:t>Aliquam</a:t>
            </a:r>
            <a:r>
              <a:rPr lang="pt-BR" dirty="0"/>
              <a:t> </a:t>
            </a:r>
            <a:r>
              <a:rPr lang="pt-BR" dirty="0" err="1"/>
              <a:t>imperdiet</a:t>
            </a:r>
            <a:r>
              <a:rPr lang="pt-BR" dirty="0"/>
              <a:t> </a:t>
            </a:r>
            <a:r>
              <a:rPr lang="pt-BR" dirty="0" err="1"/>
              <a:t>ex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, id </a:t>
            </a:r>
            <a:r>
              <a:rPr lang="pt-BR" dirty="0" err="1"/>
              <a:t>mattis</a:t>
            </a:r>
            <a:r>
              <a:rPr lang="pt-BR" dirty="0"/>
              <a:t> </a:t>
            </a:r>
            <a:r>
              <a:rPr lang="pt-BR" dirty="0" err="1"/>
              <a:t>lacus</a:t>
            </a:r>
            <a:r>
              <a:rPr lang="pt-BR" dirty="0"/>
              <a:t> </a:t>
            </a:r>
            <a:r>
              <a:rPr lang="pt-BR" dirty="0" err="1"/>
              <a:t>feugiat</a:t>
            </a:r>
            <a:r>
              <a:rPr lang="pt-BR" dirty="0"/>
              <a:t> </a:t>
            </a:r>
            <a:r>
              <a:rPr lang="pt-BR" dirty="0" err="1"/>
              <a:t>sit</a:t>
            </a:r>
            <a:r>
              <a:rPr lang="pt-BR" dirty="0"/>
              <a:t> </a:t>
            </a:r>
            <a:r>
              <a:rPr lang="pt-BR" dirty="0" err="1"/>
              <a:t>amet</a:t>
            </a:r>
            <a:r>
              <a:rPr lang="pt-BR" dirty="0"/>
              <a:t>. </a:t>
            </a:r>
          </a:p>
        </p:txBody>
      </p:sp>
      <p:sp>
        <p:nvSpPr>
          <p:cNvPr id="32" name="Espaço Reservado para Conteúdo 4">
            <a:extLst>
              <a:ext uri="{FF2B5EF4-FFF2-40B4-BE49-F238E27FC236}">
                <a16:creationId xmlns:a16="http://schemas.microsoft.com/office/drawing/2014/main" id="{3B524203-EAD3-4477-9209-B4351264128B}"/>
              </a:ext>
            </a:extLst>
          </p:cNvPr>
          <p:cNvSpPr>
            <a:spLocks noGrp="1"/>
          </p:cNvSpPr>
          <p:nvPr>
            <p:ph sz="quarter" idx="16" hasCustomPrompt="1"/>
          </p:nvPr>
        </p:nvSpPr>
        <p:spPr>
          <a:xfrm>
            <a:off x="6317421" y="1789450"/>
            <a:ext cx="708406" cy="1098093"/>
          </a:xfrm>
          <a:prstGeom prst="rect">
            <a:avLst/>
          </a:prstGeom>
        </p:spPr>
        <p:txBody>
          <a:bodyPr anchor="b"/>
          <a:lstStyle>
            <a:lvl1pPr marL="0" indent="0">
              <a:lnSpc>
                <a:spcPct val="80000"/>
              </a:lnSpc>
              <a:spcBef>
                <a:spcPts val="0"/>
              </a:spcBef>
              <a:buNone/>
              <a:defRPr sz="7000">
                <a:solidFill>
                  <a:schemeClr val="bg1">
                    <a:lumMod val="95000"/>
                  </a:schemeClr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2</a:t>
            </a:r>
          </a:p>
        </p:txBody>
      </p:sp>
      <p:sp>
        <p:nvSpPr>
          <p:cNvPr id="33" name="Espaço Reservado para Conteúdo 4">
            <a:extLst>
              <a:ext uri="{FF2B5EF4-FFF2-40B4-BE49-F238E27FC236}">
                <a16:creationId xmlns:a16="http://schemas.microsoft.com/office/drawing/2014/main" id="{01D447D5-A389-49AB-9939-1EC12515C697}"/>
              </a:ext>
            </a:extLst>
          </p:cNvPr>
          <p:cNvSpPr>
            <a:spLocks noGrp="1"/>
          </p:cNvSpPr>
          <p:nvPr>
            <p:ph sz="quarter" idx="17" hasCustomPrompt="1"/>
          </p:nvPr>
        </p:nvSpPr>
        <p:spPr>
          <a:xfrm>
            <a:off x="7025828" y="1789450"/>
            <a:ext cx="1489788" cy="1042424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400">
                <a:solidFill>
                  <a:schemeClr val="tx1"/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 err="1"/>
              <a:t>Vestibulum</a:t>
            </a:r>
            <a:r>
              <a:rPr lang="pt-BR" dirty="0"/>
              <a:t> et nunc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 </a:t>
            </a:r>
            <a:r>
              <a:rPr lang="pt-BR" dirty="0" err="1"/>
              <a:t>consectetur</a:t>
            </a:r>
            <a:r>
              <a:rPr lang="pt-BR" dirty="0"/>
              <a:t> </a:t>
            </a:r>
            <a:r>
              <a:rPr lang="pt-BR" dirty="0" err="1"/>
              <a:t>efficitur</a:t>
            </a:r>
            <a:r>
              <a:rPr lang="pt-BR" dirty="0"/>
              <a:t>. </a:t>
            </a:r>
            <a:r>
              <a:rPr lang="pt-BR" dirty="0" err="1"/>
              <a:t>Nullam</a:t>
            </a:r>
            <a:r>
              <a:rPr lang="pt-BR" dirty="0"/>
              <a:t>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lorem</a:t>
            </a:r>
            <a:r>
              <a:rPr lang="pt-BR" dirty="0"/>
              <a:t> </a:t>
            </a:r>
            <a:r>
              <a:rPr lang="pt-BR" dirty="0" err="1"/>
              <a:t>molestie</a:t>
            </a:r>
            <a:r>
              <a:rPr lang="pt-BR" dirty="0"/>
              <a:t> </a:t>
            </a:r>
            <a:r>
              <a:rPr lang="pt-BR" dirty="0" err="1"/>
              <a:t>velit</a:t>
            </a:r>
            <a:r>
              <a:rPr lang="pt-BR" dirty="0"/>
              <a:t>.</a:t>
            </a:r>
          </a:p>
        </p:txBody>
      </p:sp>
      <p:sp>
        <p:nvSpPr>
          <p:cNvPr id="34" name="Espaço Reservado para Conteúdo 4">
            <a:extLst>
              <a:ext uri="{FF2B5EF4-FFF2-40B4-BE49-F238E27FC236}">
                <a16:creationId xmlns:a16="http://schemas.microsoft.com/office/drawing/2014/main" id="{B8D809D7-F1D1-4A2C-BB27-83433994B162}"/>
              </a:ext>
            </a:extLst>
          </p:cNvPr>
          <p:cNvSpPr>
            <a:spLocks noGrp="1"/>
          </p:cNvSpPr>
          <p:nvPr>
            <p:ph sz="quarter" idx="18" hasCustomPrompt="1"/>
          </p:nvPr>
        </p:nvSpPr>
        <p:spPr>
          <a:xfrm>
            <a:off x="8541871" y="1789450"/>
            <a:ext cx="2819400" cy="1815882"/>
          </a:xfrm>
          <a:prstGeom prst="rect">
            <a:avLst/>
          </a:prstGeom>
        </p:spPr>
        <p:txBody>
          <a:bodyPr/>
          <a:lstStyle>
            <a:lvl1pPr marL="285750" indent="-285750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Char char="•"/>
              <a:defRPr sz="1400">
                <a:solidFill>
                  <a:schemeClr val="tx1"/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 err="1"/>
              <a:t>Vestibulum</a:t>
            </a:r>
            <a:r>
              <a:rPr lang="pt-BR" dirty="0"/>
              <a:t> et nunc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 </a:t>
            </a:r>
            <a:r>
              <a:rPr lang="pt-BR" dirty="0" err="1"/>
              <a:t>consectetur</a:t>
            </a:r>
            <a:r>
              <a:rPr lang="pt-BR" dirty="0"/>
              <a:t> </a:t>
            </a:r>
            <a:r>
              <a:rPr lang="pt-BR" dirty="0" err="1"/>
              <a:t>efficitur</a:t>
            </a:r>
            <a:r>
              <a:rPr lang="pt-BR" dirty="0"/>
              <a:t>. </a:t>
            </a:r>
          </a:p>
          <a:p>
            <a:pPr lvl="0"/>
            <a:r>
              <a:rPr lang="pt-BR" dirty="0" err="1"/>
              <a:t>Nullam</a:t>
            </a:r>
            <a:r>
              <a:rPr lang="pt-BR" dirty="0"/>
              <a:t>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lorem</a:t>
            </a:r>
            <a:r>
              <a:rPr lang="pt-BR" dirty="0"/>
              <a:t> </a:t>
            </a:r>
            <a:r>
              <a:rPr lang="pt-BR" dirty="0" err="1"/>
              <a:t>molestie</a:t>
            </a:r>
            <a:r>
              <a:rPr lang="pt-BR" dirty="0"/>
              <a:t> </a:t>
            </a:r>
            <a:r>
              <a:rPr lang="pt-BR" dirty="0" err="1"/>
              <a:t>velit</a:t>
            </a:r>
            <a:r>
              <a:rPr lang="pt-BR" dirty="0"/>
              <a:t> </a:t>
            </a:r>
            <a:r>
              <a:rPr lang="pt-BR" dirty="0" err="1"/>
              <a:t>vestibulum</a:t>
            </a:r>
            <a:r>
              <a:rPr lang="pt-BR" dirty="0"/>
              <a:t> </a:t>
            </a:r>
            <a:r>
              <a:rPr lang="pt-BR" dirty="0" err="1"/>
              <a:t>dictum</a:t>
            </a:r>
            <a:r>
              <a:rPr lang="pt-BR" dirty="0"/>
              <a:t>. </a:t>
            </a:r>
          </a:p>
          <a:p>
            <a:pPr lvl="0"/>
            <a:r>
              <a:rPr lang="pt-BR" dirty="0" err="1"/>
              <a:t>Morbi</a:t>
            </a:r>
            <a:r>
              <a:rPr lang="pt-BR" dirty="0"/>
              <a:t> </a:t>
            </a:r>
            <a:r>
              <a:rPr lang="pt-BR" dirty="0" err="1"/>
              <a:t>eget</a:t>
            </a:r>
            <a:r>
              <a:rPr lang="pt-BR" dirty="0"/>
              <a:t> </a:t>
            </a:r>
            <a:r>
              <a:rPr lang="pt-BR" dirty="0" err="1"/>
              <a:t>nisi</a:t>
            </a:r>
            <a:r>
              <a:rPr lang="pt-BR" dirty="0"/>
              <a:t> </a:t>
            </a:r>
            <a:r>
              <a:rPr lang="pt-BR" dirty="0" err="1"/>
              <a:t>dolor</a:t>
            </a:r>
            <a:r>
              <a:rPr lang="pt-BR" dirty="0"/>
              <a:t>. </a:t>
            </a:r>
            <a:r>
              <a:rPr lang="pt-BR" dirty="0" err="1"/>
              <a:t>Aliquam</a:t>
            </a:r>
            <a:r>
              <a:rPr lang="pt-BR" dirty="0"/>
              <a:t> </a:t>
            </a:r>
            <a:r>
              <a:rPr lang="pt-BR" dirty="0" err="1"/>
              <a:t>imperdiet</a:t>
            </a:r>
            <a:r>
              <a:rPr lang="pt-BR" dirty="0"/>
              <a:t> </a:t>
            </a:r>
            <a:r>
              <a:rPr lang="pt-BR" dirty="0" err="1"/>
              <a:t>ex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, id </a:t>
            </a:r>
            <a:r>
              <a:rPr lang="pt-BR" dirty="0" err="1"/>
              <a:t>mattis</a:t>
            </a:r>
            <a:r>
              <a:rPr lang="pt-BR" dirty="0"/>
              <a:t> </a:t>
            </a:r>
            <a:r>
              <a:rPr lang="pt-BR" dirty="0" err="1"/>
              <a:t>lacus</a:t>
            </a:r>
            <a:r>
              <a:rPr lang="pt-BR" dirty="0"/>
              <a:t> </a:t>
            </a:r>
            <a:r>
              <a:rPr lang="pt-BR" dirty="0" err="1"/>
              <a:t>feugiat</a:t>
            </a:r>
            <a:r>
              <a:rPr lang="pt-BR" dirty="0"/>
              <a:t> </a:t>
            </a:r>
            <a:r>
              <a:rPr lang="pt-BR" dirty="0" err="1"/>
              <a:t>sit</a:t>
            </a:r>
            <a:r>
              <a:rPr lang="pt-BR" dirty="0"/>
              <a:t> </a:t>
            </a:r>
            <a:r>
              <a:rPr lang="pt-BR" dirty="0" err="1"/>
              <a:t>amet</a:t>
            </a:r>
            <a:r>
              <a:rPr lang="pt-BR" dirty="0"/>
              <a:t>. </a:t>
            </a:r>
          </a:p>
        </p:txBody>
      </p:sp>
      <p:sp>
        <p:nvSpPr>
          <p:cNvPr id="35" name="Espaço Reservado para Conteúdo 4">
            <a:extLst>
              <a:ext uri="{FF2B5EF4-FFF2-40B4-BE49-F238E27FC236}">
                <a16:creationId xmlns:a16="http://schemas.microsoft.com/office/drawing/2014/main" id="{4705D9C3-A995-459D-AADF-DFDD6934707E}"/>
              </a:ext>
            </a:extLst>
          </p:cNvPr>
          <p:cNvSpPr>
            <a:spLocks noGrp="1"/>
          </p:cNvSpPr>
          <p:nvPr>
            <p:ph sz="quarter" idx="19" hasCustomPrompt="1"/>
          </p:nvPr>
        </p:nvSpPr>
        <p:spPr>
          <a:xfrm>
            <a:off x="677669" y="3876563"/>
            <a:ext cx="708406" cy="1098093"/>
          </a:xfrm>
          <a:prstGeom prst="rect">
            <a:avLst/>
          </a:prstGeom>
        </p:spPr>
        <p:txBody>
          <a:bodyPr anchor="b"/>
          <a:lstStyle>
            <a:lvl1pPr marL="0" indent="0">
              <a:lnSpc>
                <a:spcPct val="80000"/>
              </a:lnSpc>
              <a:spcBef>
                <a:spcPts val="0"/>
              </a:spcBef>
              <a:buNone/>
              <a:defRPr sz="7000">
                <a:solidFill>
                  <a:schemeClr val="bg1">
                    <a:lumMod val="95000"/>
                  </a:schemeClr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3</a:t>
            </a:r>
          </a:p>
        </p:txBody>
      </p:sp>
      <p:sp>
        <p:nvSpPr>
          <p:cNvPr id="36" name="Espaço Reservado para Conteúdo 4">
            <a:extLst>
              <a:ext uri="{FF2B5EF4-FFF2-40B4-BE49-F238E27FC236}">
                <a16:creationId xmlns:a16="http://schemas.microsoft.com/office/drawing/2014/main" id="{48370BE8-A043-4995-BDFE-BDB113D9F98B}"/>
              </a:ext>
            </a:extLst>
          </p:cNvPr>
          <p:cNvSpPr>
            <a:spLocks noGrp="1"/>
          </p:cNvSpPr>
          <p:nvPr>
            <p:ph sz="quarter" idx="20" hasCustomPrompt="1"/>
          </p:nvPr>
        </p:nvSpPr>
        <p:spPr>
          <a:xfrm>
            <a:off x="1386076" y="3876563"/>
            <a:ext cx="1489788" cy="1042424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400">
                <a:solidFill>
                  <a:schemeClr val="tx1"/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 err="1"/>
              <a:t>Vestibulum</a:t>
            </a:r>
            <a:r>
              <a:rPr lang="pt-BR" dirty="0"/>
              <a:t> et nunc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 </a:t>
            </a:r>
            <a:r>
              <a:rPr lang="pt-BR" dirty="0" err="1"/>
              <a:t>consectetur</a:t>
            </a:r>
            <a:r>
              <a:rPr lang="pt-BR" dirty="0"/>
              <a:t> </a:t>
            </a:r>
            <a:r>
              <a:rPr lang="pt-BR" dirty="0" err="1"/>
              <a:t>efficitur</a:t>
            </a:r>
            <a:r>
              <a:rPr lang="pt-BR" dirty="0"/>
              <a:t>. </a:t>
            </a:r>
            <a:r>
              <a:rPr lang="pt-BR" dirty="0" err="1"/>
              <a:t>Nullam</a:t>
            </a:r>
            <a:r>
              <a:rPr lang="pt-BR" dirty="0"/>
              <a:t>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lorem</a:t>
            </a:r>
            <a:r>
              <a:rPr lang="pt-BR" dirty="0"/>
              <a:t> </a:t>
            </a:r>
            <a:r>
              <a:rPr lang="pt-BR" dirty="0" err="1"/>
              <a:t>molestie</a:t>
            </a:r>
            <a:r>
              <a:rPr lang="pt-BR" dirty="0"/>
              <a:t> </a:t>
            </a:r>
            <a:r>
              <a:rPr lang="pt-BR" dirty="0" err="1"/>
              <a:t>velit</a:t>
            </a:r>
            <a:r>
              <a:rPr lang="pt-BR" dirty="0"/>
              <a:t>.</a:t>
            </a:r>
          </a:p>
        </p:txBody>
      </p:sp>
      <p:sp>
        <p:nvSpPr>
          <p:cNvPr id="37" name="Espaço Reservado para Conteúdo 4">
            <a:extLst>
              <a:ext uri="{FF2B5EF4-FFF2-40B4-BE49-F238E27FC236}">
                <a16:creationId xmlns:a16="http://schemas.microsoft.com/office/drawing/2014/main" id="{EF334FA5-EFEC-4880-AB74-FDA39A9CF324}"/>
              </a:ext>
            </a:extLst>
          </p:cNvPr>
          <p:cNvSpPr>
            <a:spLocks noGrp="1"/>
          </p:cNvSpPr>
          <p:nvPr>
            <p:ph sz="quarter" idx="21" hasCustomPrompt="1"/>
          </p:nvPr>
        </p:nvSpPr>
        <p:spPr>
          <a:xfrm>
            <a:off x="2902119" y="3876563"/>
            <a:ext cx="2819400" cy="1815882"/>
          </a:xfrm>
          <a:prstGeom prst="rect">
            <a:avLst/>
          </a:prstGeom>
        </p:spPr>
        <p:txBody>
          <a:bodyPr/>
          <a:lstStyle>
            <a:lvl1pPr marL="285750" indent="-285750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Char char="•"/>
              <a:defRPr sz="1400">
                <a:solidFill>
                  <a:schemeClr val="tx1"/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 err="1"/>
              <a:t>Vestibulum</a:t>
            </a:r>
            <a:r>
              <a:rPr lang="pt-BR" dirty="0"/>
              <a:t> et nunc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 </a:t>
            </a:r>
            <a:r>
              <a:rPr lang="pt-BR" dirty="0" err="1"/>
              <a:t>consectetur</a:t>
            </a:r>
            <a:r>
              <a:rPr lang="pt-BR" dirty="0"/>
              <a:t> </a:t>
            </a:r>
            <a:r>
              <a:rPr lang="pt-BR" dirty="0" err="1"/>
              <a:t>efficitur</a:t>
            </a:r>
            <a:r>
              <a:rPr lang="pt-BR" dirty="0"/>
              <a:t>. </a:t>
            </a:r>
          </a:p>
          <a:p>
            <a:pPr lvl="0"/>
            <a:r>
              <a:rPr lang="pt-BR" dirty="0" err="1"/>
              <a:t>Nullam</a:t>
            </a:r>
            <a:r>
              <a:rPr lang="pt-BR" dirty="0"/>
              <a:t>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lorem</a:t>
            </a:r>
            <a:r>
              <a:rPr lang="pt-BR" dirty="0"/>
              <a:t> </a:t>
            </a:r>
            <a:r>
              <a:rPr lang="pt-BR" dirty="0" err="1"/>
              <a:t>molestie</a:t>
            </a:r>
            <a:r>
              <a:rPr lang="pt-BR" dirty="0"/>
              <a:t> </a:t>
            </a:r>
            <a:r>
              <a:rPr lang="pt-BR" dirty="0" err="1"/>
              <a:t>velit</a:t>
            </a:r>
            <a:r>
              <a:rPr lang="pt-BR" dirty="0"/>
              <a:t> </a:t>
            </a:r>
            <a:r>
              <a:rPr lang="pt-BR" dirty="0" err="1"/>
              <a:t>vestibulum</a:t>
            </a:r>
            <a:r>
              <a:rPr lang="pt-BR" dirty="0"/>
              <a:t> </a:t>
            </a:r>
            <a:r>
              <a:rPr lang="pt-BR" dirty="0" err="1"/>
              <a:t>dictum</a:t>
            </a:r>
            <a:r>
              <a:rPr lang="pt-BR" dirty="0"/>
              <a:t>. </a:t>
            </a:r>
          </a:p>
          <a:p>
            <a:pPr lvl="0"/>
            <a:r>
              <a:rPr lang="pt-BR" dirty="0" err="1"/>
              <a:t>Morbi</a:t>
            </a:r>
            <a:r>
              <a:rPr lang="pt-BR" dirty="0"/>
              <a:t> </a:t>
            </a:r>
            <a:r>
              <a:rPr lang="pt-BR" dirty="0" err="1"/>
              <a:t>eget</a:t>
            </a:r>
            <a:r>
              <a:rPr lang="pt-BR" dirty="0"/>
              <a:t> </a:t>
            </a:r>
            <a:r>
              <a:rPr lang="pt-BR" dirty="0" err="1"/>
              <a:t>nisi</a:t>
            </a:r>
            <a:r>
              <a:rPr lang="pt-BR" dirty="0"/>
              <a:t> </a:t>
            </a:r>
            <a:r>
              <a:rPr lang="pt-BR" dirty="0" err="1"/>
              <a:t>dolor</a:t>
            </a:r>
            <a:r>
              <a:rPr lang="pt-BR" dirty="0"/>
              <a:t>. </a:t>
            </a:r>
            <a:r>
              <a:rPr lang="pt-BR" dirty="0" err="1"/>
              <a:t>Aliquam</a:t>
            </a:r>
            <a:r>
              <a:rPr lang="pt-BR" dirty="0"/>
              <a:t> </a:t>
            </a:r>
            <a:r>
              <a:rPr lang="pt-BR" dirty="0" err="1"/>
              <a:t>imperdiet</a:t>
            </a:r>
            <a:r>
              <a:rPr lang="pt-BR" dirty="0"/>
              <a:t> </a:t>
            </a:r>
            <a:r>
              <a:rPr lang="pt-BR" dirty="0" err="1"/>
              <a:t>ex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, id </a:t>
            </a:r>
            <a:r>
              <a:rPr lang="pt-BR" dirty="0" err="1"/>
              <a:t>mattis</a:t>
            </a:r>
            <a:r>
              <a:rPr lang="pt-BR" dirty="0"/>
              <a:t> </a:t>
            </a:r>
            <a:r>
              <a:rPr lang="pt-BR" dirty="0" err="1"/>
              <a:t>lacus</a:t>
            </a:r>
            <a:r>
              <a:rPr lang="pt-BR" dirty="0"/>
              <a:t> </a:t>
            </a:r>
            <a:r>
              <a:rPr lang="pt-BR" dirty="0" err="1"/>
              <a:t>feugiat</a:t>
            </a:r>
            <a:r>
              <a:rPr lang="pt-BR" dirty="0"/>
              <a:t> </a:t>
            </a:r>
            <a:r>
              <a:rPr lang="pt-BR" dirty="0" err="1"/>
              <a:t>sit</a:t>
            </a:r>
            <a:r>
              <a:rPr lang="pt-BR" dirty="0"/>
              <a:t> </a:t>
            </a:r>
            <a:r>
              <a:rPr lang="pt-BR" dirty="0" err="1"/>
              <a:t>amet</a:t>
            </a:r>
            <a:r>
              <a:rPr lang="pt-BR" dirty="0"/>
              <a:t>. </a:t>
            </a:r>
          </a:p>
        </p:txBody>
      </p:sp>
      <p:sp>
        <p:nvSpPr>
          <p:cNvPr id="38" name="Espaço Reservado para Conteúdo 4">
            <a:extLst>
              <a:ext uri="{FF2B5EF4-FFF2-40B4-BE49-F238E27FC236}">
                <a16:creationId xmlns:a16="http://schemas.microsoft.com/office/drawing/2014/main" id="{C62A379B-D566-4D7A-B047-927E5BA2A089}"/>
              </a:ext>
            </a:extLst>
          </p:cNvPr>
          <p:cNvSpPr>
            <a:spLocks noGrp="1"/>
          </p:cNvSpPr>
          <p:nvPr>
            <p:ph sz="quarter" idx="22" hasCustomPrompt="1"/>
          </p:nvPr>
        </p:nvSpPr>
        <p:spPr>
          <a:xfrm>
            <a:off x="6317421" y="3876563"/>
            <a:ext cx="708406" cy="1098093"/>
          </a:xfrm>
          <a:prstGeom prst="rect">
            <a:avLst/>
          </a:prstGeom>
        </p:spPr>
        <p:txBody>
          <a:bodyPr anchor="b"/>
          <a:lstStyle>
            <a:lvl1pPr marL="0" indent="0">
              <a:lnSpc>
                <a:spcPct val="80000"/>
              </a:lnSpc>
              <a:spcBef>
                <a:spcPts val="0"/>
              </a:spcBef>
              <a:buNone/>
              <a:defRPr sz="7000">
                <a:solidFill>
                  <a:schemeClr val="bg1">
                    <a:lumMod val="95000"/>
                  </a:schemeClr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4</a:t>
            </a:r>
          </a:p>
        </p:txBody>
      </p:sp>
      <p:sp>
        <p:nvSpPr>
          <p:cNvPr id="39" name="Espaço Reservado para Conteúdo 4">
            <a:extLst>
              <a:ext uri="{FF2B5EF4-FFF2-40B4-BE49-F238E27FC236}">
                <a16:creationId xmlns:a16="http://schemas.microsoft.com/office/drawing/2014/main" id="{265B2327-F611-4CB3-B79A-22014E2BDC29}"/>
              </a:ext>
            </a:extLst>
          </p:cNvPr>
          <p:cNvSpPr>
            <a:spLocks noGrp="1"/>
          </p:cNvSpPr>
          <p:nvPr>
            <p:ph sz="quarter" idx="23" hasCustomPrompt="1"/>
          </p:nvPr>
        </p:nvSpPr>
        <p:spPr>
          <a:xfrm>
            <a:off x="7025828" y="3876563"/>
            <a:ext cx="1489788" cy="1042424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400">
                <a:solidFill>
                  <a:schemeClr val="tx1"/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 err="1"/>
              <a:t>Vestibulum</a:t>
            </a:r>
            <a:r>
              <a:rPr lang="pt-BR" dirty="0"/>
              <a:t> et nunc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 </a:t>
            </a:r>
            <a:r>
              <a:rPr lang="pt-BR" dirty="0" err="1"/>
              <a:t>consectetur</a:t>
            </a:r>
            <a:r>
              <a:rPr lang="pt-BR" dirty="0"/>
              <a:t> </a:t>
            </a:r>
            <a:r>
              <a:rPr lang="pt-BR" dirty="0" err="1"/>
              <a:t>efficitur</a:t>
            </a:r>
            <a:r>
              <a:rPr lang="pt-BR" dirty="0"/>
              <a:t>. </a:t>
            </a:r>
            <a:r>
              <a:rPr lang="pt-BR" dirty="0" err="1"/>
              <a:t>Nullam</a:t>
            </a:r>
            <a:r>
              <a:rPr lang="pt-BR" dirty="0"/>
              <a:t>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lorem</a:t>
            </a:r>
            <a:r>
              <a:rPr lang="pt-BR" dirty="0"/>
              <a:t> </a:t>
            </a:r>
            <a:r>
              <a:rPr lang="pt-BR" dirty="0" err="1"/>
              <a:t>molestie</a:t>
            </a:r>
            <a:r>
              <a:rPr lang="pt-BR" dirty="0"/>
              <a:t> </a:t>
            </a:r>
            <a:r>
              <a:rPr lang="pt-BR" dirty="0" err="1"/>
              <a:t>velit</a:t>
            </a:r>
            <a:r>
              <a:rPr lang="pt-BR" dirty="0"/>
              <a:t>.</a:t>
            </a:r>
          </a:p>
        </p:txBody>
      </p:sp>
      <p:sp>
        <p:nvSpPr>
          <p:cNvPr id="40" name="Espaço Reservado para Conteúdo 4">
            <a:extLst>
              <a:ext uri="{FF2B5EF4-FFF2-40B4-BE49-F238E27FC236}">
                <a16:creationId xmlns:a16="http://schemas.microsoft.com/office/drawing/2014/main" id="{875ADBDB-708D-40FF-B05B-63F736D2AC8D}"/>
              </a:ext>
            </a:extLst>
          </p:cNvPr>
          <p:cNvSpPr>
            <a:spLocks noGrp="1"/>
          </p:cNvSpPr>
          <p:nvPr>
            <p:ph sz="quarter" idx="24" hasCustomPrompt="1"/>
          </p:nvPr>
        </p:nvSpPr>
        <p:spPr>
          <a:xfrm>
            <a:off x="8541871" y="3876563"/>
            <a:ext cx="2819400" cy="1815882"/>
          </a:xfrm>
          <a:prstGeom prst="rect">
            <a:avLst/>
          </a:prstGeom>
        </p:spPr>
        <p:txBody>
          <a:bodyPr/>
          <a:lstStyle>
            <a:lvl1pPr marL="285750" indent="-285750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Char char="•"/>
              <a:defRPr sz="1400">
                <a:solidFill>
                  <a:schemeClr val="tx1"/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 err="1"/>
              <a:t>Vestibulum</a:t>
            </a:r>
            <a:r>
              <a:rPr lang="pt-BR" dirty="0"/>
              <a:t> et nunc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 </a:t>
            </a:r>
            <a:r>
              <a:rPr lang="pt-BR" dirty="0" err="1"/>
              <a:t>consectetur</a:t>
            </a:r>
            <a:r>
              <a:rPr lang="pt-BR" dirty="0"/>
              <a:t> </a:t>
            </a:r>
            <a:r>
              <a:rPr lang="pt-BR" dirty="0" err="1"/>
              <a:t>efficitur</a:t>
            </a:r>
            <a:r>
              <a:rPr lang="pt-BR" dirty="0"/>
              <a:t>. </a:t>
            </a:r>
          </a:p>
          <a:p>
            <a:pPr lvl="0"/>
            <a:r>
              <a:rPr lang="pt-BR" dirty="0" err="1"/>
              <a:t>Nullam</a:t>
            </a:r>
            <a:r>
              <a:rPr lang="pt-BR" dirty="0"/>
              <a:t>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lorem</a:t>
            </a:r>
            <a:r>
              <a:rPr lang="pt-BR" dirty="0"/>
              <a:t> </a:t>
            </a:r>
            <a:r>
              <a:rPr lang="pt-BR" dirty="0" err="1"/>
              <a:t>molestie</a:t>
            </a:r>
            <a:r>
              <a:rPr lang="pt-BR" dirty="0"/>
              <a:t> </a:t>
            </a:r>
            <a:r>
              <a:rPr lang="pt-BR" dirty="0" err="1"/>
              <a:t>velit</a:t>
            </a:r>
            <a:r>
              <a:rPr lang="pt-BR" dirty="0"/>
              <a:t> </a:t>
            </a:r>
            <a:r>
              <a:rPr lang="pt-BR" dirty="0" err="1"/>
              <a:t>vestibulum</a:t>
            </a:r>
            <a:r>
              <a:rPr lang="pt-BR" dirty="0"/>
              <a:t> </a:t>
            </a:r>
            <a:r>
              <a:rPr lang="pt-BR" dirty="0" err="1"/>
              <a:t>dictum</a:t>
            </a:r>
            <a:r>
              <a:rPr lang="pt-BR" dirty="0"/>
              <a:t>. </a:t>
            </a:r>
          </a:p>
          <a:p>
            <a:pPr lvl="0"/>
            <a:r>
              <a:rPr lang="pt-BR" dirty="0" err="1"/>
              <a:t>Morbi</a:t>
            </a:r>
            <a:r>
              <a:rPr lang="pt-BR" dirty="0"/>
              <a:t> </a:t>
            </a:r>
            <a:r>
              <a:rPr lang="pt-BR" dirty="0" err="1"/>
              <a:t>eget</a:t>
            </a:r>
            <a:r>
              <a:rPr lang="pt-BR" dirty="0"/>
              <a:t> </a:t>
            </a:r>
            <a:r>
              <a:rPr lang="pt-BR" dirty="0" err="1"/>
              <a:t>nisi</a:t>
            </a:r>
            <a:r>
              <a:rPr lang="pt-BR" dirty="0"/>
              <a:t> </a:t>
            </a:r>
            <a:r>
              <a:rPr lang="pt-BR" dirty="0" err="1"/>
              <a:t>dolor</a:t>
            </a:r>
            <a:r>
              <a:rPr lang="pt-BR" dirty="0"/>
              <a:t>. </a:t>
            </a:r>
            <a:r>
              <a:rPr lang="pt-BR" dirty="0" err="1"/>
              <a:t>Aliquam</a:t>
            </a:r>
            <a:r>
              <a:rPr lang="pt-BR" dirty="0"/>
              <a:t> </a:t>
            </a:r>
            <a:r>
              <a:rPr lang="pt-BR" dirty="0" err="1"/>
              <a:t>imperdiet</a:t>
            </a:r>
            <a:r>
              <a:rPr lang="pt-BR" dirty="0"/>
              <a:t> </a:t>
            </a:r>
            <a:r>
              <a:rPr lang="pt-BR" dirty="0" err="1"/>
              <a:t>ex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, id </a:t>
            </a:r>
            <a:r>
              <a:rPr lang="pt-BR" dirty="0" err="1"/>
              <a:t>mattis</a:t>
            </a:r>
            <a:r>
              <a:rPr lang="pt-BR" dirty="0"/>
              <a:t> </a:t>
            </a:r>
            <a:r>
              <a:rPr lang="pt-BR" dirty="0" err="1"/>
              <a:t>lacus</a:t>
            </a:r>
            <a:r>
              <a:rPr lang="pt-BR" dirty="0"/>
              <a:t> </a:t>
            </a:r>
            <a:r>
              <a:rPr lang="pt-BR" dirty="0" err="1"/>
              <a:t>feugiat</a:t>
            </a:r>
            <a:r>
              <a:rPr lang="pt-BR" dirty="0"/>
              <a:t> </a:t>
            </a:r>
            <a:r>
              <a:rPr lang="pt-BR" dirty="0" err="1"/>
              <a:t>sit</a:t>
            </a:r>
            <a:r>
              <a:rPr lang="pt-BR" dirty="0"/>
              <a:t> </a:t>
            </a:r>
            <a:r>
              <a:rPr lang="pt-BR" dirty="0" err="1"/>
              <a:t>amet</a:t>
            </a:r>
            <a:r>
              <a:rPr lang="pt-BR" dirty="0"/>
              <a:t>. </a:t>
            </a:r>
          </a:p>
        </p:txBody>
      </p:sp>
    </p:spTree>
    <p:extLst>
      <p:ext uri="{BB962C8B-B14F-4D97-AF65-F5344CB8AC3E}">
        <p14:creationId xmlns:p14="http://schemas.microsoft.com/office/powerpoint/2010/main" val="116418996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ítulo e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Imagem 6" descr="Forma, Retângulo&#10;&#10;O conteúdo gerado por IA pode estar incorreto.">
            <a:extLst>
              <a:ext uri="{FF2B5EF4-FFF2-40B4-BE49-F238E27FC236}">
                <a16:creationId xmlns:a16="http://schemas.microsoft.com/office/drawing/2014/main" id="{755604ED-8D58-1615-3BD2-70AE34C5B63F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6" name="Espaço Reservado para Conteúdo 4">
            <a:extLst>
              <a:ext uri="{FF2B5EF4-FFF2-40B4-BE49-F238E27FC236}">
                <a16:creationId xmlns:a16="http://schemas.microsoft.com/office/drawing/2014/main" id="{DD008399-5FBB-472F-8E3F-633534F80D17}"/>
              </a:ext>
            </a:extLst>
          </p:cNvPr>
          <p:cNvSpPr>
            <a:spLocks noGrp="1"/>
          </p:cNvSpPr>
          <p:nvPr>
            <p:ph sz="quarter" idx="12" hasCustomPrompt="1"/>
          </p:nvPr>
        </p:nvSpPr>
        <p:spPr>
          <a:xfrm>
            <a:off x="927463" y="1492989"/>
            <a:ext cx="10345783" cy="494711"/>
          </a:xfrm>
          <a:prstGeom prst="rect">
            <a:avLst/>
          </a:prstGeom>
          <a:solidFill>
            <a:schemeClr val="bg1"/>
          </a:solidFill>
        </p:spPr>
        <p:txBody>
          <a:bodyPr anchor="ctr"/>
          <a:lstStyle>
            <a:lvl1pPr marL="0" indent="0" algn="ctr">
              <a:lnSpc>
                <a:spcPct val="80000"/>
              </a:lnSpc>
              <a:spcBef>
                <a:spcPts val="0"/>
              </a:spcBef>
              <a:buNone/>
              <a:defRPr sz="3600">
                <a:solidFill>
                  <a:srgbClr val="21049A"/>
                </a:solidFill>
                <a:latin typeface="Roboto Black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TÍTULO </a:t>
            </a:r>
            <a:r>
              <a:rPr lang="pt-BR" dirty="0" err="1"/>
              <a:t>TÍTULO</a:t>
            </a:r>
            <a:r>
              <a:rPr lang="pt-BR" dirty="0"/>
              <a:t> </a:t>
            </a:r>
            <a:r>
              <a:rPr lang="pt-BR" dirty="0" err="1"/>
              <a:t>TÍTULO</a:t>
            </a:r>
            <a:endParaRPr lang="pt-BR" dirty="0"/>
          </a:p>
        </p:txBody>
      </p:sp>
      <p:sp>
        <p:nvSpPr>
          <p:cNvPr id="12" name="Espaço Reservado para Conteúdo 4">
            <a:extLst>
              <a:ext uri="{FF2B5EF4-FFF2-40B4-BE49-F238E27FC236}">
                <a16:creationId xmlns:a16="http://schemas.microsoft.com/office/drawing/2014/main" id="{22C20E1A-1706-435A-BF46-A79881229424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2272937" y="2586445"/>
            <a:ext cx="3709852" cy="2778565"/>
          </a:xfrm>
          <a:prstGeom prst="rect">
            <a:avLst/>
          </a:prstGeom>
        </p:spPr>
        <p:txBody>
          <a:bodyPr anchor="ctr"/>
          <a:lstStyle>
            <a:lvl1pPr marL="0" indent="0" algn="ctr">
              <a:lnSpc>
                <a:spcPct val="80000"/>
              </a:lnSpc>
              <a:spcBef>
                <a:spcPts val="0"/>
              </a:spcBef>
              <a:buNone/>
              <a:defRPr sz="2800">
                <a:solidFill>
                  <a:schemeClr val="bg1"/>
                </a:solidFill>
                <a:latin typeface="Roboto Black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fr-FR" dirty="0"/>
              <a:t>Fusce quis lacus sit amet</a:t>
            </a:r>
          </a:p>
        </p:txBody>
      </p:sp>
      <p:sp>
        <p:nvSpPr>
          <p:cNvPr id="14" name="Espaço Reservado para Conteúdo 4">
            <a:extLst>
              <a:ext uri="{FF2B5EF4-FFF2-40B4-BE49-F238E27FC236}">
                <a16:creationId xmlns:a16="http://schemas.microsoft.com/office/drawing/2014/main" id="{8CB7D53B-6460-4A34-8124-84C3FBD464E3}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6196150" y="2586445"/>
            <a:ext cx="3709850" cy="2778565"/>
          </a:xfrm>
          <a:prstGeom prst="rect">
            <a:avLst/>
          </a:prstGeom>
        </p:spPr>
        <p:txBody>
          <a:bodyPr anchor="ctr"/>
          <a:lstStyle>
            <a:lvl1pPr marL="0" indent="0" algn="ctr">
              <a:lnSpc>
                <a:spcPct val="80000"/>
              </a:lnSpc>
              <a:spcBef>
                <a:spcPts val="0"/>
              </a:spcBef>
              <a:buNone/>
              <a:defRPr sz="2800">
                <a:solidFill>
                  <a:schemeClr val="bg1"/>
                </a:solidFill>
                <a:latin typeface="Roboto Black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fr-FR" dirty="0"/>
              <a:t>Fusce quis lacus sit amet</a:t>
            </a:r>
          </a:p>
        </p:txBody>
      </p:sp>
    </p:spTree>
    <p:extLst>
      <p:ext uri="{BB962C8B-B14F-4D97-AF65-F5344CB8AC3E}">
        <p14:creationId xmlns:p14="http://schemas.microsoft.com/office/powerpoint/2010/main" val="103651171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ítulo e texto verticai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Imagem 6">
            <a:extLst>
              <a:ext uri="{FF2B5EF4-FFF2-40B4-BE49-F238E27FC236}">
                <a16:creationId xmlns:a16="http://schemas.microsoft.com/office/drawing/2014/main" id="{0562E0AD-E4EE-02BD-8E08-C54B7CD54BE9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9" name="Gráfico 8">
            <a:extLst>
              <a:ext uri="{FF2B5EF4-FFF2-40B4-BE49-F238E27FC236}">
                <a16:creationId xmlns:a16="http://schemas.microsoft.com/office/drawing/2014/main" id="{1ADE5E87-BD9B-7C07-F239-DC95941763A1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rcRect l="18663" b="40706"/>
          <a:stretch>
            <a:fillRect/>
          </a:stretch>
        </p:blipFill>
        <p:spPr>
          <a:xfrm>
            <a:off x="11287643" y="5957700"/>
            <a:ext cx="610847" cy="567947"/>
          </a:xfrm>
          <a:prstGeom prst="rect">
            <a:avLst/>
          </a:prstGeom>
        </p:spPr>
      </p:pic>
      <p:sp>
        <p:nvSpPr>
          <p:cNvPr id="5" name="Espaço Reservado para Conteúdo 4">
            <a:extLst>
              <a:ext uri="{FF2B5EF4-FFF2-40B4-BE49-F238E27FC236}">
                <a16:creationId xmlns:a16="http://schemas.microsoft.com/office/drawing/2014/main" id="{A5F91E17-4B22-43C4-BC9A-B85CBB295BD0}"/>
              </a:ext>
            </a:extLst>
          </p:cNvPr>
          <p:cNvSpPr>
            <a:spLocks noGrp="1"/>
          </p:cNvSpPr>
          <p:nvPr>
            <p:ph sz="quarter" idx="12" hasCustomPrompt="1"/>
          </p:nvPr>
        </p:nvSpPr>
        <p:spPr>
          <a:xfrm>
            <a:off x="885455" y="2973777"/>
            <a:ext cx="5972545" cy="1118045"/>
          </a:xfrm>
          <a:prstGeom prst="rect">
            <a:avLst/>
          </a:prstGeom>
        </p:spPr>
        <p:txBody>
          <a:bodyPr anchor="ctr"/>
          <a:lstStyle>
            <a:lvl1pPr marL="0" indent="0">
              <a:lnSpc>
                <a:spcPct val="80000"/>
              </a:lnSpc>
              <a:spcBef>
                <a:spcPts val="0"/>
              </a:spcBef>
              <a:buNone/>
              <a:defRPr sz="4800">
                <a:solidFill>
                  <a:schemeClr val="bg1"/>
                </a:solidFill>
                <a:latin typeface="Roboto Black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TÍTULO DO SLIDE</a:t>
            </a:r>
          </a:p>
          <a:p>
            <a:pPr lvl="0"/>
            <a:r>
              <a:rPr lang="pt-BR" dirty="0"/>
              <a:t>TÍTULO DO SLIDE</a:t>
            </a:r>
          </a:p>
        </p:txBody>
      </p:sp>
    </p:spTree>
    <p:extLst>
      <p:ext uri="{BB962C8B-B14F-4D97-AF65-F5344CB8AC3E}">
        <p14:creationId xmlns:p14="http://schemas.microsoft.com/office/powerpoint/2010/main" val="2802591988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Slide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Imagem 8" descr="Logotipo&#10;&#10;O conteúdo gerado por IA pode estar incorreto.">
            <a:extLst>
              <a:ext uri="{FF2B5EF4-FFF2-40B4-BE49-F238E27FC236}">
                <a16:creationId xmlns:a16="http://schemas.microsoft.com/office/drawing/2014/main" id="{D5AE18F8-4C98-E987-C600-30B97C4E5631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12" name="Gráfico 11">
            <a:extLst>
              <a:ext uri="{FF2B5EF4-FFF2-40B4-BE49-F238E27FC236}">
                <a16:creationId xmlns:a16="http://schemas.microsoft.com/office/drawing/2014/main" id="{C2EFD695-3E61-27BB-FD99-9C489A1A7356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rcRect l="18663" b="40706"/>
          <a:stretch>
            <a:fillRect/>
          </a:stretch>
        </p:blipFill>
        <p:spPr>
          <a:xfrm>
            <a:off x="11287643" y="5957700"/>
            <a:ext cx="610847" cy="567947"/>
          </a:xfrm>
          <a:prstGeom prst="rect">
            <a:avLst/>
          </a:prstGeom>
        </p:spPr>
      </p:pic>
      <p:sp>
        <p:nvSpPr>
          <p:cNvPr id="8" name="Espaço Reservado para Conteúdo 4">
            <a:extLst>
              <a:ext uri="{FF2B5EF4-FFF2-40B4-BE49-F238E27FC236}">
                <a16:creationId xmlns:a16="http://schemas.microsoft.com/office/drawing/2014/main" id="{C32784AB-7E2C-4D14-865A-F72AC13685F1}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858600" y="3821054"/>
            <a:ext cx="3859001" cy="1324583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400">
                <a:solidFill>
                  <a:schemeClr val="tx1"/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 err="1"/>
              <a:t>Vestibulum</a:t>
            </a:r>
            <a:r>
              <a:rPr lang="pt-BR" dirty="0"/>
              <a:t> et nunc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 </a:t>
            </a:r>
            <a:r>
              <a:rPr lang="pt-BR" dirty="0" err="1"/>
              <a:t>consectetur</a:t>
            </a:r>
            <a:r>
              <a:rPr lang="pt-BR" dirty="0"/>
              <a:t> </a:t>
            </a:r>
            <a:r>
              <a:rPr lang="pt-BR" dirty="0" err="1"/>
              <a:t>efficitur</a:t>
            </a:r>
            <a:r>
              <a:rPr lang="pt-BR" dirty="0"/>
              <a:t>. </a:t>
            </a:r>
            <a:r>
              <a:rPr lang="pt-BR" dirty="0" err="1"/>
              <a:t>Nullam</a:t>
            </a:r>
            <a:r>
              <a:rPr lang="pt-BR" dirty="0"/>
              <a:t>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lorem</a:t>
            </a:r>
            <a:r>
              <a:rPr lang="pt-BR" dirty="0"/>
              <a:t> </a:t>
            </a:r>
            <a:r>
              <a:rPr lang="pt-BR" dirty="0" err="1"/>
              <a:t>molestie</a:t>
            </a:r>
            <a:r>
              <a:rPr lang="pt-BR" dirty="0"/>
              <a:t> </a:t>
            </a:r>
            <a:r>
              <a:rPr lang="pt-BR" dirty="0" err="1"/>
              <a:t>velit</a:t>
            </a:r>
            <a:r>
              <a:rPr lang="pt-BR" dirty="0"/>
              <a:t> </a:t>
            </a:r>
            <a:r>
              <a:rPr lang="pt-BR" dirty="0" err="1"/>
              <a:t>vestibulum</a:t>
            </a:r>
            <a:r>
              <a:rPr lang="pt-BR" dirty="0"/>
              <a:t> </a:t>
            </a:r>
            <a:r>
              <a:rPr lang="pt-BR" dirty="0" err="1"/>
              <a:t>dictum</a:t>
            </a:r>
            <a:r>
              <a:rPr lang="pt-BR" dirty="0"/>
              <a:t>. </a:t>
            </a:r>
            <a:r>
              <a:rPr lang="pt-BR" dirty="0" err="1"/>
              <a:t>Morbi</a:t>
            </a:r>
            <a:r>
              <a:rPr lang="pt-BR" dirty="0"/>
              <a:t> </a:t>
            </a:r>
            <a:r>
              <a:rPr lang="pt-BR" dirty="0" err="1"/>
              <a:t>eget</a:t>
            </a:r>
            <a:r>
              <a:rPr lang="pt-BR" dirty="0"/>
              <a:t> </a:t>
            </a:r>
            <a:r>
              <a:rPr lang="pt-BR" dirty="0" err="1"/>
              <a:t>nisi</a:t>
            </a:r>
            <a:r>
              <a:rPr lang="pt-BR" dirty="0"/>
              <a:t> </a:t>
            </a:r>
            <a:r>
              <a:rPr lang="pt-BR" dirty="0" err="1"/>
              <a:t>dolor</a:t>
            </a:r>
            <a:r>
              <a:rPr lang="pt-BR" dirty="0"/>
              <a:t>. </a:t>
            </a:r>
            <a:r>
              <a:rPr lang="pt-BR" dirty="0" err="1"/>
              <a:t>Aliquam</a:t>
            </a:r>
            <a:r>
              <a:rPr lang="pt-BR" dirty="0"/>
              <a:t> </a:t>
            </a:r>
            <a:r>
              <a:rPr lang="pt-BR" dirty="0" err="1"/>
              <a:t>imperdiet</a:t>
            </a:r>
            <a:r>
              <a:rPr lang="pt-BR" dirty="0"/>
              <a:t> </a:t>
            </a:r>
            <a:r>
              <a:rPr lang="pt-BR" dirty="0" err="1"/>
              <a:t>ex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, id </a:t>
            </a:r>
            <a:r>
              <a:rPr lang="pt-BR" dirty="0" err="1"/>
              <a:t>mattis</a:t>
            </a:r>
            <a:r>
              <a:rPr lang="pt-BR" dirty="0"/>
              <a:t> </a:t>
            </a:r>
            <a:r>
              <a:rPr lang="pt-BR" dirty="0" err="1"/>
              <a:t>lacus</a:t>
            </a:r>
            <a:r>
              <a:rPr lang="pt-BR" dirty="0"/>
              <a:t> </a:t>
            </a:r>
            <a:r>
              <a:rPr lang="pt-BR" dirty="0" err="1"/>
              <a:t>feugiat</a:t>
            </a:r>
            <a:r>
              <a:rPr lang="pt-BR" dirty="0"/>
              <a:t> </a:t>
            </a:r>
            <a:r>
              <a:rPr lang="pt-BR" dirty="0" err="1"/>
              <a:t>sit</a:t>
            </a:r>
            <a:r>
              <a:rPr lang="pt-BR" dirty="0"/>
              <a:t> </a:t>
            </a:r>
            <a:r>
              <a:rPr lang="pt-BR" dirty="0" err="1"/>
              <a:t>amet</a:t>
            </a:r>
            <a:r>
              <a:rPr lang="pt-BR" dirty="0"/>
              <a:t>. </a:t>
            </a:r>
          </a:p>
        </p:txBody>
      </p:sp>
      <p:sp>
        <p:nvSpPr>
          <p:cNvPr id="14" name="Espaço Reservado para Conteúdo 4">
            <a:extLst>
              <a:ext uri="{FF2B5EF4-FFF2-40B4-BE49-F238E27FC236}">
                <a16:creationId xmlns:a16="http://schemas.microsoft.com/office/drawing/2014/main" id="{107E1770-8F3E-4B77-9943-2EEF8B2A663A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849074" y="633344"/>
            <a:ext cx="2529556" cy="461665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200" spc="600">
                <a:solidFill>
                  <a:srgbClr val="21049A"/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NOME DA SEÇÃO</a:t>
            </a:r>
            <a:br>
              <a:rPr lang="pt-BR" dirty="0"/>
            </a:br>
            <a:r>
              <a:rPr lang="pt-BR" dirty="0"/>
              <a:t>NOME DA SEÇÃO</a:t>
            </a:r>
          </a:p>
        </p:txBody>
      </p:sp>
      <p:sp>
        <p:nvSpPr>
          <p:cNvPr id="16" name="Espaço Reservado para Conteúdo 4">
            <a:extLst>
              <a:ext uri="{FF2B5EF4-FFF2-40B4-BE49-F238E27FC236}">
                <a16:creationId xmlns:a16="http://schemas.microsoft.com/office/drawing/2014/main" id="{7F7E01A6-0BF4-4257-880E-0E0383602A45}"/>
              </a:ext>
            </a:extLst>
          </p:cNvPr>
          <p:cNvSpPr>
            <a:spLocks noGrp="1"/>
          </p:cNvSpPr>
          <p:nvPr>
            <p:ph sz="quarter" idx="12" hasCustomPrompt="1"/>
          </p:nvPr>
        </p:nvSpPr>
        <p:spPr>
          <a:xfrm>
            <a:off x="858600" y="2503501"/>
            <a:ext cx="4933333" cy="1118045"/>
          </a:xfrm>
          <a:prstGeom prst="rect">
            <a:avLst/>
          </a:prstGeom>
        </p:spPr>
        <p:txBody>
          <a:bodyPr anchor="ctr"/>
          <a:lstStyle>
            <a:lvl1pPr marL="0" indent="0">
              <a:lnSpc>
                <a:spcPct val="80000"/>
              </a:lnSpc>
              <a:spcBef>
                <a:spcPts val="0"/>
              </a:spcBef>
              <a:buNone/>
              <a:defRPr sz="4800">
                <a:solidFill>
                  <a:srgbClr val="21049A"/>
                </a:solidFill>
                <a:latin typeface="Roboto Black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TÍTULO</a:t>
            </a:r>
          </a:p>
          <a:p>
            <a:pPr lvl="0"/>
            <a:r>
              <a:rPr lang="pt-BR" dirty="0"/>
              <a:t>TÍTULO</a:t>
            </a:r>
          </a:p>
        </p:txBody>
      </p:sp>
    </p:spTree>
    <p:extLst>
      <p:ext uri="{BB962C8B-B14F-4D97-AF65-F5344CB8AC3E}">
        <p14:creationId xmlns:p14="http://schemas.microsoft.com/office/powerpoint/2010/main" val="877683876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Slide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m 1" descr="Uma imagem contendo Interface gráfica do usuário&#10;&#10;O conteúdo gerado por IA pode estar incorreto.">
            <a:extLst>
              <a:ext uri="{FF2B5EF4-FFF2-40B4-BE49-F238E27FC236}">
                <a16:creationId xmlns:a16="http://schemas.microsoft.com/office/drawing/2014/main" id="{1BBAE76A-589A-1DC7-1848-FBCD1ED5F996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6" name="Espaço Reservado para Conteúdo 4">
            <a:extLst>
              <a:ext uri="{FF2B5EF4-FFF2-40B4-BE49-F238E27FC236}">
                <a16:creationId xmlns:a16="http://schemas.microsoft.com/office/drawing/2014/main" id="{8EDDECBF-2EF9-4580-826D-41A2BE4FF0F0}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5094594" y="1287772"/>
            <a:ext cx="6098785" cy="1670102"/>
          </a:xfrm>
          <a:prstGeom prst="rect">
            <a:avLst/>
          </a:prstGeom>
        </p:spPr>
        <p:txBody>
          <a:bodyPr numCol="2" spcCol="180000"/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1400">
                <a:solidFill>
                  <a:schemeClr val="bg1"/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pt-BR" dirty="0" err="1"/>
              <a:t>Vestibulum</a:t>
            </a:r>
            <a:r>
              <a:rPr lang="pt-BR" dirty="0"/>
              <a:t> et nunc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 </a:t>
            </a:r>
            <a:r>
              <a:rPr lang="pt-BR" dirty="0" err="1"/>
              <a:t>consectetur</a:t>
            </a:r>
            <a:r>
              <a:rPr lang="pt-BR" dirty="0"/>
              <a:t> </a:t>
            </a:r>
            <a:r>
              <a:rPr lang="pt-BR" dirty="0" err="1"/>
              <a:t>efficitur</a:t>
            </a:r>
            <a:r>
              <a:rPr lang="pt-BR" dirty="0"/>
              <a:t>. </a:t>
            </a:r>
            <a:r>
              <a:rPr lang="pt-BR" dirty="0" err="1"/>
              <a:t>Nullam</a:t>
            </a:r>
            <a:r>
              <a:rPr lang="pt-BR" dirty="0"/>
              <a:t>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lorem</a:t>
            </a:r>
            <a:r>
              <a:rPr lang="pt-BR" dirty="0"/>
              <a:t> </a:t>
            </a:r>
            <a:r>
              <a:rPr lang="pt-BR" dirty="0" err="1"/>
              <a:t>molestie</a:t>
            </a:r>
            <a:r>
              <a:rPr lang="pt-BR" dirty="0"/>
              <a:t> </a:t>
            </a:r>
            <a:r>
              <a:rPr lang="pt-BR" dirty="0" err="1"/>
              <a:t>velit</a:t>
            </a:r>
            <a:r>
              <a:rPr lang="pt-BR" dirty="0"/>
              <a:t> </a:t>
            </a:r>
            <a:r>
              <a:rPr lang="pt-BR" dirty="0" err="1"/>
              <a:t>vestibulum</a:t>
            </a:r>
            <a:r>
              <a:rPr lang="pt-BR" dirty="0"/>
              <a:t> </a:t>
            </a:r>
            <a:r>
              <a:rPr lang="pt-BR" dirty="0" err="1"/>
              <a:t>dictum</a:t>
            </a:r>
            <a:r>
              <a:rPr lang="pt-BR" dirty="0"/>
              <a:t>. </a:t>
            </a:r>
            <a:r>
              <a:rPr lang="pt-BR" dirty="0" err="1"/>
              <a:t>Morbi</a:t>
            </a:r>
            <a:r>
              <a:rPr lang="pt-BR" dirty="0"/>
              <a:t> </a:t>
            </a:r>
            <a:r>
              <a:rPr lang="pt-BR" dirty="0" err="1"/>
              <a:t>eget</a:t>
            </a:r>
            <a:r>
              <a:rPr lang="pt-BR" dirty="0"/>
              <a:t> </a:t>
            </a:r>
            <a:r>
              <a:rPr lang="pt-BR" dirty="0" err="1"/>
              <a:t>nisi</a:t>
            </a:r>
            <a:r>
              <a:rPr lang="pt-BR" dirty="0"/>
              <a:t> </a:t>
            </a:r>
            <a:r>
              <a:rPr lang="pt-BR" dirty="0" err="1"/>
              <a:t>dolor</a:t>
            </a:r>
            <a:r>
              <a:rPr lang="pt-BR" dirty="0"/>
              <a:t>. </a:t>
            </a:r>
            <a:r>
              <a:rPr lang="pt-BR" dirty="0" err="1"/>
              <a:t>Aliquam</a:t>
            </a:r>
            <a:r>
              <a:rPr lang="pt-BR" dirty="0"/>
              <a:t> </a:t>
            </a:r>
            <a:r>
              <a:rPr lang="pt-BR" dirty="0" err="1"/>
              <a:t>imperdiet</a:t>
            </a:r>
            <a:r>
              <a:rPr lang="pt-BR" dirty="0"/>
              <a:t> </a:t>
            </a:r>
            <a:r>
              <a:rPr lang="pt-BR" dirty="0" err="1"/>
              <a:t>ex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, id </a:t>
            </a:r>
            <a:r>
              <a:rPr lang="pt-BR" dirty="0" err="1"/>
              <a:t>mattis</a:t>
            </a:r>
            <a:r>
              <a:rPr lang="pt-BR" dirty="0"/>
              <a:t> </a:t>
            </a:r>
            <a:r>
              <a:rPr lang="pt-BR" dirty="0" err="1"/>
              <a:t>lacus</a:t>
            </a:r>
            <a:r>
              <a:rPr lang="pt-BR" dirty="0"/>
              <a:t> </a:t>
            </a:r>
            <a:r>
              <a:rPr lang="pt-BR" dirty="0" err="1"/>
              <a:t>feugiat</a:t>
            </a:r>
            <a:r>
              <a:rPr lang="pt-BR" dirty="0"/>
              <a:t> </a:t>
            </a:r>
            <a:r>
              <a:rPr lang="pt-BR" dirty="0" err="1"/>
              <a:t>sit</a:t>
            </a:r>
            <a:r>
              <a:rPr lang="pt-BR" dirty="0"/>
              <a:t> </a:t>
            </a:r>
            <a:r>
              <a:rPr lang="pt-BR" dirty="0" err="1"/>
              <a:t>amet</a:t>
            </a:r>
            <a:r>
              <a:rPr lang="pt-BR" dirty="0"/>
              <a:t>. </a:t>
            </a:r>
            <a:r>
              <a:rPr lang="pt-BR" dirty="0" err="1"/>
              <a:t>Vestibulum</a:t>
            </a:r>
            <a:r>
              <a:rPr lang="pt-BR" dirty="0"/>
              <a:t> et nunc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 </a:t>
            </a:r>
            <a:r>
              <a:rPr lang="pt-BR" dirty="0" err="1"/>
              <a:t>consectetur</a:t>
            </a:r>
            <a:r>
              <a:rPr lang="pt-BR" dirty="0"/>
              <a:t> </a:t>
            </a:r>
            <a:r>
              <a:rPr lang="pt-BR" dirty="0" err="1"/>
              <a:t>efficitur</a:t>
            </a:r>
            <a:r>
              <a:rPr lang="pt-BR" dirty="0"/>
              <a:t>. </a:t>
            </a:r>
            <a:r>
              <a:rPr lang="pt-BR" dirty="0" err="1"/>
              <a:t>Nullam</a:t>
            </a:r>
            <a:r>
              <a:rPr lang="pt-BR" dirty="0"/>
              <a:t>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lorem</a:t>
            </a:r>
            <a:r>
              <a:rPr lang="pt-BR" dirty="0"/>
              <a:t> </a:t>
            </a:r>
            <a:r>
              <a:rPr lang="pt-BR" dirty="0" err="1"/>
              <a:t>molestie</a:t>
            </a:r>
            <a:r>
              <a:rPr lang="pt-BR" dirty="0"/>
              <a:t> </a:t>
            </a:r>
            <a:r>
              <a:rPr lang="pt-BR" dirty="0" err="1"/>
              <a:t>velit</a:t>
            </a:r>
            <a:r>
              <a:rPr lang="pt-BR" dirty="0"/>
              <a:t> </a:t>
            </a:r>
            <a:r>
              <a:rPr lang="pt-BR" dirty="0" err="1"/>
              <a:t>vestibulum</a:t>
            </a:r>
            <a:r>
              <a:rPr lang="pt-BR" dirty="0"/>
              <a:t> </a:t>
            </a:r>
            <a:r>
              <a:rPr lang="pt-BR" dirty="0" err="1"/>
              <a:t>dictum</a:t>
            </a:r>
            <a:r>
              <a:rPr lang="pt-BR" dirty="0"/>
              <a:t>. </a:t>
            </a:r>
            <a:r>
              <a:rPr lang="pt-BR" dirty="0" err="1"/>
              <a:t>Morbi</a:t>
            </a:r>
            <a:r>
              <a:rPr lang="pt-BR" dirty="0"/>
              <a:t> </a:t>
            </a:r>
            <a:r>
              <a:rPr lang="pt-BR" dirty="0" err="1"/>
              <a:t>eget</a:t>
            </a:r>
            <a:r>
              <a:rPr lang="pt-BR" dirty="0"/>
              <a:t> </a:t>
            </a:r>
            <a:r>
              <a:rPr lang="pt-BR" dirty="0" err="1"/>
              <a:t>nisi</a:t>
            </a:r>
            <a:r>
              <a:rPr lang="pt-BR" dirty="0"/>
              <a:t> </a:t>
            </a:r>
            <a:r>
              <a:rPr lang="pt-BR" dirty="0" err="1"/>
              <a:t>dolor</a:t>
            </a:r>
            <a:r>
              <a:rPr lang="pt-BR" dirty="0"/>
              <a:t>. </a:t>
            </a:r>
            <a:r>
              <a:rPr lang="pt-BR" dirty="0" err="1"/>
              <a:t>Aliquam</a:t>
            </a:r>
            <a:r>
              <a:rPr lang="pt-BR" dirty="0"/>
              <a:t> </a:t>
            </a:r>
            <a:r>
              <a:rPr lang="pt-BR" dirty="0" err="1"/>
              <a:t>imperdiet</a:t>
            </a:r>
            <a:r>
              <a:rPr lang="pt-BR" dirty="0"/>
              <a:t> </a:t>
            </a:r>
            <a:r>
              <a:rPr lang="pt-BR" dirty="0" err="1"/>
              <a:t>ex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, id </a:t>
            </a:r>
            <a:r>
              <a:rPr lang="pt-BR" dirty="0" err="1"/>
              <a:t>mattis</a:t>
            </a:r>
            <a:r>
              <a:rPr lang="pt-BR" dirty="0"/>
              <a:t> </a:t>
            </a:r>
            <a:r>
              <a:rPr lang="pt-BR" dirty="0" err="1"/>
              <a:t>lacus</a:t>
            </a:r>
            <a:r>
              <a:rPr lang="pt-BR" dirty="0"/>
              <a:t> </a:t>
            </a:r>
            <a:r>
              <a:rPr lang="pt-BR" dirty="0" err="1"/>
              <a:t>feugiat</a:t>
            </a:r>
            <a:r>
              <a:rPr lang="pt-BR" dirty="0"/>
              <a:t> </a:t>
            </a:r>
            <a:r>
              <a:rPr lang="pt-BR" dirty="0" err="1"/>
              <a:t>sit</a:t>
            </a:r>
            <a:r>
              <a:rPr lang="pt-BR" dirty="0"/>
              <a:t> </a:t>
            </a:r>
            <a:r>
              <a:rPr lang="pt-BR" dirty="0" err="1"/>
              <a:t>amet</a:t>
            </a:r>
            <a:r>
              <a:rPr lang="pt-BR" dirty="0"/>
              <a:t>. </a:t>
            </a:r>
            <a:r>
              <a:rPr lang="pt-BR" dirty="0" err="1"/>
              <a:t>Morbi</a:t>
            </a:r>
            <a:r>
              <a:rPr lang="pt-BR" dirty="0"/>
              <a:t> </a:t>
            </a:r>
            <a:r>
              <a:rPr lang="pt-BR" dirty="0" err="1"/>
              <a:t>eget</a:t>
            </a:r>
            <a:r>
              <a:rPr lang="pt-BR" dirty="0"/>
              <a:t> </a:t>
            </a:r>
            <a:r>
              <a:rPr lang="pt-BR" dirty="0" err="1"/>
              <a:t>nisi</a:t>
            </a:r>
            <a:r>
              <a:rPr lang="pt-BR" dirty="0"/>
              <a:t> </a:t>
            </a:r>
            <a:r>
              <a:rPr lang="pt-BR" dirty="0" err="1"/>
              <a:t>dolor</a:t>
            </a:r>
            <a:r>
              <a:rPr lang="pt-BR" dirty="0"/>
              <a:t>. </a:t>
            </a:r>
            <a:r>
              <a:rPr lang="pt-BR" dirty="0" err="1"/>
              <a:t>Aliquam</a:t>
            </a:r>
            <a:r>
              <a:rPr lang="pt-BR" dirty="0"/>
              <a:t> </a:t>
            </a:r>
            <a:r>
              <a:rPr lang="pt-BR" dirty="0" err="1"/>
              <a:t>imperdiet</a:t>
            </a:r>
            <a:r>
              <a:rPr lang="pt-BR" dirty="0"/>
              <a:t> </a:t>
            </a:r>
            <a:r>
              <a:rPr lang="pt-BR" dirty="0" err="1"/>
              <a:t>ex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, id </a:t>
            </a:r>
            <a:r>
              <a:rPr lang="pt-BR" dirty="0" err="1"/>
              <a:t>mattis</a:t>
            </a:r>
            <a:r>
              <a:rPr lang="pt-BR" dirty="0"/>
              <a:t> </a:t>
            </a:r>
            <a:r>
              <a:rPr lang="pt-BR" dirty="0" err="1"/>
              <a:t>lacus</a:t>
            </a:r>
            <a:r>
              <a:rPr lang="pt-BR" dirty="0"/>
              <a:t> </a:t>
            </a:r>
            <a:r>
              <a:rPr lang="pt-BR" dirty="0" err="1"/>
              <a:t>feugiat</a:t>
            </a:r>
            <a:r>
              <a:rPr lang="pt-BR" dirty="0"/>
              <a:t> </a:t>
            </a:r>
            <a:r>
              <a:rPr lang="pt-BR" dirty="0" err="1"/>
              <a:t>sit</a:t>
            </a:r>
            <a:r>
              <a:rPr lang="pt-BR" dirty="0"/>
              <a:t> </a:t>
            </a:r>
            <a:r>
              <a:rPr lang="pt-BR" dirty="0" err="1"/>
              <a:t>amet</a:t>
            </a:r>
            <a:r>
              <a:rPr lang="pt-BR" dirty="0"/>
              <a:t>. </a:t>
            </a:r>
          </a:p>
        </p:txBody>
      </p:sp>
      <p:sp>
        <p:nvSpPr>
          <p:cNvPr id="8" name="Espaço Reservado para Conteúdo 4">
            <a:extLst>
              <a:ext uri="{FF2B5EF4-FFF2-40B4-BE49-F238E27FC236}">
                <a16:creationId xmlns:a16="http://schemas.microsoft.com/office/drawing/2014/main" id="{1895628F-1505-42BC-8AAC-324418E11977}"/>
              </a:ext>
            </a:extLst>
          </p:cNvPr>
          <p:cNvSpPr>
            <a:spLocks noGrp="1"/>
          </p:cNvSpPr>
          <p:nvPr>
            <p:ph sz="quarter" idx="11" hasCustomPrompt="1"/>
          </p:nvPr>
        </p:nvSpPr>
        <p:spPr>
          <a:xfrm>
            <a:off x="5094594" y="3900126"/>
            <a:ext cx="5708389" cy="1869743"/>
          </a:xfrm>
          <a:prstGeom prst="rect">
            <a:avLst/>
          </a:prstGeom>
        </p:spPr>
        <p:txBody>
          <a:bodyPr anchor="t"/>
          <a:lstStyle>
            <a:lvl1pPr marL="0" indent="0">
              <a:lnSpc>
                <a:spcPct val="80000"/>
              </a:lnSpc>
              <a:spcBef>
                <a:spcPts val="0"/>
              </a:spcBef>
              <a:buNone/>
              <a:defRPr sz="3600">
                <a:solidFill>
                  <a:schemeClr val="bg1"/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 err="1"/>
              <a:t>Proin</a:t>
            </a:r>
            <a:r>
              <a:rPr lang="pt-BR" dirty="0"/>
              <a:t> </a:t>
            </a:r>
            <a:r>
              <a:rPr lang="pt-BR" dirty="0" err="1"/>
              <a:t>felis</a:t>
            </a:r>
            <a:r>
              <a:rPr lang="pt-BR" dirty="0"/>
              <a:t> </a:t>
            </a:r>
            <a:r>
              <a:rPr lang="pt-BR" dirty="0" err="1"/>
              <a:t>elit</a:t>
            </a:r>
            <a:r>
              <a:rPr lang="pt-BR" dirty="0"/>
              <a:t>, </a:t>
            </a:r>
            <a:r>
              <a:rPr lang="pt-BR" dirty="0" err="1"/>
              <a:t>pretium</a:t>
            </a:r>
            <a:r>
              <a:rPr lang="pt-BR" dirty="0"/>
              <a:t> </a:t>
            </a:r>
            <a:r>
              <a:rPr lang="pt-BR" dirty="0" err="1"/>
              <a:t>at</a:t>
            </a:r>
            <a:r>
              <a:rPr lang="pt-BR" dirty="0"/>
              <a:t> </a:t>
            </a:r>
            <a:r>
              <a:rPr lang="pt-BR" dirty="0" err="1"/>
              <a:t>ligula</a:t>
            </a:r>
            <a:r>
              <a:rPr lang="pt-BR" dirty="0"/>
              <a:t> et, </a:t>
            </a:r>
            <a:r>
              <a:rPr lang="pt-BR" dirty="0" err="1"/>
              <a:t>venenatis</a:t>
            </a:r>
            <a:r>
              <a:rPr lang="pt-BR" dirty="0"/>
              <a:t> </a:t>
            </a:r>
            <a:r>
              <a:rPr lang="pt-BR" dirty="0" err="1"/>
              <a:t>sollicitudin</a:t>
            </a:r>
            <a:r>
              <a:rPr lang="pt-BR" dirty="0"/>
              <a:t> </a:t>
            </a:r>
            <a:r>
              <a:rPr lang="pt-BR" dirty="0" err="1"/>
              <a:t>dolor</a:t>
            </a:r>
            <a:r>
              <a:rPr lang="pt-BR" dirty="0"/>
              <a:t>. </a:t>
            </a:r>
            <a:r>
              <a:rPr lang="pt-BR" dirty="0" err="1"/>
              <a:t>Vestibulum</a:t>
            </a:r>
            <a:r>
              <a:rPr lang="pt-BR" dirty="0"/>
              <a:t> </a:t>
            </a:r>
            <a:r>
              <a:rPr lang="pt-BR" dirty="0" err="1"/>
              <a:t>pulvinar</a:t>
            </a:r>
            <a:r>
              <a:rPr lang="pt-BR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297626761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_Slide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Imagem 6" descr="Diagrama, Desenho técnico&#10;&#10;O conteúdo gerado por IA pode estar incorreto.">
            <a:extLst>
              <a:ext uri="{FF2B5EF4-FFF2-40B4-BE49-F238E27FC236}">
                <a16:creationId xmlns:a16="http://schemas.microsoft.com/office/drawing/2014/main" id="{04016A07-62CC-4FF1-A3F1-174AA4235440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8" name="Gráfico 7">
            <a:extLst>
              <a:ext uri="{FF2B5EF4-FFF2-40B4-BE49-F238E27FC236}">
                <a16:creationId xmlns:a16="http://schemas.microsoft.com/office/drawing/2014/main" id="{55A34FD8-10C0-48D2-935C-1995B1CAA554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rcRect l="-8418" t="-46144" b="-40859"/>
          <a:stretch>
            <a:fillRect/>
          </a:stretch>
        </p:blipFill>
        <p:spPr>
          <a:xfrm>
            <a:off x="8223477" y="4675844"/>
            <a:ext cx="3279336" cy="1945427"/>
          </a:xfrm>
          <a:prstGeom prst="rect">
            <a:avLst/>
          </a:prstGeom>
        </p:spPr>
      </p:pic>
      <p:sp>
        <p:nvSpPr>
          <p:cNvPr id="13" name="Espaço Reservado para Conteúdo 4">
            <a:extLst>
              <a:ext uri="{FF2B5EF4-FFF2-40B4-BE49-F238E27FC236}">
                <a16:creationId xmlns:a16="http://schemas.microsoft.com/office/drawing/2014/main" id="{4951D684-8E9D-4D85-AFF1-60D706CBB3CE}"/>
              </a:ext>
            </a:extLst>
          </p:cNvPr>
          <p:cNvSpPr>
            <a:spLocks noGrp="1"/>
          </p:cNvSpPr>
          <p:nvPr>
            <p:ph sz="quarter" idx="12" hasCustomPrompt="1"/>
          </p:nvPr>
        </p:nvSpPr>
        <p:spPr>
          <a:xfrm>
            <a:off x="1198962" y="1561342"/>
            <a:ext cx="9794071" cy="1118045"/>
          </a:xfrm>
          <a:prstGeom prst="rect">
            <a:avLst/>
          </a:prstGeom>
        </p:spPr>
        <p:txBody>
          <a:bodyPr/>
          <a:lstStyle>
            <a:lvl1pPr marL="0" indent="0" algn="ctr">
              <a:lnSpc>
                <a:spcPct val="80000"/>
              </a:lnSpc>
              <a:spcBef>
                <a:spcPts val="0"/>
              </a:spcBef>
              <a:buNone/>
              <a:defRPr sz="7200">
                <a:ln>
                  <a:solidFill>
                    <a:schemeClr val="bg1"/>
                  </a:solidFill>
                </a:ln>
                <a:noFill/>
                <a:latin typeface="Roboto Black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TEXTO FINAL</a:t>
            </a:r>
          </a:p>
        </p:txBody>
      </p:sp>
    </p:spTree>
    <p:extLst>
      <p:ext uri="{BB962C8B-B14F-4D97-AF65-F5344CB8AC3E}">
        <p14:creationId xmlns:p14="http://schemas.microsoft.com/office/powerpoint/2010/main" val="2348373495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blank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17208109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slideLayout" Target="../slideLayouts/slideLayout14.xml"/><Relationship Id="rId15" Type="http://schemas.openxmlformats.org/officeDocument/2006/relationships/slideLayout" Target="../slideLayouts/slideLayout15.xml"/><Relationship Id="rId16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33018758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49" r:id="rId12"/>
    <p:sldLayoutId id="2147483672" r:id="rId13"/>
    <p:sldLayoutId id="2147483673" r:id="rId14"/>
    <p:sldLayoutId id="2147483674" r:id="rId15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de-D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20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2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2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2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2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2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21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21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21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21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21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22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22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21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21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21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21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21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21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22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21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22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21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21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21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21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21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21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21.pn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21.pn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21.pn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2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1049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lockup-branc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552450"/>
            <a:ext cx="2038350" cy="701063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85800" y="1905000"/>
            <a:ext cx="6667500" cy="198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80" b="1" i="0" spc="160">
                <a:solidFill>
                  <a:srgbClr val="E94D1C"/>
                </a:solidFill>
                <a:latin typeface="Roboto"/>
              </a:rPr>
              <a:t>SEMINÁRIO T1 · TECNOLOGIAS EMERGENTES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2133600"/>
            <a:ext cx="7429500" cy="1905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5250" b="1" i="0">
                <a:solidFill>
                  <a:srgbClr val="FFFFFF"/>
                </a:solidFill>
                <a:latin typeface="Roboto"/>
              </a:rPr>
              <a:t>Docker e</a:t>
            </a:r>
          </a:p>
          <a:p>
            <a:pPr>
              <a:lnSpc>
                <a:spcPct val="102000"/>
              </a:lnSpc>
            </a:pPr>
            <a:r>
              <a:rPr sz="5250" b="1" i="0">
                <a:solidFill>
                  <a:srgbClr val="FFFFFF"/>
                </a:solidFill>
                <a:latin typeface="Roboto"/>
              </a:rPr>
              <a:t>conteinerização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85800" y="3848100"/>
            <a:ext cx="609600" cy="47625"/>
          </a:xfrm>
          <a:prstGeom prst="roundRect">
            <a:avLst>
              <a:gd name="adj" fmla="val 40000"/>
            </a:avLst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4114800"/>
            <a:ext cx="7620000" cy="857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580" b="0" i="0">
                <a:solidFill>
                  <a:srgbClr val="D6CFF0"/>
                </a:solidFill>
                <a:latin typeface="Roboto"/>
              </a:rPr>
              <a:t>Como o empacotamento em containers se aplica ao projeto Invite People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5391150"/>
            <a:ext cx="2667000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750" b="0" i="0" spc="140">
                <a:solidFill>
                  <a:srgbClr val="9C90D4"/>
                </a:solidFill>
                <a:latin typeface="Roboto"/>
              </a:rPr>
              <a:t>EQUIPE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5581650"/>
            <a:ext cx="2667000" cy="666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980" b="0" i="0">
                <a:solidFill>
                  <a:srgbClr val="E0DBF2"/>
                </a:solidFill>
                <a:latin typeface="Roboto"/>
              </a:rPr>
              <a:t>Tiago Passos · Guilherme Toebe</a:t>
            </a:r>
          </a:p>
          <a:p>
            <a:pPr>
              <a:lnSpc>
                <a:spcPct val="140000"/>
              </a:lnSpc>
            </a:pPr>
            <a:r>
              <a:rPr sz="980" b="0" i="0">
                <a:solidFill>
                  <a:srgbClr val="E0DBF2"/>
                </a:solidFill>
                <a:latin typeface="Roboto"/>
              </a:rPr>
              <a:t>Andreas Grings · Gabriel Tomasi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305300" y="5391150"/>
            <a:ext cx="2667000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750" b="0" i="0" spc="140">
                <a:solidFill>
                  <a:srgbClr val="9C90D4"/>
                </a:solidFill>
                <a:latin typeface="Roboto"/>
              </a:rPr>
              <a:t>DISCIPLINA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305300" y="5581650"/>
            <a:ext cx="2667000" cy="666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980" b="0" i="0">
                <a:solidFill>
                  <a:srgbClr val="E0DBF2"/>
                </a:solidFill>
                <a:latin typeface="Roboto"/>
              </a:rPr>
              <a:t>Arquitetura de Software</a:t>
            </a:r>
          </a:p>
          <a:p>
            <a:pPr>
              <a:lnSpc>
                <a:spcPct val="140000"/>
              </a:lnSpc>
            </a:pPr>
            <a:r>
              <a:rPr sz="980" b="0" i="0">
                <a:solidFill>
                  <a:srgbClr val="E0DBF2"/>
                </a:solidFill>
                <a:latin typeface="Roboto"/>
              </a:rPr>
              <a:t>Prof. Kleinner Farias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924800" y="5391150"/>
            <a:ext cx="2667000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750" b="0" i="0" spc="140">
                <a:solidFill>
                  <a:srgbClr val="9C90D4"/>
                </a:solidFill>
                <a:latin typeface="Roboto"/>
              </a:rPr>
              <a:t>DATA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924800" y="5581650"/>
            <a:ext cx="2667000" cy="666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980" b="0" i="0">
                <a:solidFill>
                  <a:srgbClr val="E0DBF2"/>
                </a:solidFill>
                <a:latin typeface="Roboto"/>
              </a:rPr>
              <a:t>08 de setembro</a:t>
            </a:r>
          </a:p>
          <a:p>
            <a:pPr>
              <a:lnSpc>
                <a:spcPct val="140000"/>
              </a:lnSpc>
            </a:pPr>
            <a:r>
              <a:rPr sz="980" b="0" i="0">
                <a:solidFill>
                  <a:srgbClr val="E0DBF2"/>
                </a:solidFill>
                <a:latin typeface="Roboto"/>
              </a:rPr>
              <a:t>de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u-azu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4200" y="457200"/>
            <a:ext cx="342900" cy="3429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85800" y="628650"/>
            <a:ext cx="10820400" cy="198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80" b="1" i="0" spc="160">
                <a:solidFill>
                  <a:srgbClr val="E94D1C"/>
                </a:solidFill>
                <a:latin typeface="Roboto"/>
              </a:rPr>
              <a:t>O PROJETO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838200"/>
            <a:ext cx="96202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3000" b="1" i="0">
                <a:solidFill>
                  <a:srgbClr val="21049A"/>
                </a:solidFill>
                <a:latin typeface="Roboto"/>
              </a:rPr>
              <a:t>Invite People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2484501"/>
            <a:ext cx="247650" cy="30845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20" b="1" i="0">
                <a:solidFill>
                  <a:srgbClr val="E94D1C"/>
                </a:solidFill>
                <a:latin typeface="Roboto"/>
              </a:rPr>
              <a:t>//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71550" y="2474976"/>
            <a:ext cx="76771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650" b="0" i="0">
                <a:solidFill>
                  <a:srgbClr val="1A1A1E"/>
                </a:solidFill>
                <a:latin typeface="Roboto"/>
              </a:rPr>
              <a:t>App web de convites virtuais, com confirmação de presença e consolidação de restrições alimentares.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3323463"/>
            <a:ext cx="247650" cy="30845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20" b="1" i="0">
                <a:solidFill>
                  <a:srgbClr val="E94D1C"/>
                </a:solidFill>
                <a:latin typeface="Roboto"/>
              </a:rPr>
              <a:t>//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71550" y="3313938"/>
            <a:ext cx="76771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650" b="0" i="0">
                <a:solidFill>
                  <a:srgbClr val="1A1A1E"/>
                </a:solidFill>
                <a:latin typeface="Roboto"/>
              </a:rPr>
              <a:t>Duas superfícies sobre o mesmo Model: o convite público sem login e o painel do anfitrião.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4162425"/>
            <a:ext cx="247650" cy="30845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20" b="1" i="0">
                <a:solidFill>
                  <a:srgbClr val="E94D1C"/>
                </a:solidFill>
                <a:latin typeface="Roboto"/>
              </a:rPr>
              <a:t>//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71550" y="4152900"/>
            <a:ext cx="76771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650" b="0" i="0">
                <a:solidFill>
                  <a:srgbClr val="1A1A1E"/>
                </a:solidFill>
                <a:latin typeface="Roboto"/>
              </a:rPr>
              <a:t>Arquitetura registrada no Guia da Arquitetura: MVC no front e três camadas no back.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5001387"/>
            <a:ext cx="247650" cy="30845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20" b="1" i="0">
                <a:solidFill>
                  <a:srgbClr val="E94D1C"/>
                </a:solidFill>
                <a:latin typeface="Roboto"/>
              </a:rPr>
              <a:t>//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71550" y="4991862"/>
            <a:ext cx="76771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650" b="0" i="0">
                <a:solidFill>
                  <a:srgbClr val="1A1A1E"/>
                </a:solidFill>
                <a:latin typeface="Roboto"/>
              </a:rPr>
              <a:t>Questão Norteadora da Sprint 2: como os componentes serão distribuídos e implantados no ambiente de execução?</a:t>
            </a:r>
          </a:p>
        </p:txBody>
      </p:sp>
      <p:sp>
        <p:nvSpPr>
          <p:cNvPr id="13" name="Donut 12"/>
          <p:cNvSpPr/>
          <p:nvPr/>
        </p:nvSpPr>
        <p:spPr>
          <a:xfrm>
            <a:off x="9124950" y="2474976"/>
            <a:ext cx="142875" cy="142875"/>
          </a:xfrm>
          <a:prstGeom prst="donu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372600" y="2484501"/>
            <a:ext cx="21336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1" i="0" spc="120">
                <a:solidFill>
                  <a:srgbClr val="E94D1C"/>
                </a:solidFill>
                <a:latin typeface="Roboto"/>
              </a:rPr>
              <a:t>ONDE ESTAMOS HOJE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124950" y="2760726"/>
            <a:ext cx="38100" cy="832104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334500" y="2760726"/>
            <a:ext cx="2171700" cy="14036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  <a:spcAft>
                <a:spcPts val="600"/>
              </a:spcAft>
            </a:pPr>
            <a:r>
              <a:rPr sz="1200" b="0" i="0">
                <a:solidFill>
                  <a:srgbClr val="3A3A44"/>
                </a:solidFill>
                <a:latin typeface="Roboto"/>
              </a:rPr>
              <a:t>Três camadas lógicas decididas.</a:t>
            </a:r>
          </a:p>
          <a:p>
            <a:pPr>
              <a:lnSpc>
                <a:spcPct val="140000"/>
              </a:lnSpc>
              <a:spcAft>
                <a:spcPts val="600"/>
              </a:spcAft>
            </a:pPr>
            <a:r>
              <a:rPr sz="1200" b="0" i="0">
                <a:solidFill>
                  <a:srgbClr val="3A3A44"/>
                </a:solidFill>
                <a:latin typeface="Roboto"/>
              </a:rPr>
              <a:t/>
            </a:r>
          </a:p>
          <a:p>
            <a:pPr>
              <a:lnSpc>
                <a:spcPct val="140000"/>
              </a:lnSpc>
              <a:spcAft>
                <a:spcPts val="600"/>
              </a:spcAft>
            </a:pPr>
            <a:r>
              <a:rPr sz="1200" b="0" i="0">
                <a:solidFill>
                  <a:srgbClr val="3A3A44"/>
                </a:solidFill>
                <a:latin typeface="Roboto"/>
              </a:rPr>
              <a:t>Nenhuma separação física decidida.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5800" y="6324600"/>
            <a:ext cx="6667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6B6B78"/>
                </a:solidFill>
                <a:latin typeface="Roboto"/>
              </a:rPr>
              <a:t>Bloco A · Introdução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477500" y="6324600"/>
            <a:ext cx="10287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>
                <a:solidFill>
                  <a:srgbClr val="21049A"/>
                </a:solidFill>
                <a:latin typeface="Roboto"/>
              </a:rP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u-azu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4200" y="457200"/>
            <a:ext cx="342900" cy="3429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85800" y="628650"/>
            <a:ext cx="10820400" cy="198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80" b="1" i="0" spc="160">
                <a:solidFill>
                  <a:srgbClr val="E94D1C"/>
                </a:solidFill>
                <a:latin typeface="Roboto"/>
              </a:rPr>
              <a:t>AGENDA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838200"/>
            <a:ext cx="96202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2250" b="1" i="0">
                <a:solidFill>
                  <a:srgbClr val="21049A"/>
                </a:solidFill>
                <a:latin typeface="Roboto"/>
              </a:rPr>
              <a:t>Quem apresenta cada parte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2066925"/>
            <a:ext cx="5715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20" b="1" i="0">
                <a:solidFill>
                  <a:srgbClr val="E94D1C"/>
                </a:solidFill>
                <a:latin typeface="Roboto"/>
              </a:rPr>
              <a:t>01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219200" y="2019300"/>
            <a:ext cx="66675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80" b="0" i="0">
                <a:solidFill>
                  <a:srgbClr val="1A1A1E"/>
                </a:solidFill>
                <a:latin typeface="Roboto"/>
              </a:rPr>
              <a:t>Introdução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153400" y="2057400"/>
            <a:ext cx="1905000" cy="243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 i="0">
                <a:solidFill>
                  <a:srgbClr val="21049A"/>
                </a:solidFill>
                <a:latin typeface="Roboto"/>
              </a:rPr>
              <a:t>Guilherme</a:t>
            </a:r>
          </a:p>
        </p:txBody>
      </p:sp>
      <p:sp>
        <p:nvSpPr>
          <p:cNvPr id="8" name="Rectangle 7"/>
          <p:cNvSpPr/>
          <p:nvPr/>
        </p:nvSpPr>
        <p:spPr>
          <a:xfrm>
            <a:off x="685800" y="2362200"/>
            <a:ext cx="10820400" cy="9525"/>
          </a:xfrm>
          <a:prstGeom prst="rect">
            <a:avLst/>
          </a:prstGeom>
          <a:solidFill>
            <a:srgbClr val="EDED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2562225"/>
            <a:ext cx="5715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20" b="1" i="0">
                <a:solidFill>
                  <a:srgbClr val="E94D1C"/>
                </a:solidFill>
                <a:latin typeface="Roboto"/>
              </a:rPr>
              <a:t>02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19200" y="2514600"/>
            <a:ext cx="66675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80" b="0" i="0">
                <a:solidFill>
                  <a:srgbClr val="1A1A1E"/>
                </a:solidFill>
                <a:latin typeface="Roboto"/>
              </a:rPr>
              <a:t>Definições e arquitetura da tecnologia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153400" y="2552700"/>
            <a:ext cx="1905000" cy="243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 i="0">
                <a:solidFill>
                  <a:srgbClr val="21049A"/>
                </a:solidFill>
                <a:latin typeface="Roboto"/>
              </a:rPr>
              <a:t>Tiago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85800" y="2857500"/>
            <a:ext cx="10820400" cy="9525"/>
          </a:xfrm>
          <a:prstGeom prst="rect">
            <a:avLst/>
          </a:prstGeom>
          <a:solidFill>
            <a:srgbClr val="EDED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85800" y="3057525"/>
            <a:ext cx="5715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20" b="1" i="0">
                <a:solidFill>
                  <a:srgbClr val="E94D1C"/>
                </a:solidFill>
                <a:latin typeface="Roboto"/>
              </a:rPr>
              <a:t>03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219200" y="3009900"/>
            <a:ext cx="66675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80" b="0" i="0">
                <a:solidFill>
                  <a:srgbClr val="1A1A1E"/>
                </a:solidFill>
                <a:latin typeface="Roboto"/>
              </a:rPr>
              <a:t>Aplicação no projeto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153400" y="3048000"/>
            <a:ext cx="1905000" cy="243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 i="0">
                <a:solidFill>
                  <a:srgbClr val="21049A"/>
                </a:solidFill>
                <a:latin typeface="Roboto"/>
              </a:rPr>
              <a:t>Gabriel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85800" y="3352800"/>
            <a:ext cx="10820400" cy="9525"/>
          </a:xfrm>
          <a:prstGeom prst="rect">
            <a:avLst/>
          </a:prstGeom>
          <a:solidFill>
            <a:srgbClr val="EDED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85800" y="3552825"/>
            <a:ext cx="5715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20" b="1" i="0">
                <a:solidFill>
                  <a:srgbClr val="E94D1C"/>
                </a:solidFill>
                <a:latin typeface="Roboto"/>
              </a:rPr>
              <a:t>04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219200" y="3505200"/>
            <a:ext cx="66675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80" b="0" i="0">
                <a:solidFill>
                  <a:srgbClr val="1A1A1E"/>
                </a:solidFill>
                <a:latin typeface="Roboto"/>
              </a:rPr>
              <a:t>Vantagens e desvantagens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153400" y="3543300"/>
            <a:ext cx="1905000" cy="243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 i="0">
                <a:solidFill>
                  <a:srgbClr val="21049A"/>
                </a:solidFill>
                <a:latin typeface="Roboto"/>
              </a:rPr>
              <a:t>Andreas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85800" y="3848100"/>
            <a:ext cx="10820400" cy="9525"/>
          </a:xfrm>
          <a:prstGeom prst="rect">
            <a:avLst/>
          </a:prstGeom>
          <a:solidFill>
            <a:srgbClr val="EDED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85800" y="4048125"/>
            <a:ext cx="5715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20" b="1" i="0">
                <a:solidFill>
                  <a:srgbClr val="E94D1C"/>
                </a:solidFill>
                <a:latin typeface="Roboto"/>
              </a:rPr>
              <a:t>05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219200" y="4000500"/>
            <a:ext cx="66675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80" b="0" i="0">
                <a:solidFill>
                  <a:srgbClr val="1A1A1E"/>
                </a:solidFill>
                <a:latin typeface="Roboto"/>
              </a:rPr>
              <a:t>Considerações finais e referências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153400" y="4038600"/>
            <a:ext cx="1905000" cy="243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 i="0">
                <a:solidFill>
                  <a:srgbClr val="21049A"/>
                </a:solidFill>
                <a:latin typeface="Roboto"/>
              </a:rPr>
              <a:t>Andreas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85800" y="4343400"/>
            <a:ext cx="10820400" cy="9525"/>
          </a:xfrm>
          <a:prstGeom prst="rect">
            <a:avLst/>
          </a:prstGeom>
          <a:solidFill>
            <a:srgbClr val="EDED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685800" y="5029200"/>
            <a:ext cx="28575" cy="2857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76300" y="5029200"/>
            <a:ext cx="9620250" cy="857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280" b="0" i="0">
                <a:solidFill>
                  <a:srgbClr val="1A1A1E"/>
                </a:solidFill>
                <a:latin typeface="Roboto"/>
              </a:rPr>
              <a:t>A implementação do produto começa na Sprint 4, em 06/10. A demonstração do final é do ambiente, não do produto.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85800" y="6324600"/>
            <a:ext cx="6667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6B6B78"/>
                </a:solidFill>
                <a:latin typeface="Roboto"/>
              </a:rPr>
              <a:t>Bloco A · Introdução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477500" y="6324600"/>
            <a:ext cx="10287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>
                <a:solidFill>
                  <a:srgbClr val="21049A"/>
                </a:solidFill>
                <a:latin typeface="Roboto"/>
              </a:rP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1049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5250" cy="685800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pic>
        <p:nvPicPr>
          <p:cNvPr id="3" name="Picture 2" descr="u-branc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4200" y="457200"/>
            <a:ext cx="342900" cy="342900"/>
          </a:xfrm>
          <a:prstGeom prst="rect">
            <a:avLst/>
          </a:prstGeom>
        </p:spPr>
      </p:pic>
      <p:sp>
        <p:nvSpPr>
          <p:cNvPr id="4" name="Rounded Rectangle 3"/>
          <p:cNvSpPr/>
          <p:nvPr/>
        </p:nvSpPr>
        <p:spPr>
          <a:xfrm>
            <a:off x="8953500" y="3448050"/>
            <a:ext cx="1676400" cy="247650"/>
          </a:xfrm>
          <a:prstGeom prst="roundRect">
            <a:avLst/>
          </a:prstGeom>
          <a:solidFill>
            <a:srgbClr val="8A3A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8953500" y="3143250"/>
            <a:ext cx="1676400" cy="247650"/>
          </a:xfrm>
          <a:prstGeom prst="roundRect">
            <a:avLst/>
          </a:prstGeom>
          <a:solidFill>
            <a:srgbClr val="C044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953500" y="2838450"/>
            <a:ext cx="1676400" cy="247650"/>
          </a:xfrm>
          <a:prstGeom prst="round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76300" y="1219200"/>
            <a:ext cx="3810000" cy="1981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750" b="1" i="0">
                <a:solidFill>
                  <a:srgbClr val="6E59D2"/>
                </a:solidFill>
                <a:latin typeface="Roboto"/>
              </a:rPr>
              <a:t>01</a:t>
            </a:r>
          </a:p>
        </p:txBody>
      </p:sp>
      <p:sp>
        <p:nvSpPr>
          <p:cNvPr id="8" name="Rectangle 7"/>
          <p:cNvSpPr/>
          <p:nvPr/>
        </p:nvSpPr>
        <p:spPr>
          <a:xfrm>
            <a:off x="914400" y="2895600"/>
            <a:ext cx="38100" cy="1714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66800" y="2857500"/>
            <a:ext cx="66675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20" b="1" i="0" spc="160">
                <a:solidFill>
                  <a:srgbClr val="FFFFFF"/>
                </a:solidFill>
                <a:latin typeface="Roboto"/>
              </a:rPr>
              <a:t>TIAGO · 6 MINUTOS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3105150"/>
            <a:ext cx="8191500" cy="1428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4050" b="1" i="0">
                <a:solidFill>
                  <a:srgbClr val="FFFFFF"/>
                </a:solidFill>
                <a:latin typeface="Roboto"/>
              </a:rPr>
              <a:t>Definições e arquitetura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4476750"/>
            <a:ext cx="6858000" cy="1047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420" b="0" i="0">
                <a:solidFill>
                  <a:srgbClr val="E2DEF5"/>
                </a:solidFill>
                <a:latin typeface="Roboto"/>
              </a:rPr>
              <a:t>O que o kernel faz quando alguém digita docker run, e por que a imagem é em camadas.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85800" y="6324600"/>
            <a:ext cx="6667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FFFFFF"/>
                </a:solidFill>
                <a:latin typeface="Roboto"/>
              </a:rPr>
              <a:t>Bloco B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477500" y="6324600"/>
            <a:ext cx="10287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>
                <a:solidFill>
                  <a:srgbClr val="FFFFFF"/>
                </a:solidFill>
                <a:latin typeface="Roboto"/>
              </a:rP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u-azu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4200" y="457200"/>
            <a:ext cx="342900" cy="3429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85800" y="628650"/>
            <a:ext cx="10820400" cy="198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80" b="1" i="0" spc="160">
                <a:solidFill>
                  <a:srgbClr val="E94D1C"/>
                </a:solidFill>
                <a:latin typeface="Roboto"/>
              </a:rPr>
              <a:t>LINHA DO TEMPO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838200"/>
            <a:ext cx="96202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3000" b="1" i="0">
                <a:solidFill>
                  <a:srgbClr val="21049A"/>
                </a:solidFill>
                <a:latin typeface="Roboto"/>
              </a:rPr>
              <a:t>Do chroot à padronização OCI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3028950"/>
            <a:ext cx="10820400" cy="28575"/>
          </a:xfrm>
          <a:prstGeom prst="rect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1382486" y="2962275"/>
            <a:ext cx="152400" cy="152400"/>
          </a:xfrm>
          <a:prstGeom prst="roundRect">
            <a:avLst>
              <a:gd name="adj" fmla="val 50000"/>
            </a:avLst>
          </a:prstGeom>
          <a:solidFill>
            <a:srgbClr val="210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3238500"/>
            <a:ext cx="1545771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500" b="1" i="0">
                <a:solidFill>
                  <a:srgbClr val="21049A"/>
                </a:solidFill>
                <a:latin typeface="Roboto"/>
              </a:rPr>
              <a:t>1979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42950" y="3505200"/>
            <a:ext cx="1431471" cy="857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090" b="0" i="0">
                <a:solidFill>
                  <a:srgbClr val="3A3A44"/>
                </a:solidFill>
                <a:latin typeface="Roboto"/>
              </a:rPr>
              <a:t>chroot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928257" y="2962275"/>
            <a:ext cx="152400" cy="152400"/>
          </a:xfrm>
          <a:prstGeom prst="roundRect">
            <a:avLst>
              <a:gd name="adj" fmla="val 50000"/>
            </a:avLst>
          </a:prstGeom>
          <a:solidFill>
            <a:srgbClr val="210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231571" y="3238500"/>
            <a:ext cx="1545771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500" b="1" i="0">
                <a:solidFill>
                  <a:srgbClr val="21049A"/>
                </a:solidFill>
                <a:latin typeface="Roboto"/>
              </a:rPr>
              <a:t>2002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288721" y="3505200"/>
            <a:ext cx="1431471" cy="857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090" b="0" i="0">
                <a:solidFill>
                  <a:srgbClr val="3A3A44"/>
                </a:solidFill>
                <a:latin typeface="Roboto"/>
              </a:rPr>
              <a:t>primeiro namespace no kernel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474029" y="2962275"/>
            <a:ext cx="152400" cy="152400"/>
          </a:xfrm>
          <a:prstGeom prst="roundRect">
            <a:avLst>
              <a:gd name="adj" fmla="val 50000"/>
            </a:avLst>
          </a:prstGeom>
          <a:solidFill>
            <a:srgbClr val="210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777343" y="3238500"/>
            <a:ext cx="1545771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500" b="1" i="0">
                <a:solidFill>
                  <a:srgbClr val="21049A"/>
                </a:solidFill>
                <a:latin typeface="Roboto"/>
              </a:rPr>
              <a:t>2008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834493" y="3505200"/>
            <a:ext cx="1431471" cy="857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090" b="0" i="0">
                <a:solidFill>
                  <a:srgbClr val="3A3A44"/>
                </a:solidFill>
                <a:latin typeface="Roboto"/>
              </a:rPr>
              <a:t>cgroups no mainline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019800" y="2962275"/>
            <a:ext cx="152400" cy="152400"/>
          </a:xfrm>
          <a:prstGeom prst="roundRect">
            <a:avLst>
              <a:gd name="adj" fmla="val 50000"/>
            </a:avLst>
          </a:prstGeom>
          <a:solidFill>
            <a:srgbClr val="210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323114" y="3238500"/>
            <a:ext cx="1545771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500" b="1" i="0">
                <a:solidFill>
                  <a:srgbClr val="21049A"/>
                </a:solidFill>
                <a:latin typeface="Roboto"/>
              </a:rPr>
              <a:t>2013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380264" y="3505200"/>
            <a:ext cx="1431471" cy="857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090" b="0" i="0">
                <a:solidFill>
                  <a:srgbClr val="3A3A44"/>
                </a:solidFill>
                <a:latin typeface="Roboto"/>
              </a:rPr>
              <a:t>Docker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565571" y="2962275"/>
            <a:ext cx="152400" cy="152400"/>
          </a:xfrm>
          <a:prstGeom prst="roundRect">
            <a:avLst>
              <a:gd name="adj" fmla="val 50000"/>
            </a:avLst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868886" y="3238500"/>
            <a:ext cx="1545771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500" b="1" i="0">
                <a:solidFill>
                  <a:srgbClr val="21049A"/>
                </a:solidFill>
                <a:latin typeface="Roboto"/>
              </a:rPr>
              <a:t>2015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926036" y="3505200"/>
            <a:ext cx="1431471" cy="857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090" b="0" i="0">
                <a:solidFill>
                  <a:srgbClr val="3A3A44"/>
                </a:solidFill>
                <a:latin typeface="Roboto"/>
              </a:rPr>
              <a:t>OCI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111343" y="2962275"/>
            <a:ext cx="152400" cy="152400"/>
          </a:xfrm>
          <a:prstGeom prst="roundRect">
            <a:avLst>
              <a:gd name="adj" fmla="val 50000"/>
            </a:avLst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414657" y="3238500"/>
            <a:ext cx="1545771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500" b="1" i="0">
                <a:solidFill>
                  <a:srgbClr val="21049A"/>
                </a:solidFill>
                <a:latin typeface="Roboto"/>
              </a:rPr>
              <a:t>2017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471807" y="3505200"/>
            <a:ext cx="1431471" cy="857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090" b="0" i="0">
                <a:solidFill>
                  <a:srgbClr val="3A3A44"/>
                </a:solidFill>
                <a:latin typeface="Roboto"/>
              </a:rPr>
              <a:t>containerd na CNCF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0657114" y="2962275"/>
            <a:ext cx="152400" cy="152400"/>
          </a:xfrm>
          <a:prstGeom prst="roundRect">
            <a:avLst>
              <a:gd name="adj" fmla="val 50000"/>
            </a:avLst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960429" y="3238500"/>
            <a:ext cx="1545771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500" b="1" i="0">
                <a:solidFill>
                  <a:srgbClr val="21049A"/>
                </a:solidFill>
                <a:latin typeface="Roboto"/>
              </a:rPr>
              <a:t>2022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017579" y="3505200"/>
            <a:ext cx="1431471" cy="857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090" b="0" i="0">
                <a:solidFill>
                  <a:srgbClr val="3A3A44"/>
                </a:solidFill>
                <a:latin typeface="Roboto"/>
              </a:rPr>
              <a:t>Kubernetes remove o dockershim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85800" y="4629150"/>
            <a:ext cx="28575" cy="477774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76300" y="4610100"/>
            <a:ext cx="104775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420" b="0" i="0">
                <a:solidFill>
                  <a:srgbClr val="1A1A1E"/>
                </a:solidFill>
                <a:latin typeface="Roboto"/>
              </a:rPr>
              <a:t>O isolamento de processos existe desde 1979. O que é recente é a padronização da cadeia de execução, a partir de 2015.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85800" y="6324600"/>
            <a:ext cx="6667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6B6B78"/>
                </a:solidFill>
                <a:latin typeface="Roboto"/>
              </a:rPr>
              <a:t>Bloco B · Definições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477500" y="6324600"/>
            <a:ext cx="10287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>
                <a:solidFill>
                  <a:srgbClr val="21049A"/>
                </a:solidFill>
                <a:latin typeface="Roboto"/>
              </a:rP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u-azu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4200" y="457200"/>
            <a:ext cx="342900" cy="3429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85800" y="628650"/>
            <a:ext cx="10820400" cy="198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80" b="1" i="0" spc="160">
                <a:solidFill>
                  <a:srgbClr val="E94D1C"/>
                </a:solidFill>
                <a:latin typeface="Roboto"/>
              </a:rPr>
              <a:t>DUAS DEFINIÇÕES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838200"/>
            <a:ext cx="96202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3000" b="1" i="0">
                <a:solidFill>
                  <a:srgbClr val="21049A"/>
                </a:solidFill>
                <a:latin typeface="Roboto"/>
              </a:rPr>
              <a:t>Container e imagem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3253359"/>
            <a:ext cx="5143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1" i="0" spc="120">
                <a:solidFill>
                  <a:srgbClr val="21049A"/>
                </a:solidFill>
                <a:latin typeface="Roboto"/>
              </a:rPr>
              <a:t>CONTAINER · SÍNTESE DOS MECANISMOS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3462909"/>
            <a:ext cx="419100" cy="28575"/>
          </a:xfrm>
          <a:prstGeom prst="rect">
            <a:avLst/>
          </a:prstGeom>
          <a:solidFill>
            <a:srgbClr val="210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3758184"/>
            <a:ext cx="247650" cy="29443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50" b="1" i="0">
                <a:solidFill>
                  <a:srgbClr val="E94D1C"/>
                </a:solidFill>
                <a:latin typeface="Roboto"/>
              </a:rPr>
              <a:t>//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71550" y="3748659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80" b="0" i="0">
                <a:solidFill>
                  <a:srgbClr val="1A1A1E"/>
                </a:solidFill>
                <a:latin typeface="Roboto"/>
              </a:rPr>
              <a:t>Um ou mais processos executados com visão isolada por namespaces, consumo limitado por cgroups e privilégio reduzido por capabilities e seccomp, sobre um sistema de arquivos raiz próprio.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362700" y="3253359"/>
            <a:ext cx="5143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1" i="0" spc="120">
                <a:solidFill>
                  <a:srgbClr val="E94D1C"/>
                </a:solidFill>
                <a:latin typeface="Roboto"/>
              </a:rPr>
              <a:t>IMAGEM · OCI IMAGE SPEC</a:t>
            </a:r>
          </a:p>
        </p:txBody>
      </p:sp>
      <p:sp>
        <p:nvSpPr>
          <p:cNvPr id="10" name="Rectangle 9"/>
          <p:cNvSpPr/>
          <p:nvPr/>
        </p:nvSpPr>
        <p:spPr>
          <a:xfrm>
            <a:off x="6362700" y="3462909"/>
            <a:ext cx="419100" cy="28575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362700" y="3758184"/>
            <a:ext cx="247650" cy="29443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50" b="1" i="0">
                <a:solidFill>
                  <a:srgbClr val="E94D1C"/>
                </a:solidFill>
                <a:latin typeface="Roboto"/>
              </a:rPr>
              <a:t>//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648450" y="3748659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80" b="0" i="0">
                <a:solidFill>
                  <a:srgbClr val="1A1A1E"/>
                </a:solidFill>
                <a:latin typeface="Roboto"/>
              </a:rPr>
              <a:t>Conjunto ordenado de camadas de sistema de arquivos mais a configuração de execução, identificado por digest.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5800" y="6324600"/>
            <a:ext cx="6667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6B6B78"/>
                </a:solidFill>
                <a:latin typeface="Roboto"/>
              </a:rPr>
              <a:t>Bloco B · Definições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477500" y="6324600"/>
            <a:ext cx="10287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>
                <a:solidFill>
                  <a:srgbClr val="21049A"/>
                </a:solidFill>
                <a:latin typeface="Roboto"/>
              </a:rP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u-azu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4200" y="457200"/>
            <a:ext cx="342900" cy="3429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85800" y="628650"/>
            <a:ext cx="10820400" cy="198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80" b="1" i="0" spc="160">
                <a:solidFill>
                  <a:srgbClr val="E94D1C"/>
                </a:solidFill>
                <a:latin typeface="Roboto"/>
              </a:rPr>
              <a:t>O QUE O KERNEL ENXERGA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838200"/>
            <a:ext cx="96202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3000" b="1" i="0">
                <a:solidFill>
                  <a:srgbClr val="21049A"/>
                </a:solidFill>
                <a:latin typeface="Roboto"/>
              </a:rPr>
              <a:t>Um container é um processo</a:t>
            </a:r>
          </a:p>
          <a:p>
            <a:pPr>
              <a:lnSpc>
                <a:spcPct val="104000"/>
              </a:lnSpc>
            </a:pPr>
            <a:r>
              <a:rPr sz="3000" b="1" i="0">
                <a:solidFill>
                  <a:srgbClr val="21049A"/>
                </a:solidFill>
                <a:latin typeface="Roboto"/>
              </a:rPr>
              <a:t>com a visão restringida por namespaces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85800" y="2083118"/>
            <a:ext cx="10820400" cy="3286125"/>
          </a:xfrm>
          <a:prstGeom prst="roundRect">
            <a:avLst>
              <a:gd name="adj" fmla="val 2318"/>
            </a:avLst>
          </a:prstGeom>
          <a:solidFill>
            <a:srgbClr val="1212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952500" y="2292668"/>
            <a:ext cx="323850" cy="28575"/>
          </a:xfrm>
          <a:prstGeom prst="roundRect">
            <a:avLst>
              <a:gd name="adj" fmla="val 50000"/>
            </a:avLst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371600" y="2235518"/>
            <a:ext cx="1905000" cy="167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19" b="0" i="0" spc="140">
                <a:solidFill>
                  <a:srgbClr val="8A8A9A"/>
                </a:solidFill>
                <a:latin typeface="Roboto"/>
              </a:rPr>
              <a:t>TERMINAL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52500" y="2578418"/>
            <a:ext cx="10287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20" b="0" i="0">
                <a:solidFill>
                  <a:srgbClr val="7FE3A1"/>
                </a:solidFill>
                <a:latin typeface="Roboto Mono"/>
              </a:rPr>
              <a:t>$ docker run -d --name web nginx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52500" y="2816542"/>
            <a:ext cx="10287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20" b="0" i="0">
                <a:solidFill>
                  <a:srgbClr val="7FE3A1"/>
                </a:solidFill>
                <a:latin typeface="Roboto Mono"/>
              </a:rPr>
              <a:t>$ ps -eo pid,comm | grep nginx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52500" y="3054668"/>
            <a:ext cx="10287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20" b="0" i="0">
                <a:solidFill>
                  <a:srgbClr val="E4E4EC"/>
                </a:solidFill>
                <a:latin typeface="Roboto Mono"/>
              </a:rPr>
              <a:t>   4821 nginx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52500" y="3292792"/>
            <a:ext cx="10287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20" b="0" i="0">
                <a:solidFill>
                  <a:srgbClr val="E4E4EC"/>
                </a:solidFill>
                <a:latin typeface="Roboto Mono"/>
              </a:rPr>
              <a:t> 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52500" y="3530918"/>
            <a:ext cx="10287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20" b="0" i="0">
                <a:solidFill>
                  <a:srgbClr val="7FE3A1"/>
                </a:solidFill>
                <a:latin typeface="Roboto Mono"/>
              </a:rPr>
              <a:t>$ lsns -p 4821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52500" y="3769042"/>
            <a:ext cx="10287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20" b="0" i="0">
                <a:solidFill>
                  <a:srgbClr val="E4E4EC"/>
                </a:solidFill>
                <a:latin typeface="Roboto Mono"/>
              </a:rPr>
              <a:t>        NS TYPE   NPROCS   PID USER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52500" y="4007168"/>
            <a:ext cx="10287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20" b="0" i="0">
                <a:solidFill>
                  <a:srgbClr val="E4E4EC"/>
                </a:solidFill>
                <a:latin typeface="Roboto Mono"/>
              </a:rPr>
              <a:t>4026532191 mnt         3  4821 root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52500" y="4245292"/>
            <a:ext cx="10287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20" b="0" i="0">
                <a:solidFill>
                  <a:srgbClr val="E4E4EC"/>
                </a:solidFill>
                <a:latin typeface="Roboto Mono"/>
              </a:rPr>
              <a:t>4026532192 uts         3  4821 root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52500" y="4483418"/>
            <a:ext cx="10287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20" b="0" i="0">
                <a:solidFill>
                  <a:srgbClr val="E4E4EC"/>
                </a:solidFill>
                <a:latin typeface="Roboto Mono"/>
              </a:rPr>
              <a:t>4026532193 ipc         3  4821 root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52500" y="4721542"/>
            <a:ext cx="10287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20" b="0" i="0">
                <a:solidFill>
                  <a:srgbClr val="E4E4EC"/>
                </a:solidFill>
                <a:latin typeface="Roboto Mono"/>
              </a:rPr>
              <a:t>4026532194 pid         3  4821 root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52500" y="4959668"/>
            <a:ext cx="10287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20" b="0" i="0">
                <a:solidFill>
                  <a:srgbClr val="E4E4EC"/>
                </a:solidFill>
                <a:latin typeface="Roboto Mono"/>
              </a:rPr>
              <a:t>4026532196 net         3  4821 root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85800" y="5597842"/>
            <a:ext cx="28575" cy="37719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76300" y="5578792"/>
            <a:ext cx="10629900" cy="666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120" b="0" i="0">
                <a:solidFill>
                  <a:srgbClr val="3A3A44"/>
                </a:solidFill>
                <a:latin typeface="Roboto"/>
              </a:rPr>
              <a:t>Saída da distro docker-desktop do WSL. No Docker Desktop em Windows o daemon e os containers rodam numa distro própria, com namespace de PID separado, então ps na distro de trabalho não mostraria container nenhum.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85800" y="6324600"/>
            <a:ext cx="6667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6B6B78"/>
                </a:solidFill>
                <a:latin typeface="Roboto"/>
              </a:rPr>
              <a:t>Bloco B · Arquitetura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477500" y="6324600"/>
            <a:ext cx="10287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>
                <a:solidFill>
                  <a:srgbClr val="21049A"/>
                </a:solidFill>
                <a:latin typeface="Roboto"/>
              </a:rP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u-azu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4200" y="457200"/>
            <a:ext cx="342900" cy="3429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85800" y="628650"/>
            <a:ext cx="10820400" cy="198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80" b="1" i="0" spc="160">
                <a:solidFill>
                  <a:srgbClr val="E94D1C"/>
                </a:solidFill>
                <a:latin typeface="Roboto"/>
              </a:rPr>
              <a:t>NAMESPACES E CGROUPS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838200"/>
            <a:ext cx="96202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3000" b="1" i="0">
                <a:solidFill>
                  <a:srgbClr val="21049A"/>
                </a:solidFill>
                <a:latin typeface="Roboto"/>
              </a:rPr>
              <a:t>Namespaces isolam a visão.</a:t>
            </a:r>
          </a:p>
          <a:p>
            <a:pPr>
              <a:lnSpc>
                <a:spcPct val="104000"/>
              </a:lnSpc>
            </a:pPr>
            <a:r>
              <a:rPr sz="3000" b="1" i="0">
                <a:solidFill>
                  <a:srgbClr val="21049A"/>
                </a:solidFill>
                <a:latin typeface="Roboto"/>
              </a:rPr>
              <a:t>Cgroups limitam o consumo.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2589276"/>
            <a:ext cx="5143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1" i="0" spc="120">
                <a:solidFill>
                  <a:srgbClr val="21049A"/>
                </a:solidFill>
                <a:latin typeface="Roboto"/>
              </a:rPr>
              <a:t>NAMESPACES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2798826"/>
            <a:ext cx="419100" cy="28575"/>
          </a:xfrm>
          <a:prstGeom prst="rect">
            <a:avLst/>
          </a:prstGeom>
          <a:solidFill>
            <a:srgbClr val="210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3094101"/>
            <a:ext cx="247650" cy="29443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50" b="1" i="0">
                <a:solidFill>
                  <a:srgbClr val="E94D1C"/>
                </a:solidFill>
                <a:latin typeface="Roboto"/>
              </a:rPr>
              <a:t>//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71550" y="3084576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80" b="0" i="0">
                <a:solidFill>
                  <a:srgbClr val="1A1A1E"/>
                </a:solidFill>
                <a:latin typeface="Roboto"/>
              </a:rPr>
              <a:t>mnt dá árvore de montagem própria.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3624834"/>
            <a:ext cx="247650" cy="29443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50" b="1" i="0">
                <a:solidFill>
                  <a:srgbClr val="E94D1C"/>
                </a:solidFill>
                <a:latin typeface="Roboto"/>
              </a:rPr>
              <a:t>//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71550" y="3615309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80" b="0" i="0">
                <a:solidFill>
                  <a:srgbClr val="1A1A1E"/>
                </a:solidFill>
                <a:latin typeface="Roboto"/>
              </a:rPr>
              <a:t>pid faz o processo virar PID 1 lá dentro.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4155567"/>
            <a:ext cx="247650" cy="29443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50" b="1" i="0">
                <a:solidFill>
                  <a:srgbClr val="E94D1C"/>
                </a:solidFill>
                <a:latin typeface="Roboto"/>
              </a:rPr>
              <a:t>//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71550" y="4146042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80" b="0" i="0">
                <a:solidFill>
                  <a:srgbClr val="1A1A1E"/>
                </a:solidFill>
                <a:latin typeface="Roboto"/>
              </a:rPr>
              <a:t>net dá pilha de rede própria, por isso dois containers escutam na mesma porta.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5800" y="4950333"/>
            <a:ext cx="247650" cy="29443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50" b="1" i="0">
                <a:solidFill>
                  <a:srgbClr val="E94D1C"/>
                </a:solidFill>
                <a:latin typeface="Roboto"/>
              </a:rPr>
              <a:t>//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71550" y="4940808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80" b="0" i="0">
                <a:solidFill>
                  <a:srgbClr val="1A1A1E"/>
                </a:solidFill>
                <a:latin typeface="Roboto"/>
              </a:rPr>
              <a:t>clone e unshare criam um namespace. setns entra num que já existe.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62700" y="2589276"/>
            <a:ext cx="5143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1" i="0" spc="120">
                <a:solidFill>
                  <a:srgbClr val="E94D1C"/>
                </a:solidFill>
                <a:latin typeface="Roboto"/>
              </a:rPr>
              <a:t>CGROUPS V2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362700" y="2798826"/>
            <a:ext cx="419100" cy="28575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362700" y="3094101"/>
            <a:ext cx="247650" cy="29443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50" b="1" i="0">
                <a:solidFill>
                  <a:srgbClr val="E94D1C"/>
                </a:solidFill>
                <a:latin typeface="Roboto"/>
              </a:rPr>
              <a:t>//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648450" y="3084576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80" b="0" i="0">
                <a:solidFill>
                  <a:srgbClr val="1A1A1E"/>
                </a:solidFill>
                <a:latin typeface="Roboto"/>
              </a:rPr>
              <a:t>Não isolam. Contabilizam e limitam.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62700" y="3624834"/>
            <a:ext cx="247650" cy="29443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50" b="1" i="0">
                <a:solidFill>
                  <a:srgbClr val="E94D1C"/>
                </a:solidFill>
                <a:latin typeface="Roboto"/>
              </a:rPr>
              <a:t>//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648450" y="3615309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80" b="0" i="0">
                <a:solidFill>
                  <a:srgbClr val="1A1A1E"/>
                </a:solidFill>
                <a:latin typeface="Roboto"/>
              </a:rPr>
              <a:t>Estourar memory.max não deixa lento: o kernel mata e o Docker reporta 137.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62700" y="4419600"/>
            <a:ext cx="247650" cy="29443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50" b="1" i="0">
                <a:solidFill>
                  <a:srgbClr val="E94D1C"/>
                </a:solidFill>
                <a:latin typeface="Roboto"/>
              </a:rPr>
              <a:t>//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648450" y="4410075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80" b="0" i="0">
                <a:solidFill>
                  <a:srgbClr val="1A1A1E"/>
                </a:solidFill>
                <a:latin typeface="Roboto"/>
              </a:rPr>
              <a:t>Limite de CPU é throttling. Degrada latência de cauda, não a média, e por isso é mais difícil de diagnosticar.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85800" y="6324600"/>
            <a:ext cx="6667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6B6B78"/>
                </a:solidFill>
                <a:latin typeface="Roboto"/>
              </a:rPr>
              <a:t>Bloco B · Arquitetura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477500" y="6324600"/>
            <a:ext cx="10287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>
                <a:solidFill>
                  <a:srgbClr val="21049A"/>
                </a:solidFill>
                <a:latin typeface="Roboto"/>
              </a:rPr>
              <a:t>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u-azu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4200" y="457200"/>
            <a:ext cx="342900" cy="3429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85800" y="628650"/>
            <a:ext cx="10820400" cy="198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80" b="1" i="0" spc="160">
                <a:solidFill>
                  <a:srgbClr val="E94D1C"/>
                </a:solidFill>
                <a:latin typeface="Roboto"/>
              </a:rPr>
              <a:t>ESTRUTURA DA IMAGEM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838200"/>
            <a:ext cx="96202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3000" b="1" i="0">
                <a:solidFill>
                  <a:srgbClr val="21049A"/>
                </a:solidFill>
                <a:latin typeface="Roboto"/>
              </a:rPr>
              <a:t>Camadas somente leitura</a:t>
            </a:r>
          </a:p>
          <a:p>
            <a:pPr>
              <a:lnSpc>
                <a:spcPct val="104000"/>
              </a:lnSpc>
            </a:pPr>
            <a:r>
              <a:rPr sz="3000" b="1" i="0">
                <a:solidFill>
                  <a:srgbClr val="21049A"/>
                </a:solidFill>
                <a:latin typeface="Roboto"/>
              </a:rPr>
              <a:t>e a camada de escrita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57250" y="2343150"/>
            <a:ext cx="4381500" cy="167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19" b="1" i="0" spc="160">
                <a:solidFill>
                  <a:srgbClr val="6B6B78"/>
                </a:solidFill>
                <a:latin typeface="Roboto"/>
              </a:rPr>
              <a:t>CAMADAS DE UMA IMAGEM E DO CONTAINER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57250" y="4057650"/>
            <a:ext cx="3429000" cy="438150"/>
          </a:xfrm>
          <a:prstGeom prst="roundRect">
            <a:avLst>
              <a:gd name="adj" fmla="val 8695"/>
            </a:avLst>
          </a:prstGeom>
          <a:solidFill>
            <a:srgbClr val="F2F2F5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47750" y="4191000"/>
            <a:ext cx="3048000" cy="213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 i="0">
                <a:solidFill>
                  <a:srgbClr val="1A1A1E"/>
                </a:solidFill>
                <a:latin typeface="Roboto"/>
              </a:rPr>
              <a:t>camada base (debian, alpine)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57250" y="3562350"/>
            <a:ext cx="3429000" cy="438150"/>
          </a:xfrm>
          <a:prstGeom prst="roundRect">
            <a:avLst>
              <a:gd name="adj" fmla="val 8695"/>
            </a:avLst>
          </a:prstGeom>
          <a:solidFill>
            <a:srgbClr val="F2F2F5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3695700"/>
            <a:ext cx="3048000" cy="213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 i="0">
                <a:solidFill>
                  <a:srgbClr val="1A1A1E"/>
                </a:solidFill>
                <a:latin typeface="Roboto"/>
              </a:rPr>
              <a:t>dependências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57250" y="3067050"/>
            <a:ext cx="3429000" cy="438150"/>
          </a:xfrm>
          <a:prstGeom prst="roundRect">
            <a:avLst>
              <a:gd name="adj" fmla="val 8695"/>
            </a:avLst>
          </a:prstGeom>
          <a:solidFill>
            <a:srgbClr val="F2F2F5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47750" y="3200400"/>
            <a:ext cx="3048000" cy="213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 i="0">
                <a:solidFill>
                  <a:srgbClr val="1A1A1E"/>
                </a:solidFill>
                <a:latin typeface="Roboto"/>
              </a:rPr>
              <a:t>código da aplicação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400550" y="3067050"/>
            <a:ext cx="28575" cy="1428750"/>
          </a:xfrm>
          <a:prstGeom prst="rect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42950" y="4629150"/>
            <a:ext cx="36576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0000"/>
              </a:lnSpc>
            </a:pPr>
            <a:r>
              <a:rPr sz="980" b="0" i="0">
                <a:solidFill>
                  <a:srgbClr val="6B6B78"/>
                </a:solidFill>
                <a:latin typeface="Roboto"/>
              </a:rPr>
              <a:t>as três de baixo são somente leitura, endereçadas por digest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57250" y="2514600"/>
            <a:ext cx="3429000" cy="495300"/>
          </a:xfrm>
          <a:prstGeom prst="roundRect">
            <a:avLst>
              <a:gd name="adj" fmla="val 7692"/>
            </a:avLst>
          </a:prstGeom>
          <a:solidFill>
            <a:srgbClr val="FDEAE3"/>
          </a:solidFill>
          <a:ln w="12700">
            <a:solidFill>
              <a:srgbClr val="E94D1C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47750" y="2609850"/>
            <a:ext cx="3048000" cy="213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1" i="0">
                <a:solidFill>
                  <a:srgbClr val="E94D1C"/>
                </a:solidFill>
                <a:latin typeface="Roboto"/>
              </a:rPr>
              <a:t>camada de escrita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47750" y="2790825"/>
            <a:ext cx="30480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6B6B78"/>
                </a:solidFill>
                <a:latin typeface="Roboto"/>
              </a:rPr>
              <a:t>criada pelo container, morre com ele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4857750" y="2457450"/>
            <a:ext cx="0" cy="2152650"/>
          </a:xfrm>
          <a:prstGeom prst="line">
            <a:avLst/>
          </a:prstGeom>
          <a:ln w="1270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5257800" y="2914650"/>
            <a:ext cx="3619500" cy="243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 i="0">
                <a:solidFill>
                  <a:srgbClr val="21049A"/>
                </a:solidFill>
                <a:latin typeface="Roboto"/>
              </a:rPr>
              <a:t>copy-up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257800" y="3181350"/>
            <a:ext cx="3810000" cy="666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120" b="0" i="0">
                <a:solidFill>
                  <a:srgbClr val="3A3A44"/>
                </a:solidFill>
                <a:latin typeface="Roboto"/>
              </a:rPr>
              <a:t>alterar um byte de um arquivo grande copia o arquivo inteiro para cima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257800" y="3752850"/>
            <a:ext cx="3619500" cy="243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 i="0">
                <a:solidFill>
                  <a:srgbClr val="21049A"/>
                </a:solidFill>
                <a:latin typeface="Roboto"/>
              </a:rPr>
              <a:t>whiteout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257800" y="4019550"/>
            <a:ext cx="3810000" cy="666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120" b="0" i="0">
                <a:solidFill>
                  <a:srgbClr val="3A3A44"/>
                </a:solidFill>
                <a:latin typeface="Roboto"/>
              </a:rPr>
              <a:t>apagar cria uma marcação, o arquivo continua na camada de baixo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85800" y="5638800"/>
            <a:ext cx="28575" cy="427482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76300" y="5619750"/>
            <a:ext cx="10629900" cy="571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280" b="0" i="0">
                <a:solidFill>
                  <a:srgbClr val="3A3A44"/>
                </a:solidFill>
                <a:latin typeface="Roboto"/>
              </a:rPr>
              <a:t>Um Dockerfile que copia um .env e faz RUN rm na instrução seguinte produz uma imagem em que o segredo continua legível. No nosso caso o segredo seria a senha do banco e o segredo de sessão do UC001.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85800" y="6324600"/>
            <a:ext cx="6667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6B6B78"/>
                </a:solidFill>
                <a:latin typeface="Roboto"/>
              </a:rPr>
              <a:t>Bloco B · Arquitetura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477500" y="6324600"/>
            <a:ext cx="10287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>
                <a:solidFill>
                  <a:srgbClr val="21049A"/>
                </a:solidFill>
                <a:latin typeface="Roboto"/>
              </a:rPr>
              <a:t>09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u-azu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4200" y="457200"/>
            <a:ext cx="342900" cy="3429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85800" y="628650"/>
            <a:ext cx="10820400" cy="198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80" b="1" i="0" spc="160">
                <a:solidFill>
                  <a:srgbClr val="E94D1C"/>
                </a:solidFill>
                <a:latin typeface="Roboto"/>
              </a:rPr>
              <a:t>A PILHA DE EXECUÇÃO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838200"/>
            <a:ext cx="96202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3000" b="1" i="0">
                <a:solidFill>
                  <a:srgbClr val="21049A"/>
                </a:solidFill>
                <a:latin typeface="Roboto"/>
              </a:rPr>
              <a:t>CLI, dockerd, containerd,</a:t>
            </a:r>
          </a:p>
          <a:p>
            <a:pPr>
              <a:lnSpc>
                <a:spcPct val="104000"/>
              </a:lnSpc>
            </a:pPr>
            <a:r>
              <a:rPr sz="3000" b="1" i="0">
                <a:solidFill>
                  <a:srgbClr val="21049A"/>
                </a:solidFill>
                <a:latin typeface="Roboto"/>
              </a:rPr>
              <a:t>shim e runc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57250" y="3333750"/>
            <a:ext cx="1771650" cy="628650"/>
          </a:xfrm>
          <a:prstGeom prst="roundRect">
            <a:avLst>
              <a:gd name="adj" fmla="val 7575"/>
            </a:avLst>
          </a:prstGeom>
          <a:solidFill>
            <a:srgbClr val="210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57250" y="3448050"/>
            <a:ext cx="177165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120" b="1" i="0">
                <a:solidFill>
                  <a:srgbClr val="FFFFFF"/>
                </a:solidFill>
                <a:latin typeface="Roboto"/>
              </a:rPr>
              <a:t>docker CLI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3657600"/>
            <a:ext cx="1657350" cy="1752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860" b="0" i="0">
                <a:solidFill>
                  <a:srgbClr val="FFFFFF"/>
                </a:solidFill>
                <a:latin typeface="Roboto"/>
              </a:rPr>
              <a:t>cliente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952750" y="3333750"/>
            <a:ext cx="1771650" cy="628650"/>
          </a:xfrm>
          <a:prstGeom prst="roundRect">
            <a:avLst>
              <a:gd name="adj" fmla="val 7575"/>
            </a:avLst>
          </a:prstGeom>
          <a:solidFill>
            <a:srgbClr val="210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952750" y="3448050"/>
            <a:ext cx="177165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120" b="1" i="0">
                <a:solidFill>
                  <a:srgbClr val="FFFFFF"/>
                </a:solidFill>
                <a:latin typeface="Roboto"/>
              </a:rPr>
              <a:t>dockerd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009900" y="3657600"/>
            <a:ext cx="1657350" cy="1752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860" b="0" i="0">
                <a:solidFill>
                  <a:srgbClr val="FFFFFF"/>
                </a:solidFill>
                <a:latin typeface="Roboto"/>
              </a:rPr>
              <a:t>daemon, roda como root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2628900" y="3648075"/>
            <a:ext cx="323850" cy="0"/>
          </a:xfrm>
          <a:prstGeom prst="line">
            <a:avLst/>
          </a:prstGeom>
          <a:ln w="25400">
            <a:solidFill>
              <a:srgbClr val="21049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ounded Rectangle 11"/>
          <p:cNvSpPr/>
          <p:nvPr/>
        </p:nvSpPr>
        <p:spPr>
          <a:xfrm>
            <a:off x="5048250" y="3333750"/>
            <a:ext cx="1771650" cy="628650"/>
          </a:xfrm>
          <a:prstGeom prst="roundRect">
            <a:avLst>
              <a:gd name="adj" fmla="val 7575"/>
            </a:avLst>
          </a:prstGeom>
          <a:solidFill>
            <a:srgbClr val="210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048250" y="3448050"/>
            <a:ext cx="177165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120" b="1" i="0">
                <a:solidFill>
                  <a:srgbClr val="FFFFFF"/>
                </a:solidFill>
                <a:latin typeface="Roboto"/>
              </a:rPr>
              <a:t>containerd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105400" y="3657600"/>
            <a:ext cx="1657350" cy="1752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860" b="0" i="0">
                <a:solidFill>
                  <a:srgbClr val="FFFFFF"/>
                </a:solidFill>
                <a:latin typeface="Roboto"/>
              </a:rPr>
              <a:t>ciclo de vida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4724400" y="3648075"/>
            <a:ext cx="323850" cy="0"/>
          </a:xfrm>
          <a:prstGeom prst="line">
            <a:avLst/>
          </a:prstGeom>
          <a:ln w="25400">
            <a:solidFill>
              <a:srgbClr val="21049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7143750" y="3333750"/>
            <a:ext cx="1771650" cy="628650"/>
          </a:xfrm>
          <a:prstGeom prst="roundRect">
            <a:avLst>
              <a:gd name="adj" fmla="val 7575"/>
            </a:avLst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143750" y="3448050"/>
            <a:ext cx="177165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120" b="1" i="0">
                <a:solidFill>
                  <a:srgbClr val="FFFFFF"/>
                </a:solidFill>
                <a:latin typeface="Roboto"/>
              </a:rPr>
              <a:t>shim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200900" y="3657600"/>
            <a:ext cx="1657350" cy="1752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860" b="0" i="0">
                <a:solidFill>
                  <a:srgbClr val="FFFFFF"/>
                </a:solidFill>
                <a:latin typeface="Roboto"/>
              </a:rPr>
              <a:t>um por container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6819900" y="3648075"/>
            <a:ext cx="323850" cy="0"/>
          </a:xfrm>
          <a:prstGeom prst="line">
            <a:avLst/>
          </a:prstGeom>
          <a:ln w="25400">
            <a:solidFill>
              <a:srgbClr val="21049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Rounded Rectangle 19"/>
          <p:cNvSpPr/>
          <p:nvPr/>
        </p:nvSpPr>
        <p:spPr>
          <a:xfrm>
            <a:off x="9239250" y="3333750"/>
            <a:ext cx="1771650" cy="628650"/>
          </a:xfrm>
          <a:prstGeom prst="roundRect">
            <a:avLst>
              <a:gd name="adj" fmla="val 7575"/>
            </a:avLst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239250" y="3448050"/>
            <a:ext cx="177165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120" b="1" i="0">
                <a:solidFill>
                  <a:srgbClr val="FFFFFF"/>
                </a:solidFill>
                <a:latin typeface="Roboto"/>
              </a:rPr>
              <a:t>runc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296400" y="3657600"/>
            <a:ext cx="1657350" cy="1752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860" b="0" i="0">
                <a:solidFill>
                  <a:srgbClr val="FFFFFF"/>
                </a:solidFill>
                <a:latin typeface="Roboto"/>
              </a:rPr>
              <a:t>cria e sai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8915400" y="3648075"/>
            <a:ext cx="323850" cy="0"/>
          </a:xfrm>
          <a:prstGeom prst="line">
            <a:avLst/>
          </a:prstGeom>
          <a:ln w="25400">
            <a:solidFill>
              <a:srgbClr val="21049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TextBox 23"/>
          <p:cNvSpPr txBox="1"/>
          <p:nvPr/>
        </p:nvSpPr>
        <p:spPr>
          <a:xfrm>
            <a:off x="4667250" y="3086100"/>
            <a:ext cx="857250" cy="198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80" b="1" i="0">
                <a:solidFill>
                  <a:srgbClr val="21049A"/>
                </a:solidFill>
                <a:latin typeface="Roboto"/>
              </a:rPr>
              <a:t>gRPC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57250" y="4352925"/>
            <a:ext cx="247650" cy="23835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70" b="1" i="0">
                <a:solidFill>
                  <a:srgbClr val="E94D1C"/>
                </a:solidFill>
                <a:latin typeface="Roboto"/>
              </a:rPr>
              <a:t>//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43000" y="4343400"/>
            <a:ext cx="96202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80" b="0" i="0">
                <a:solidFill>
                  <a:srgbClr val="1A1A1E"/>
                </a:solidFill>
                <a:latin typeface="Roboto"/>
              </a:rPr>
              <a:t>O shim é pai do container e não filho do daemon. Foi esse desenho que fez reiniciar o daemon deixar de matar os containers em execução.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57250" y="4970907"/>
            <a:ext cx="247650" cy="23835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70" b="1" i="0">
                <a:solidFill>
                  <a:srgbClr val="E94D1C"/>
                </a:solidFill>
                <a:latin typeface="Roboto"/>
              </a:rPr>
              <a:t>//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143000" y="4961382"/>
            <a:ext cx="96202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80" b="0" i="0">
                <a:solidFill>
                  <a:srgbClr val="1A1A1E"/>
                </a:solidFill>
                <a:latin typeface="Roboto"/>
              </a:rPr>
              <a:t>O runc cria os namespaces, configura cgroups, aplica capabilities e seccomp, faz pivot_root, dá execve e sai.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85800" y="6324600"/>
            <a:ext cx="6667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6B6B78"/>
                </a:solidFill>
                <a:latin typeface="Roboto"/>
              </a:rPr>
              <a:t>Bloco B · Arquitetura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477500" y="6324600"/>
            <a:ext cx="10287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>
                <a:solidFill>
                  <a:srgbClr val="21049A"/>
                </a:solidFill>
                <a:latin typeface="Roboto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u-azu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4200" y="457200"/>
            <a:ext cx="342900" cy="3429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85800" y="628650"/>
            <a:ext cx="10820400" cy="198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80" b="1" i="0" spc="160">
                <a:solidFill>
                  <a:srgbClr val="E94D1C"/>
                </a:solidFill>
                <a:latin typeface="Roboto"/>
              </a:rPr>
              <a:t>RESTRIÇÃO DE PRIVILÉGIO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838200"/>
            <a:ext cx="96202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3000" b="1" i="0">
                <a:solidFill>
                  <a:srgbClr val="21049A"/>
                </a:solidFill>
                <a:latin typeface="Roboto"/>
              </a:rPr>
              <a:t>Capabilities, seccomp e LSM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3042285"/>
            <a:ext cx="247650" cy="30845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20" b="1" i="0">
                <a:solidFill>
                  <a:srgbClr val="E94D1C"/>
                </a:solidFill>
                <a:latin typeface="Roboto"/>
              </a:rPr>
              <a:t>//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71550" y="3032760"/>
            <a:ext cx="76771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650" b="1" i="0">
                <a:solidFill>
                  <a:srgbClr val="1A1A1E"/>
                </a:solidFill>
                <a:latin typeface="Roboto"/>
              </a:rPr>
              <a:t>Capabilities.</a:t>
            </a:r>
            <a:r>
              <a:rPr sz="1650" b="0" i="0">
                <a:solidFill>
                  <a:srgbClr val="1A1A1E"/>
                </a:solidFill>
                <a:latin typeface="Roboto"/>
              </a:rPr>
              <a:t> O root do POSIX fatiado em cerca de quarenta bits independentes, derrubados e devolvidos um a um.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3881247"/>
            <a:ext cx="247650" cy="30845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20" b="1" i="0">
                <a:solidFill>
                  <a:srgbClr val="E94D1C"/>
                </a:solidFill>
                <a:latin typeface="Roboto"/>
              </a:rPr>
              <a:t>//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71550" y="3871722"/>
            <a:ext cx="76771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650" b="1" i="0">
                <a:solidFill>
                  <a:srgbClr val="1A1A1E"/>
                </a:solidFill>
                <a:latin typeface="Roboto"/>
              </a:rPr>
              <a:t>Seccomp-bpf.</a:t>
            </a:r>
            <a:r>
              <a:rPr sz="1650" b="0" i="0">
                <a:solidFill>
                  <a:srgbClr val="1A1A1E"/>
                </a:solidFill>
                <a:latin typeface="Roboto"/>
              </a:rPr>
              <a:t> O perfil padrão bloqueia cerca de 44 chamadas de sistema de mais de trezentas.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4720209"/>
            <a:ext cx="247650" cy="30845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20" b="1" i="0">
                <a:solidFill>
                  <a:srgbClr val="E94D1C"/>
                </a:solidFill>
                <a:latin typeface="Roboto"/>
              </a:rPr>
              <a:t>//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71550" y="4710684"/>
            <a:ext cx="76771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650" b="1" i="0">
                <a:solidFill>
                  <a:srgbClr val="1A1A1E"/>
                </a:solidFill>
                <a:latin typeface="Roboto"/>
              </a:rPr>
              <a:t>LSM.</a:t>
            </a:r>
            <a:r>
              <a:rPr sz="1650" b="0" i="0">
                <a:solidFill>
                  <a:srgbClr val="1A1A1E"/>
                </a:solidFill>
                <a:latin typeface="Roboto"/>
              </a:rPr>
              <a:t> AppArmor ou SELinux por cima de tudo.</a:t>
            </a:r>
          </a:p>
        </p:txBody>
      </p:sp>
      <p:sp>
        <p:nvSpPr>
          <p:cNvPr id="11" name="Isosceles Triangle 10"/>
          <p:cNvSpPr/>
          <p:nvPr/>
        </p:nvSpPr>
        <p:spPr>
          <a:xfrm>
            <a:off x="9124950" y="3032760"/>
            <a:ext cx="152400" cy="133350"/>
          </a:xfrm>
          <a:prstGeom prst="triangle">
            <a:avLst/>
          </a:prstGeom>
          <a:noFill/>
          <a:ln w="19050">
            <a:solidFill>
              <a:srgbClr val="E94D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9193530" y="3089910"/>
            <a:ext cx="15240" cy="3810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372600" y="3042285"/>
            <a:ext cx="21336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1" i="0" spc="120">
                <a:solidFill>
                  <a:srgbClr val="E94D1C"/>
                </a:solidFill>
                <a:latin typeface="Roboto"/>
              </a:rPr>
              <a:t>CUIDADO</a:t>
            </a:r>
          </a:p>
        </p:txBody>
      </p:sp>
      <p:sp>
        <p:nvSpPr>
          <p:cNvPr id="14" name="Rectangle 13"/>
          <p:cNvSpPr/>
          <p:nvPr/>
        </p:nvSpPr>
        <p:spPr>
          <a:xfrm>
            <a:off x="9124950" y="3318510"/>
            <a:ext cx="38100" cy="603504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334500" y="3318510"/>
            <a:ext cx="2171700" cy="11750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  <a:spcAft>
                <a:spcPts val="600"/>
              </a:spcAft>
            </a:pPr>
            <a:r>
              <a:rPr sz="1200" b="0" i="0">
                <a:solidFill>
                  <a:srgbClr val="3A3A44"/>
                </a:solidFill>
                <a:latin typeface="Roboto"/>
              </a:rPr>
              <a:t>A opção --privileged devolve tudo de uma vez e ainda desliga o seccomp.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85800" y="6324600"/>
            <a:ext cx="6667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6B6B78"/>
                </a:solidFill>
                <a:latin typeface="Roboto"/>
              </a:rPr>
              <a:t>Bloco B · Arquitetura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477500" y="6324600"/>
            <a:ext cx="10287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>
                <a:solidFill>
                  <a:srgbClr val="21049A"/>
                </a:solidFill>
                <a:latin typeface="Roboto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1049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u-branc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4200" y="457200"/>
            <a:ext cx="342900" cy="3429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914400" y="1638300"/>
            <a:ext cx="38100" cy="1714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66800" y="1600200"/>
            <a:ext cx="85725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20" b="1" i="0" spc="160">
                <a:solidFill>
                  <a:srgbClr val="FFFFFF"/>
                </a:solidFill>
                <a:latin typeface="Roboto"/>
              </a:rPr>
              <a:t>OCI, FUNDADA EM 2015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1866900"/>
            <a:ext cx="9715500" cy="1905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</a:pPr>
            <a:r>
              <a:rPr sz="3450" b="1" i="0">
                <a:solidFill>
                  <a:srgbClr val="FFFFFF"/>
                </a:solidFill>
                <a:latin typeface="Roboto"/>
              </a:rPr>
              <a:t>Docker implementa as</a:t>
            </a:r>
          </a:p>
          <a:p>
            <a:pPr>
              <a:lnSpc>
                <a:spcPct val="106000"/>
              </a:lnSpc>
            </a:pPr>
            <a:r>
              <a:rPr sz="3450" b="1" i="0">
                <a:solidFill>
                  <a:srgbClr val="FFFFFF"/>
                </a:solidFill>
                <a:latin typeface="Roboto"/>
              </a:rPr>
              <a:t>especificações da OCI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4095750"/>
            <a:ext cx="85725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420" b="0" i="0">
                <a:solidFill>
                  <a:srgbClr val="E2DEF5"/>
                </a:solidFill>
                <a:latin typeface="Roboto"/>
              </a:rPr>
              <a:t>Fundada em 2015 sob a Linux Foundation, com a Runtime Spec, a Image Spec e a Distribution Spec. O runc é trocável por crun, gVisor ou Kata. O engine é trocável por Podman. É um exemplo da substituibilidade por compatibilidade de interface da Aula 05.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6324600"/>
            <a:ext cx="6667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FFFFFF"/>
                </a:solidFill>
                <a:latin typeface="Roboto"/>
              </a:rPr>
              <a:t>Bloco B · Arquitetura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477500" y="6324600"/>
            <a:ext cx="10287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>
                <a:solidFill>
                  <a:srgbClr val="FFFFFF"/>
                </a:solidFill>
                <a:latin typeface="Roboto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1049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5250" cy="685800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pic>
        <p:nvPicPr>
          <p:cNvPr id="3" name="Picture 2" descr="u-branc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4200" y="457200"/>
            <a:ext cx="342900" cy="342900"/>
          </a:xfrm>
          <a:prstGeom prst="rect">
            <a:avLst/>
          </a:prstGeom>
        </p:spPr>
      </p:pic>
      <p:sp>
        <p:nvSpPr>
          <p:cNvPr id="4" name="Rounded Rectangle 3"/>
          <p:cNvSpPr/>
          <p:nvPr/>
        </p:nvSpPr>
        <p:spPr>
          <a:xfrm>
            <a:off x="8953500" y="3048000"/>
            <a:ext cx="590550" cy="590550"/>
          </a:xfrm>
          <a:prstGeom prst="roundRect">
            <a:avLst/>
          </a:prstGeom>
          <a:solidFill>
            <a:srgbClr val="8A3A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ight Arrow 4"/>
          <p:cNvSpPr/>
          <p:nvPr/>
        </p:nvSpPr>
        <p:spPr>
          <a:xfrm>
            <a:off x="9658350" y="3219450"/>
            <a:ext cx="419100" cy="247650"/>
          </a:xfrm>
          <a:prstGeom prst="rightArrow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10191750" y="3048000"/>
            <a:ext cx="590550" cy="590550"/>
          </a:xfrm>
          <a:prstGeom prst="round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76300" y="1219200"/>
            <a:ext cx="3810000" cy="1981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750" b="1" i="0">
                <a:solidFill>
                  <a:srgbClr val="6E59D2"/>
                </a:solidFill>
                <a:latin typeface="Roboto"/>
              </a:rPr>
              <a:t>02</a:t>
            </a:r>
          </a:p>
        </p:txBody>
      </p:sp>
      <p:sp>
        <p:nvSpPr>
          <p:cNvPr id="8" name="Rectangle 7"/>
          <p:cNvSpPr/>
          <p:nvPr/>
        </p:nvSpPr>
        <p:spPr>
          <a:xfrm>
            <a:off x="914400" y="2895600"/>
            <a:ext cx="38100" cy="1714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66800" y="2857500"/>
            <a:ext cx="66675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20" b="1" i="0" spc="160">
                <a:solidFill>
                  <a:srgbClr val="FFFFFF"/>
                </a:solidFill>
                <a:latin typeface="Roboto"/>
              </a:rPr>
              <a:t>GABRIEL · 6 MINUTOS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3105150"/>
            <a:ext cx="8191500" cy="1428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4050" b="1" i="0">
                <a:solidFill>
                  <a:srgbClr val="FFFFFF"/>
                </a:solidFill>
                <a:latin typeface="Roboto"/>
              </a:rPr>
              <a:t>Aplicação no Invite People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4476750"/>
            <a:ext cx="6858000" cy="1047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420" b="0" i="0">
                <a:solidFill>
                  <a:srgbClr val="E2DEF5"/>
                </a:solidFill>
                <a:latin typeface="Roboto"/>
              </a:rPr>
              <a:t>Mapeamento entre os diagramas da Sprint 2 e o arquivo de compose, com o número de cada task.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85800" y="6324600"/>
            <a:ext cx="6667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FFFFFF"/>
                </a:solidFill>
                <a:latin typeface="Roboto"/>
              </a:rPr>
              <a:t>Bloco C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477500" y="6324600"/>
            <a:ext cx="10287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>
                <a:solidFill>
                  <a:srgbClr val="FFFFFF"/>
                </a:solidFill>
                <a:latin typeface="Roboto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u-azu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4200" y="457200"/>
            <a:ext cx="342900" cy="3429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85800" y="628650"/>
            <a:ext cx="10820400" cy="198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80" b="1" i="0" spc="160">
                <a:solidFill>
                  <a:srgbClr val="E94D1C"/>
                </a:solidFill>
                <a:latin typeface="Roboto"/>
              </a:rPr>
              <a:t>CAMADA LÓGICA E TIER, AULA 03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838200"/>
            <a:ext cx="96202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3000" b="1" i="0">
                <a:solidFill>
                  <a:srgbClr val="21049A"/>
                </a:solidFill>
                <a:latin typeface="Roboto"/>
              </a:rPr>
              <a:t>Layer é camada lógica.</a:t>
            </a:r>
          </a:p>
          <a:p>
            <a:pPr>
              <a:lnSpc>
                <a:spcPct val="104000"/>
              </a:lnSpc>
            </a:pPr>
            <a:r>
              <a:rPr sz="3000" b="1" i="0">
                <a:solidFill>
                  <a:srgbClr val="21049A"/>
                </a:solidFill>
                <a:latin typeface="Roboto"/>
              </a:rPr>
              <a:t>Tier é separação física.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57250" y="2562225"/>
            <a:ext cx="1000125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1" i="0" spc="140">
                <a:solidFill>
                  <a:srgbClr val="6B6B78"/>
                </a:solidFill>
                <a:latin typeface="Roboto"/>
              </a:rPr>
              <a:t>AS TRÊS CAMADAS LÓGICAS FICAM SEMPRE NA MESMA IMAGEM. O QUE MUDA É ONDE FRONT E BANCO RODAM.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57250" y="2809875"/>
            <a:ext cx="2724150" cy="1504950"/>
          </a:xfrm>
          <a:prstGeom prst="roundRect">
            <a:avLst>
              <a:gd name="adj" fmla="val 3164"/>
            </a:avLst>
          </a:prstGeom>
          <a:solidFill>
            <a:srgbClr val="EEEBF7"/>
          </a:solidFill>
          <a:ln w="12700">
            <a:solidFill>
              <a:srgbClr val="21049A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1009650" y="2886075"/>
            <a:ext cx="2419350" cy="247650"/>
          </a:xfrm>
          <a:prstGeom prst="roundRect">
            <a:avLst>
              <a:gd name="adj" fmla="val 11538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09650" y="2943225"/>
            <a:ext cx="2419350" cy="198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80" b="0" i="0">
                <a:solidFill>
                  <a:srgbClr val="1A1A1E"/>
                </a:solidFill>
                <a:latin typeface="Roboto"/>
              </a:rPr>
              <a:t>front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009650" y="3171825"/>
            <a:ext cx="2419350" cy="781050"/>
          </a:xfrm>
          <a:prstGeom prst="roundRect">
            <a:avLst>
              <a:gd name="adj" fmla="val 3658"/>
            </a:avLst>
          </a:prstGeom>
          <a:solidFill>
            <a:srgbClr val="FFFFFF"/>
          </a:solidFill>
          <a:ln w="12700">
            <a:solidFill>
              <a:srgbClr val="2104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38225" y="3286125"/>
            <a:ext cx="23622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00" b="0" i="0">
                <a:solidFill>
                  <a:srgbClr val="21049A"/>
                </a:solidFill>
                <a:latin typeface="Roboto"/>
              </a:rPr>
              <a:t>Apresentação e API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38225" y="3514725"/>
            <a:ext cx="23622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00" b="0" i="0">
                <a:solidFill>
                  <a:srgbClr val="21049A"/>
                </a:solidFill>
                <a:latin typeface="Roboto"/>
              </a:rPr>
              <a:t>Domínio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38225" y="3743325"/>
            <a:ext cx="23622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00" b="0" i="0">
                <a:solidFill>
                  <a:srgbClr val="21049A"/>
                </a:solidFill>
                <a:latin typeface="Roboto"/>
              </a:rPr>
              <a:t>Dados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009650" y="3990975"/>
            <a:ext cx="2419350" cy="247650"/>
          </a:xfrm>
          <a:prstGeom prst="roundRect">
            <a:avLst>
              <a:gd name="adj" fmla="val 11538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09650" y="4048125"/>
            <a:ext cx="2419350" cy="198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80" b="0" i="0">
                <a:solidFill>
                  <a:srgbClr val="1A1A1E"/>
                </a:solidFill>
                <a:latin typeface="Roboto"/>
              </a:rPr>
              <a:t>banco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57250" y="4429125"/>
            <a:ext cx="272415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120" b="1" i="0">
                <a:solidFill>
                  <a:srgbClr val="21049A"/>
                </a:solidFill>
                <a:latin typeface="Roboto"/>
              </a:rPr>
              <a:t>1 tier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57250" y="4638675"/>
            <a:ext cx="2724150" cy="198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80" b="0" i="0">
                <a:solidFill>
                  <a:srgbClr val="6B6B78"/>
                </a:solidFill>
                <a:latin typeface="Roboto"/>
              </a:rPr>
              <a:t>tudo num processo só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162425" y="2809875"/>
            <a:ext cx="1143000" cy="1504950"/>
          </a:xfrm>
          <a:prstGeom prst="roundRect">
            <a:avLst>
              <a:gd name="adj" fmla="val 4166"/>
            </a:avLst>
          </a:prstGeom>
          <a:solidFill>
            <a:srgbClr val="EEEBF7"/>
          </a:solidFill>
          <a:ln w="12700">
            <a:solidFill>
              <a:srgbClr val="21049A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4295775" y="3476625"/>
            <a:ext cx="876300" cy="247650"/>
          </a:xfrm>
          <a:prstGeom prst="roundRect">
            <a:avLst>
              <a:gd name="adj" fmla="val 11538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295775" y="3533775"/>
            <a:ext cx="876300" cy="198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80" b="0" i="0">
                <a:solidFill>
                  <a:srgbClr val="1A1A1E"/>
                </a:solidFill>
                <a:latin typeface="Roboto"/>
              </a:rPr>
              <a:t>front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495925" y="2809875"/>
            <a:ext cx="1390650" cy="1504950"/>
          </a:xfrm>
          <a:prstGeom prst="roundRect">
            <a:avLst>
              <a:gd name="adj" fmla="val 3424"/>
            </a:avLst>
          </a:prstGeom>
          <a:solidFill>
            <a:srgbClr val="EEEBF7"/>
          </a:solidFill>
          <a:ln w="12700">
            <a:solidFill>
              <a:srgbClr val="21049A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5562600" y="3028950"/>
            <a:ext cx="1257300" cy="781050"/>
          </a:xfrm>
          <a:prstGeom prst="roundRect">
            <a:avLst>
              <a:gd name="adj" fmla="val 3658"/>
            </a:avLst>
          </a:prstGeom>
          <a:solidFill>
            <a:srgbClr val="FFFFFF"/>
          </a:solidFill>
          <a:ln w="12700">
            <a:solidFill>
              <a:srgbClr val="2104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591175" y="3143250"/>
            <a:ext cx="120015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00" b="0" i="0">
                <a:solidFill>
                  <a:srgbClr val="21049A"/>
                </a:solidFill>
                <a:latin typeface="Roboto"/>
              </a:rPr>
              <a:t>Apresentação e API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591175" y="3371850"/>
            <a:ext cx="120015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00" b="0" i="0">
                <a:solidFill>
                  <a:srgbClr val="21049A"/>
                </a:solidFill>
                <a:latin typeface="Roboto"/>
              </a:rPr>
              <a:t>Domínio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591175" y="3600450"/>
            <a:ext cx="120015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00" b="0" i="0">
                <a:solidFill>
                  <a:srgbClr val="21049A"/>
                </a:solidFill>
                <a:latin typeface="Roboto"/>
              </a:rPr>
              <a:t>Dados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5629275" y="3867150"/>
            <a:ext cx="1123950" cy="247650"/>
          </a:xfrm>
          <a:prstGeom prst="roundRect">
            <a:avLst>
              <a:gd name="adj" fmla="val 11538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629275" y="3924300"/>
            <a:ext cx="112395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00" b="0" i="0">
                <a:solidFill>
                  <a:srgbClr val="1A1A1E"/>
                </a:solidFill>
                <a:latin typeface="Roboto"/>
              </a:rPr>
              <a:t>banco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162425" y="4429125"/>
            <a:ext cx="272415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120" b="1" i="0">
                <a:solidFill>
                  <a:srgbClr val="21049A"/>
                </a:solidFill>
                <a:latin typeface="Roboto"/>
              </a:rPr>
              <a:t>2 tiers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162425" y="4638675"/>
            <a:ext cx="2724150" cy="198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80" b="0" i="0">
                <a:solidFill>
                  <a:srgbClr val="6B6B78"/>
                </a:solidFill>
                <a:latin typeface="Roboto"/>
              </a:rPr>
              <a:t>front separado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7239000" y="2809875"/>
            <a:ext cx="838200" cy="1504950"/>
          </a:xfrm>
          <a:prstGeom prst="roundRect">
            <a:avLst>
              <a:gd name="adj" fmla="val 5681"/>
            </a:avLst>
          </a:prstGeom>
          <a:solidFill>
            <a:srgbClr val="FDEAE3"/>
          </a:solidFill>
          <a:ln w="12700">
            <a:solidFill>
              <a:srgbClr val="E94D1C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30" name="Rounded Rectangle 29"/>
          <p:cNvSpPr/>
          <p:nvPr/>
        </p:nvSpPr>
        <p:spPr>
          <a:xfrm>
            <a:off x="7353300" y="3476625"/>
            <a:ext cx="609600" cy="247650"/>
          </a:xfrm>
          <a:prstGeom prst="roundRect">
            <a:avLst>
              <a:gd name="adj" fmla="val 11538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353300" y="3533775"/>
            <a:ext cx="6096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00" b="0" i="0">
                <a:solidFill>
                  <a:srgbClr val="1A1A1E"/>
                </a:solidFill>
                <a:latin typeface="Roboto"/>
              </a:rPr>
              <a:t>front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8305800" y="2809875"/>
            <a:ext cx="1619250" cy="1504950"/>
          </a:xfrm>
          <a:prstGeom prst="roundRect">
            <a:avLst>
              <a:gd name="adj" fmla="val 3164"/>
            </a:avLst>
          </a:prstGeom>
          <a:solidFill>
            <a:srgbClr val="FDEAE3"/>
          </a:solidFill>
          <a:ln w="12700">
            <a:solidFill>
              <a:srgbClr val="E94D1C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33" name="Rounded Rectangle 32"/>
          <p:cNvSpPr/>
          <p:nvPr/>
        </p:nvSpPr>
        <p:spPr>
          <a:xfrm>
            <a:off x="8420100" y="3171825"/>
            <a:ext cx="1390650" cy="781050"/>
          </a:xfrm>
          <a:prstGeom prst="roundRect">
            <a:avLst>
              <a:gd name="adj" fmla="val 3658"/>
            </a:avLst>
          </a:prstGeom>
          <a:solidFill>
            <a:srgbClr val="FFFFFF"/>
          </a:solidFill>
          <a:ln w="12700">
            <a:solidFill>
              <a:srgbClr val="2104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448675" y="3286125"/>
            <a:ext cx="1333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00" b="0" i="0">
                <a:solidFill>
                  <a:srgbClr val="21049A"/>
                </a:solidFill>
                <a:latin typeface="Roboto"/>
              </a:rPr>
              <a:t>Apresentação e API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448675" y="3514725"/>
            <a:ext cx="1333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00" b="0" i="0">
                <a:solidFill>
                  <a:srgbClr val="21049A"/>
                </a:solidFill>
                <a:latin typeface="Roboto"/>
              </a:rPr>
              <a:t>Domínio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448675" y="3743325"/>
            <a:ext cx="1333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00" b="0" i="0">
                <a:solidFill>
                  <a:srgbClr val="21049A"/>
                </a:solidFill>
                <a:latin typeface="Roboto"/>
              </a:rPr>
              <a:t>Dados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10153650" y="2809875"/>
            <a:ext cx="838200" cy="1504950"/>
          </a:xfrm>
          <a:prstGeom prst="roundRect">
            <a:avLst>
              <a:gd name="adj" fmla="val 5681"/>
            </a:avLst>
          </a:prstGeom>
          <a:solidFill>
            <a:srgbClr val="FDEAE3"/>
          </a:solidFill>
          <a:ln w="12700">
            <a:solidFill>
              <a:srgbClr val="E94D1C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38" name="Rounded Rectangle 37"/>
          <p:cNvSpPr/>
          <p:nvPr/>
        </p:nvSpPr>
        <p:spPr>
          <a:xfrm>
            <a:off x="10267950" y="3476625"/>
            <a:ext cx="609600" cy="247650"/>
          </a:xfrm>
          <a:prstGeom prst="roundRect">
            <a:avLst>
              <a:gd name="adj" fmla="val 11538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0267950" y="3533775"/>
            <a:ext cx="6096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00" b="0" i="0">
                <a:solidFill>
                  <a:srgbClr val="1A1A1E"/>
                </a:solidFill>
                <a:latin typeface="Roboto"/>
              </a:rPr>
              <a:t>banco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239000" y="4429125"/>
            <a:ext cx="375285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120" b="1" i="0">
                <a:solidFill>
                  <a:srgbClr val="21049A"/>
                </a:solidFill>
                <a:latin typeface="Roboto"/>
              </a:rPr>
              <a:t>3 tiers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239000" y="4638675"/>
            <a:ext cx="3752850" cy="198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80" b="0" i="0">
                <a:solidFill>
                  <a:srgbClr val="6B6B78"/>
                </a:solidFill>
                <a:latin typeface="Roboto"/>
              </a:rPr>
              <a:t>banco isolado</a:t>
            </a:r>
          </a:p>
        </p:txBody>
      </p:sp>
      <p:sp>
        <p:nvSpPr>
          <p:cNvPr id="42" name="Rectangle 41"/>
          <p:cNvSpPr/>
          <p:nvPr/>
        </p:nvSpPr>
        <p:spPr>
          <a:xfrm>
            <a:off x="685800" y="5638800"/>
            <a:ext cx="28575" cy="641223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876300" y="5619750"/>
            <a:ext cx="10629900" cy="571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280" b="0" i="0">
                <a:solidFill>
                  <a:srgbClr val="3A3A44"/>
                </a:solidFill>
                <a:latin typeface="Roboto"/>
              </a:rPr>
              <a:t>Nenhuma das três muda uma linha do projeto lógico. Todas mudam o empacotamento, e essa escolha é entrada do ADR #63. Cuidado com o vocabulário: Docker usa </a:t>
            </a:r>
            <a:r>
              <a:rPr sz="1280" b="0" i="1">
                <a:solidFill>
                  <a:srgbClr val="3A3A44"/>
                </a:solidFill>
                <a:latin typeface="Roboto"/>
              </a:rPr>
              <a:t>layer</a:t>
            </a:r>
            <a:r>
              <a:rPr sz="1280" b="0" i="0">
                <a:solidFill>
                  <a:srgbClr val="3A3A44"/>
                </a:solidFill>
                <a:latin typeface="Roboto"/>
              </a:rPr>
              <a:t> para o empilhamento do sistema de arquivos da imagem, que não tem relação com a camada lógica da Aula 03.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85800" y="6324600"/>
            <a:ext cx="6667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6B6B78"/>
                </a:solidFill>
                <a:latin typeface="Roboto"/>
              </a:rPr>
              <a:t>Bloco C · Aplicação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0477500" y="6324600"/>
            <a:ext cx="10287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>
                <a:solidFill>
                  <a:srgbClr val="21049A"/>
                </a:solidFill>
                <a:latin typeface="Roboto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u-azu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4200" y="457200"/>
            <a:ext cx="342900" cy="3429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85800" y="628650"/>
            <a:ext cx="10820400" cy="198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80" b="1" i="0" spc="160">
                <a:solidFill>
                  <a:srgbClr val="E94D1C"/>
                </a:solidFill>
                <a:latin typeface="Roboto"/>
              </a:rPr>
              <a:t>MODELAGEM UML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838200"/>
            <a:ext cx="96202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3000" b="1" i="0">
                <a:solidFill>
                  <a:srgbClr val="21049A"/>
                </a:solidFill>
                <a:latin typeface="Roboto"/>
              </a:rPr>
              <a:t>Container é ambiente de execução,</a:t>
            </a:r>
          </a:p>
          <a:p>
            <a:pPr>
              <a:lnSpc>
                <a:spcPct val="104000"/>
              </a:lnSpc>
            </a:pPr>
            <a:r>
              <a:rPr sz="3000" b="1" i="0">
                <a:solidFill>
                  <a:srgbClr val="21049A"/>
                </a:solidFill>
                <a:latin typeface="Roboto"/>
              </a:rPr>
              <a:t>imagem é artefato</a:t>
            </a:r>
          </a:p>
        </p:txBody>
      </p:sp>
      <p:sp>
        <p:nvSpPr>
          <p:cNvPr id="5" name="Rectangle 4"/>
          <p:cNvSpPr/>
          <p:nvPr/>
        </p:nvSpPr>
        <p:spPr>
          <a:xfrm>
            <a:off x="857250" y="2771775"/>
            <a:ext cx="3810000" cy="2286000"/>
          </a:xfrm>
          <a:prstGeom prst="rect">
            <a:avLst/>
          </a:prstGeom>
          <a:noFill/>
          <a:ln w="31750">
            <a:solidFill>
              <a:srgbClr val="2104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47750" y="2924175"/>
            <a:ext cx="34290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1" i="0" spc="140">
                <a:solidFill>
                  <a:srgbClr val="21049A"/>
                </a:solidFill>
                <a:latin typeface="Roboto"/>
              </a:rPr>
              <a:t>«device»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7750" y="3114675"/>
            <a:ext cx="3429000" cy="289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20" b="1" i="0">
                <a:solidFill>
                  <a:srgbClr val="21049A"/>
                </a:solidFill>
                <a:latin typeface="Roboto"/>
              </a:rPr>
              <a:t>Host de desenvolvimento</a:t>
            </a:r>
          </a:p>
        </p:txBody>
      </p:sp>
      <p:sp>
        <p:nvSpPr>
          <p:cNvPr id="8" name="Rectangle 7"/>
          <p:cNvSpPr/>
          <p:nvPr/>
        </p:nvSpPr>
        <p:spPr>
          <a:xfrm>
            <a:off x="1162050" y="3476625"/>
            <a:ext cx="3200400" cy="1390650"/>
          </a:xfrm>
          <a:prstGeom prst="rect">
            <a:avLst/>
          </a:prstGeom>
          <a:noFill/>
          <a:ln w="25400">
            <a:solidFill>
              <a:srgbClr val="E94D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52550" y="3609975"/>
            <a:ext cx="2857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1" i="0" spc="120">
                <a:solidFill>
                  <a:srgbClr val="E94D1C"/>
                </a:solidFill>
                <a:latin typeface="Roboto"/>
              </a:rPr>
              <a:t>«executionEnvironment»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52550" y="3819525"/>
            <a:ext cx="2857500" cy="259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80" b="1" i="0">
                <a:solidFill>
                  <a:srgbClr val="E94D1C"/>
                </a:solidFill>
                <a:latin typeface="Roboto"/>
              </a:rPr>
              <a:t>Container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466850" y="4143375"/>
            <a:ext cx="2590800" cy="552450"/>
          </a:xfrm>
          <a:prstGeom prst="roundRect">
            <a:avLst>
              <a:gd name="adj" fmla="val 5172"/>
            </a:avLst>
          </a:prstGeom>
          <a:solidFill>
            <a:srgbClr val="F2F2F5"/>
          </a:solidFill>
          <a:ln w="12700">
            <a:solidFill>
              <a:srgbClr val="6B6B7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657350" y="4257675"/>
            <a:ext cx="2286000" cy="1752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60" b="1" i="0" spc="120">
                <a:solidFill>
                  <a:srgbClr val="6B6B78"/>
                </a:solidFill>
                <a:latin typeface="Roboto"/>
              </a:rPr>
              <a:t>«artifact»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657350" y="4448175"/>
            <a:ext cx="2286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20" b="0" i="0">
                <a:solidFill>
                  <a:srgbClr val="1A1A1E"/>
                </a:solidFill>
                <a:latin typeface="Roboto"/>
              </a:rPr>
              <a:t>imagem (tag + digest)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143500" y="2962275"/>
            <a:ext cx="4000500" cy="857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280" b="1" i="0">
                <a:solidFill>
                  <a:srgbClr val="21049A"/>
                </a:solidFill>
                <a:latin typeface="Roboto"/>
              </a:rPr>
              <a:t>Ambiente de execução é</a:t>
            </a:r>
          </a:p>
          <a:p>
            <a:pPr>
              <a:lnSpc>
                <a:spcPct val="128000"/>
              </a:lnSpc>
            </a:pPr>
            <a:r>
              <a:rPr sz="1280" b="1" i="0">
                <a:solidFill>
                  <a:srgbClr val="21049A"/>
                </a:solidFill>
                <a:latin typeface="Roboto"/>
              </a:rPr>
              <a:t>uma especialização de nó.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143500" y="3629025"/>
            <a:ext cx="4095750" cy="1047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090" b="0" i="0">
                <a:solidFill>
                  <a:srgbClr val="1A1A1E"/>
                </a:solidFill>
                <a:latin typeface="Roboto"/>
              </a:rPr>
              <a:t>Por isso nunca dizer que container não é nó. O modelo fiel é o container aninhado no host, com a imagem implantada dentro dele.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5143500" y="4410075"/>
            <a:ext cx="4095750" cy="0"/>
          </a:xfrm>
          <a:prstGeom prst="line">
            <a:avLst/>
          </a:prstGeom>
          <a:ln w="2540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5143500" y="4562475"/>
            <a:ext cx="409575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090" b="0" i="0">
                <a:solidFill>
                  <a:srgbClr val="1A1A1E"/>
                </a:solidFill>
                <a:latin typeface="Roboto"/>
              </a:rPr>
              <a:t>Máquina virtual, essa sim, é um nó novo, com sistema operacional próprio.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5800" y="6324600"/>
            <a:ext cx="6667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6B6B78"/>
                </a:solidFill>
                <a:latin typeface="Roboto"/>
              </a:rPr>
              <a:t>Bloco C · Aplicação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477500" y="6324600"/>
            <a:ext cx="10287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>
                <a:solidFill>
                  <a:srgbClr val="21049A"/>
                </a:solidFill>
                <a:latin typeface="Roboto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u-azu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4200" y="457200"/>
            <a:ext cx="342900" cy="3429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85800" y="628650"/>
            <a:ext cx="10820400" cy="198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80" b="1" i="0" spc="160">
                <a:solidFill>
                  <a:srgbClr val="E94D1C"/>
                </a:solidFill>
                <a:latin typeface="Roboto"/>
              </a:rPr>
              <a:t>RASCUNHOS DOS ITENS #59 E #60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838200"/>
            <a:ext cx="96202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3000" b="1" i="0">
                <a:solidFill>
                  <a:srgbClr val="21049A"/>
                </a:solidFill>
                <a:latin typeface="Roboto"/>
              </a:rPr>
              <a:t>Mapeamento dos componentes</a:t>
            </a:r>
          </a:p>
          <a:p>
            <a:pPr>
              <a:lnSpc>
                <a:spcPct val="104000"/>
              </a:lnSpc>
            </a:pPr>
            <a:r>
              <a:rPr sz="3000" b="1" i="0">
                <a:solidFill>
                  <a:srgbClr val="21049A"/>
                </a:solidFill>
                <a:latin typeface="Roboto"/>
              </a:rPr>
              <a:t>para os nós do diagrama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57250" y="3028950"/>
            <a:ext cx="3810000" cy="167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19" b="1" i="0" spc="140">
                <a:solidFill>
                  <a:srgbClr val="21049A"/>
                </a:solidFill>
                <a:latin typeface="Roboto"/>
              </a:rPr>
              <a:t>RASCUNHO #59, DIAGRAMA DE COMPONENTES</a:t>
            </a:r>
          </a:p>
        </p:txBody>
      </p:sp>
      <p:sp>
        <p:nvSpPr>
          <p:cNvPr id="6" name="Rectangle 5"/>
          <p:cNvSpPr/>
          <p:nvPr/>
        </p:nvSpPr>
        <p:spPr>
          <a:xfrm>
            <a:off x="857250" y="3200400"/>
            <a:ext cx="3810000" cy="1866900"/>
          </a:xfrm>
          <a:prstGeom prst="rect">
            <a:avLst/>
          </a:prstGeom>
          <a:noFill/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1123950" y="3448050"/>
            <a:ext cx="1428750" cy="457200"/>
          </a:xfrm>
          <a:prstGeom prst="roundRect">
            <a:avLst>
              <a:gd name="adj" fmla="val 6250"/>
            </a:avLst>
          </a:prstGeom>
          <a:solidFill>
            <a:srgbClr val="210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23950" y="3600450"/>
            <a:ext cx="1428750" cy="198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80" b="0" i="0">
                <a:solidFill>
                  <a:srgbClr val="FFFFFF"/>
                </a:solidFill>
                <a:latin typeface="Roboto"/>
              </a:rPr>
              <a:t>Convite público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971800" y="3448050"/>
            <a:ext cx="1428750" cy="457200"/>
          </a:xfrm>
          <a:prstGeom prst="roundRect">
            <a:avLst>
              <a:gd name="adj" fmla="val 6250"/>
            </a:avLst>
          </a:prstGeom>
          <a:solidFill>
            <a:srgbClr val="210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971800" y="3600450"/>
            <a:ext cx="1428750" cy="198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80" b="0" i="0">
                <a:solidFill>
                  <a:srgbClr val="FFFFFF"/>
                </a:solidFill>
                <a:latin typeface="Roboto"/>
              </a:rPr>
              <a:t>Painel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047875" y="4114800"/>
            <a:ext cx="1428750" cy="419100"/>
          </a:xfrm>
          <a:prstGeom prst="roundRect">
            <a:avLst>
              <a:gd name="adj" fmla="val 6818"/>
            </a:avLst>
          </a:prstGeom>
          <a:solidFill>
            <a:srgbClr val="210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047875" y="4248150"/>
            <a:ext cx="1428750" cy="198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80" b="0" i="0">
                <a:solidFill>
                  <a:srgbClr val="FFFFFF"/>
                </a:solidFill>
                <a:latin typeface="Roboto"/>
              </a:rPr>
              <a:t>API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2047875" y="4667250"/>
            <a:ext cx="1428750" cy="285750"/>
          </a:xfrm>
          <a:prstGeom prst="roundRect">
            <a:avLst>
              <a:gd name="adj" fmla="val 10000"/>
            </a:avLst>
          </a:prstGeom>
          <a:solidFill>
            <a:srgbClr val="6B6B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047875" y="4733925"/>
            <a:ext cx="142875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00" b="0" i="0">
                <a:solidFill>
                  <a:srgbClr val="FFFFFF"/>
                </a:solidFill>
                <a:latin typeface="Roboto"/>
              </a:rPr>
              <a:t>Dados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1838325" y="3905250"/>
            <a:ext cx="733425" cy="209550"/>
          </a:xfrm>
          <a:prstGeom prst="line">
            <a:avLst/>
          </a:prstGeom>
          <a:ln w="25400">
            <a:solidFill>
              <a:srgbClr val="21049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 flipH="1">
            <a:off x="2952750" y="3905250"/>
            <a:ext cx="733425" cy="209550"/>
          </a:xfrm>
          <a:prstGeom prst="line">
            <a:avLst/>
          </a:prstGeom>
          <a:ln w="25400">
            <a:solidFill>
              <a:srgbClr val="21049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>
            <a:off x="2762250" y="4533900"/>
            <a:ext cx="0" cy="133350"/>
          </a:xfrm>
          <a:prstGeom prst="line">
            <a:avLst/>
          </a:prstGeom>
          <a:ln w="25400">
            <a:solidFill>
              <a:srgbClr val="21049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>
            <a:off x="4667250" y="4133850"/>
            <a:ext cx="1524000" cy="0"/>
          </a:xfrm>
          <a:prstGeom prst="line">
            <a:avLst/>
          </a:prstGeom>
          <a:ln w="38100">
            <a:solidFill>
              <a:srgbClr val="E94D1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/>
          <p:cNvSpPr txBox="1"/>
          <p:nvPr/>
        </p:nvSpPr>
        <p:spPr>
          <a:xfrm>
            <a:off x="4953000" y="3886200"/>
            <a:ext cx="952500" cy="198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80" b="1" i="0">
                <a:solidFill>
                  <a:srgbClr val="E94D1C"/>
                </a:solidFill>
                <a:latin typeface="Roboto"/>
              </a:rPr>
              <a:t>#72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191250" y="3028950"/>
            <a:ext cx="4000500" cy="167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19" b="1" i="0" spc="140">
                <a:solidFill>
                  <a:srgbClr val="E94D1C"/>
                </a:solidFill>
                <a:latin typeface="Roboto"/>
              </a:rPr>
              <a:t>RASCUNHO #60, DIAGRAMA DE IMPLANTAÇÃO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191250" y="3200400"/>
            <a:ext cx="3810000" cy="1866900"/>
          </a:xfrm>
          <a:prstGeom prst="rect">
            <a:avLst/>
          </a:prstGeom>
          <a:noFill/>
          <a:ln w="25400">
            <a:solidFill>
              <a:srgbClr val="E94D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381750" y="3314700"/>
            <a:ext cx="1905000" cy="167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19" b="1" i="0">
                <a:solidFill>
                  <a:srgbClr val="E94D1C"/>
                </a:solidFill>
                <a:latin typeface="Roboto"/>
              </a:rPr>
              <a:t>«device» host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381750" y="3543300"/>
            <a:ext cx="1066800" cy="495300"/>
          </a:xfrm>
          <a:prstGeom prst="rect">
            <a:avLst/>
          </a:prstGeom>
          <a:noFill/>
          <a:ln w="19050">
            <a:solidFill>
              <a:srgbClr val="2104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00800" y="3619500"/>
            <a:ext cx="1028700" cy="1752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860" b="1" i="0">
                <a:solidFill>
                  <a:srgbClr val="21049A"/>
                </a:solidFill>
                <a:latin typeface="Roboto"/>
              </a:rPr>
              <a:t>«executionEnv»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00800" y="3790950"/>
            <a:ext cx="1028700" cy="167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819" b="0" i="0">
                <a:solidFill>
                  <a:srgbClr val="1A1A1E"/>
                </a:solidFill>
                <a:latin typeface="Roboto"/>
              </a:rPr>
              <a:t>front</a:t>
            </a:r>
          </a:p>
        </p:txBody>
      </p:sp>
      <p:sp>
        <p:nvSpPr>
          <p:cNvPr id="26" name="Rectangle 25"/>
          <p:cNvSpPr/>
          <p:nvPr/>
        </p:nvSpPr>
        <p:spPr>
          <a:xfrm>
            <a:off x="7562850" y="3543300"/>
            <a:ext cx="1066800" cy="495300"/>
          </a:xfrm>
          <a:prstGeom prst="rect">
            <a:avLst/>
          </a:prstGeom>
          <a:noFill/>
          <a:ln w="19050">
            <a:solidFill>
              <a:srgbClr val="2104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581900" y="3619500"/>
            <a:ext cx="1028700" cy="1752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860" b="1" i="0">
                <a:solidFill>
                  <a:srgbClr val="21049A"/>
                </a:solidFill>
                <a:latin typeface="Roboto"/>
              </a:rPr>
              <a:t>«executionEnv»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581900" y="3790950"/>
            <a:ext cx="1028700" cy="167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819" b="0" i="0">
                <a:solidFill>
                  <a:srgbClr val="1A1A1E"/>
                </a:solidFill>
                <a:latin typeface="Roboto"/>
              </a:rPr>
              <a:t>API</a:t>
            </a:r>
          </a:p>
        </p:txBody>
      </p:sp>
      <p:cxnSp>
        <p:nvCxnSpPr>
          <p:cNvPr id="29" name="Connector 28"/>
          <p:cNvCxnSpPr/>
          <p:nvPr/>
        </p:nvCxnSpPr>
        <p:spPr>
          <a:xfrm>
            <a:off x="7448550" y="3790950"/>
            <a:ext cx="114300" cy="0"/>
          </a:xfrm>
          <a:prstGeom prst="line">
            <a:avLst/>
          </a:prstGeom>
          <a:ln w="20320">
            <a:solidFill>
              <a:srgbClr val="E94D1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Rectangle 29"/>
          <p:cNvSpPr/>
          <p:nvPr/>
        </p:nvSpPr>
        <p:spPr>
          <a:xfrm>
            <a:off x="8743950" y="3543300"/>
            <a:ext cx="1066800" cy="495300"/>
          </a:xfrm>
          <a:prstGeom prst="rect">
            <a:avLst/>
          </a:prstGeom>
          <a:noFill/>
          <a:ln w="19050">
            <a:solidFill>
              <a:srgbClr val="2104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763000" y="3619500"/>
            <a:ext cx="1028700" cy="1752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860" b="1" i="0">
                <a:solidFill>
                  <a:srgbClr val="21049A"/>
                </a:solidFill>
                <a:latin typeface="Roboto"/>
              </a:rPr>
              <a:t>«executionEnv»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763000" y="3790950"/>
            <a:ext cx="1028700" cy="167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819" b="0" i="0">
                <a:solidFill>
                  <a:srgbClr val="1A1A1E"/>
                </a:solidFill>
                <a:latin typeface="Roboto"/>
              </a:rPr>
              <a:t>banco</a:t>
            </a:r>
          </a:p>
        </p:txBody>
      </p:sp>
      <p:cxnSp>
        <p:nvCxnSpPr>
          <p:cNvPr id="33" name="Connector 32"/>
          <p:cNvCxnSpPr/>
          <p:nvPr/>
        </p:nvCxnSpPr>
        <p:spPr>
          <a:xfrm>
            <a:off x="8629650" y="3790950"/>
            <a:ext cx="114300" cy="0"/>
          </a:xfrm>
          <a:prstGeom prst="line">
            <a:avLst/>
          </a:prstGeom>
          <a:ln w="20320">
            <a:solidFill>
              <a:srgbClr val="E94D1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Rounded Rectangle 33"/>
          <p:cNvSpPr/>
          <p:nvPr/>
        </p:nvSpPr>
        <p:spPr>
          <a:xfrm>
            <a:off x="6381750" y="4267200"/>
            <a:ext cx="3429000" cy="323850"/>
          </a:xfrm>
          <a:prstGeom prst="roundRect">
            <a:avLst>
              <a:gd name="adj" fmla="val 8823"/>
            </a:avLst>
          </a:prstGeom>
          <a:solidFill>
            <a:srgbClr val="FDEAE3"/>
          </a:solidFill>
          <a:ln w="12700">
            <a:solidFill>
              <a:srgbClr val="E94D1C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381750" y="4362450"/>
            <a:ext cx="34290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00" b="0" i="0">
                <a:solidFill>
                  <a:srgbClr val="E94D1C"/>
                </a:solidFill>
                <a:latin typeface="Roboto"/>
              </a:rPr>
              <a:t>rede nomeada, resolução por nome de serviço  ·  #75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381750" y="4762500"/>
            <a:ext cx="3619500" cy="1752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60" b="0" i="0">
                <a:solidFill>
                  <a:srgbClr val="6B6B78"/>
                </a:solidFill>
                <a:latin typeface="Roboto"/>
              </a:rPr>
              <a:t>#71 nós  ·  #73 imagem por tag e digest  ·  #74, #76 e #77 são passos de processo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85800" y="6324600"/>
            <a:ext cx="6667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6B6B78"/>
                </a:solidFill>
                <a:latin typeface="Roboto"/>
              </a:rPr>
              <a:t>Bloco C · Aplicação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477500" y="6324600"/>
            <a:ext cx="10287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>
                <a:solidFill>
                  <a:srgbClr val="21049A"/>
                </a:solidFill>
                <a:latin typeface="Roboto"/>
              </a:rP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u-azu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4200" y="457200"/>
            <a:ext cx="342900" cy="3429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85800" y="628650"/>
            <a:ext cx="10820400" cy="198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80" b="1" i="0" spc="160">
                <a:solidFill>
                  <a:srgbClr val="E94D1C"/>
                </a:solidFill>
                <a:latin typeface="Roboto"/>
              </a:rPr>
              <a:t>INTERFACES NO ARQUIVO DE COMPOSE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838200"/>
            <a:ext cx="96202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3000" b="1" i="0">
                <a:solidFill>
                  <a:srgbClr val="21049A"/>
                </a:solidFill>
                <a:latin typeface="Roboto"/>
              </a:rPr>
              <a:t>Onde ficam a interface</a:t>
            </a:r>
          </a:p>
          <a:p>
            <a:pPr>
              <a:lnSpc>
                <a:spcPct val="104000"/>
              </a:lnSpc>
            </a:pPr>
            <a:r>
              <a:rPr sz="3000" b="1" i="0">
                <a:solidFill>
                  <a:srgbClr val="21049A"/>
                </a:solidFill>
                <a:latin typeface="Roboto"/>
              </a:rPr>
              <a:t>provida e a requerida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85800" y="2505075"/>
            <a:ext cx="5905500" cy="2895600"/>
          </a:xfrm>
          <a:prstGeom prst="roundRect">
            <a:avLst>
              <a:gd name="adj" fmla="val 2631"/>
            </a:avLst>
          </a:prstGeom>
          <a:solidFill>
            <a:srgbClr val="F2F2F5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33450" y="2714625"/>
            <a:ext cx="5524500" cy="213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 i="0">
                <a:solidFill>
                  <a:srgbClr val="1A1A1E"/>
                </a:solidFill>
                <a:latin typeface="Roboto Mono"/>
              </a:rPr>
              <a:t>services: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33450" y="2962275"/>
            <a:ext cx="5524500" cy="213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 i="0">
                <a:solidFill>
                  <a:srgbClr val="1A1A1E"/>
                </a:solidFill>
                <a:latin typeface="Roboto Mono"/>
              </a:rPr>
              <a:t>  api: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33450" y="3209925"/>
            <a:ext cx="5524500" cy="213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 i="0">
                <a:solidFill>
                  <a:srgbClr val="1A1A1E"/>
                </a:solidFill>
                <a:latin typeface="Roboto Mono"/>
              </a:rPr>
              <a:t>    image: node:22-alpine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3450" y="3457575"/>
            <a:ext cx="5524500" cy="213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 i="0">
                <a:solidFill>
                  <a:srgbClr val="1A1A1E"/>
                </a:solidFill>
                <a:latin typeface="Roboto Mono"/>
              </a:rPr>
              <a:t>    ports: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3450" y="3705225"/>
            <a:ext cx="5524500" cy="213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 i="0">
                <a:solidFill>
                  <a:srgbClr val="1A1A1E"/>
                </a:solidFill>
                <a:latin typeface="Roboto Mono"/>
              </a:rPr>
              <a:t>      - "3000:3000"        # interface provida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33450" y="3952875"/>
            <a:ext cx="5524500" cy="213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 i="0">
                <a:solidFill>
                  <a:srgbClr val="1A1A1E"/>
                </a:solidFill>
                <a:latin typeface="Roboto Mono"/>
              </a:rPr>
              <a:t>    environment: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33450" y="4200525"/>
            <a:ext cx="5524500" cy="213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 i="0">
                <a:solidFill>
                  <a:srgbClr val="1A1A1E"/>
                </a:solidFill>
                <a:latin typeface="Roboto Mono"/>
              </a:rPr>
              <a:t>      DATABASE_URL: ...    # interface requerida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33450" y="4448175"/>
            <a:ext cx="5524500" cy="213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 i="0">
                <a:solidFill>
                  <a:srgbClr val="1A1A1E"/>
                </a:solidFill>
                <a:latin typeface="Roboto Mono"/>
              </a:rPr>
              <a:t>    depends_on: [db]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33450" y="4695825"/>
            <a:ext cx="5524500" cy="213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 i="0">
                <a:solidFill>
                  <a:srgbClr val="1A1A1E"/>
                </a:solidFill>
                <a:latin typeface="Roboto Mono"/>
              </a:rPr>
              <a:t>  db: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33450" y="4943475"/>
            <a:ext cx="5524500" cy="213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 i="0">
                <a:solidFill>
                  <a:srgbClr val="1A1A1E"/>
                </a:solidFill>
                <a:latin typeface="Roboto Mono"/>
              </a:rPr>
              <a:t>    image: postgres:16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048500" y="2514600"/>
            <a:ext cx="247650" cy="23835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70" b="1" i="0">
                <a:solidFill>
                  <a:srgbClr val="E94D1C"/>
                </a:solidFill>
                <a:latin typeface="Roboto"/>
              </a:rPr>
              <a:t>//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334250" y="2505075"/>
            <a:ext cx="41719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80" b="0" i="0">
                <a:solidFill>
                  <a:srgbClr val="1A1A1E"/>
                </a:solidFill>
                <a:latin typeface="Roboto"/>
              </a:rPr>
              <a:t>A porta publicada mais o contrato HTTP é a </a:t>
            </a:r>
            <a:r>
              <a:rPr sz="1280" b="1" i="0">
                <a:solidFill>
                  <a:srgbClr val="1A1A1E"/>
                </a:solidFill>
                <a:latin typeface="Roboto"/>
              </a:rPr>
              <a:t>interface provida</a:t>
            </a:r>
            <a:r>
              <a:rPr sz="1280" b="0" i="0">
                <a:solidFill>
                  <a:srgbClr val="1A1A1E"/>
                </a:solidFill>
                <a:latin typeface="Roboto"/>
              </a:rPr>
              <a:t>, o pirulito da UML.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048500" y="3094482"/>
            <a:ext cx="247650" cy="23835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70" b="1" i="0">
                <a:solidFill>
                  <a:srgbClr val="E94D1C"/>
                </a:solidFill>
                <a:latin typeface="Roboto"/>
              </a:rPr>
              <a:t>//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334250" y="3084957"/>
            <a:ext cx="41719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80" b="0" i="0">
                <a:solidFill>
                  <a:srgbClr val="1A1A1E"/>
                </a:solidFill>
                <a:latin typeface="Roboto"/>
              </a:rPr>
              <a:t>A variável de conexão mais a dependência declarada é a </a:t>
            </a:r>
            <a:r>
              <a:rPr sz="1280" b="1" i="0">
                <a:solidFill>
                  <a:srgbClr val="1A1A1E"/>
                </a:solidFill>
                <a:latin typeface="Roboto"/>
              </a:rPr>
              <a:t>interface requerida</a:t>
            </a:r>
            <a:r>
              <a:rPr sz="1280" b="0" i="0">
                <a:solidFill>
                  <a:srgbClr val="1A1A1E"/>
                </a:solidFill>
                <a:latin typeface="Roboto"/>
              </a:rPr>
              <a:t>, o soquete.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048500" y="3674364"/>
            <a:ext cx="247650" cy="23835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70" b="1" i="0">
                <a:solidFill>
                  <a:srgbClr val="E94D1C"/>
                </a:solidFill>
                <a:latin typeface="Roboto"/>
              </a:rPr>
              <a:t>//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334250" y="3664839"/>
            <a:ext cx="41719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80" b="0" i="0">
                <a:solidFill>
                  <a:srgbClr val="1A1A1E"/>
                </a:solidFill>
                <a:latin typeface="Roboto"/>
              </a:rPr>
              <a:t>A porta da UML é literalmente a porta do container, com o mesmo desenho e o mesmo nome.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048500" y="4254246"/>
            <a:ext cx="247650" cy="23835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70" b="1" i="0">
                <a:solidFill>
                  <a:srgbClr val="E94D1C"/>
                </a:solidFill>
                <a:latin typeface="Roboto"/>
              </a:rPr>
              <a:t>//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334250" y="4244721"/>
            <a:ext cx="41719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80" b="1" i="0">
                <a:solidFill>
                  <a:srgbClr val="1A1A1E"/>
                </a:solidFill>
                <a:latin typeface="Roboto"/>
              </a:rPr>
              <a:t>As imagens são exemplo.</a:t>
            </a:r>
            <a:r>
              <a:rPr sz="1280" b="0" i="0">
                <a:solidFill>
                  <a:srgbClr val="1A1A1E"/>
                </a:solidFill>
                <a:latin typeface="Roboto"/>
              </a:rPr>
              <a:t> A stack ainda não foi decidida, é assunto do ADR #63.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85800" y="6324600"/>
            <a:ext cx="6667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6B6B78"/>
                </a:solidFill>
                <a:latin typeface="Roboto"/>
              </a:rPr>
              <a:t>Bloco C · Aplicação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477500" y="6324600"/>
            <a:ext cx="10287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>
                <a:solidFill>
                  <a:srgbClr val="21049A"/>
                </a:solidFill>
                <a:latin typeface="Roboto"/>
              </a:rPr>
              <a:t>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u-azu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4200" y="457200"/>
            <a:ext cx="342900" cy="3429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85800" y="628650"/>
            <a:ext cx="10820400" cy="198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80" b="1" i="0" spc="160">
                <a:solidFill>
                  <a:srgbClr val="E94D1C"/>
                </a:solidFill>
                <a:latin typeface="Roboto"/>
              </a:rPr>
              <a:t>COESÃO E ACOPLAMENTO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838200"/>
            <a:ext cx="96202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3000" b="1" i="0">
                <a:solidFill>
                  <a:srgbClr val="21049A"/>
                </a:solidFill>
                <a:latin typeface="Roboto"/>
              </a:rPr>
              <a:t>O que a fronteira garante</a:t>
            </a:r>
          </a:p>
          <a:p>
            <a:pPr>
              <a:lnSpc>
                <a:spcPct val="104000"/>
              </a:lnSpc>
            </a:pPr>
            <a:r>
              <a:rPr sz="3000" b="1" i="0">
                <a:solidFill>
                  <a:srgbClr val="21049A"/>
                </a:solidFill>
                <a:latin typeface="Roboto"/>
              </a:rPr>
              <a:t>e o que ela não garante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2193226"/>
            <a:ext cx="5143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1" i="0" spc="120">
                <a:solidFill>
                  <a:srgbClr val="21049A"/>
                </a:solidFill>
                <a:latin typeface="Roboto"/>
              </a:rPr>
              <a:t>GARANTE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2402776"/>
            <a:ext cx="419100" cy="28575"/>
          </a:xfrm>
          <a:prstGeom prst="rect">
            <a:avLst/>
          </a:prstGeom>
          <a:solidFill>
            <a:srgbClr val="210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2698052"/>
            <a:ext cx="247650" cy="29443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50" b="1" i="0">
                <a:solidFill>
                  <a:srgbClr val="E94D1C"/>
                </a:solidFill>
                <a:latin typeface="Roboto"/>
              </a:rPr>
              <a:t>//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71550" y="2688526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80" b="0" i="0">
                <a:solidFill>
                  <a:srgbClr val="1A1A1E"/>
                </a:solidFill>
                <a:latin typeface="Roboto"/>
              </a:rPr>
              <a:t>Mais coesão: uma responsabilidade por imagem.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3228784"/>
            <a:ext cx="247650" cy="29443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50" b="1" i="0">
                <a:solidFill>
                  <a:srgbClr val="E94D1C"/>
                </a:solidFill>
                <a:latin typeface="Roboto"/>
              </a:rPr>
              <a:t>//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71550" y="3219260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80" b="0" i="0">
                <a:solidFill>
                  <a:srgbClr val="1A1A1E"/>
                </a:solidFill>
                <a:latin typeface="Roboto"/>
              </a:rPr>
              <a:t>O código do front não está na imagem da API, então a API não depende dele nem por acidente.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4023550"/>
            <a:ext cx="247650" cy="29443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50" b="1" i="0">
                <a:solidFill>
                  <a:srgbClr val="E94D1C"/>
                </a:solidFill>
                <a:latin typeface="Roboto"/>
              </a:rPr>
              <a:t>//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71550" y="4014026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80" b="0" i="0">
                <a:solidFill>
                  <a:srgbClr val="1A1A1E"/>
                </a:solidFill>
                <a:latin typeface="Roboto"/>
              </a:rPr>
              <a:t>Só o serviço de fronteira publica porta. O banco fica na rede interna sem mapeamento.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5800" y="4818316"/>
            <a:ext cx="247650" cy="29443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50" b="1" i="0">
                <a:solidFill>
                  <a:srgbClr val="E94D1C"/>
                </a:solidFill>
                <a:latin typeface="Roboto"/>
              </a:rPr>
              <a:t>//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71550" y="4808792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80" b="0" i="0">
                <a:solidFill>
                  <a:srgbClr val="1A1A1E"/>
                </a:solidFill>
                <a:latin typeface="Roboto"/>
              </a:rPr>
              <a:t>Uma regra escrita na wiki depende de alguém revisar. A mesma regra na topologia é verificada pela estrutura, o que reduz a degradação arquitetural da Aula 02.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62700" y="2193226"/>
            <a:ext cx="5143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1" i="0" spc="120">
                <a:solidFill>
                  <a:srgbClr val="E94D1C"/>
                </a:solidFill>
                <a:latin typeface="Roboto"/>
              </a:rPr>
              <a:t>NÃO GARANTE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362700" y="2402776"/>
            <a:ext cx="419100" cy="28575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362700" y="2698052"/>
            <a:ext cx="247650" cy="29443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50" b="1" i="0">
                <a:solidFill>
                  <a:srgbClr val="E94D1C"/>
                </a:solidFill>
                <a:latin typeface="Roboto"/>
              </a:rPr>
              <a:t>//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648450" y="2688526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80" b="0" i="0">
                <a:solidFill>
                  <a:srgbClr val="1A1A1E"/>
                </a:solidFill>
                <a:latin typeface="Roboto"/>
              </a:rPr>
              <a:t>A regra entre as nossas três camadas. Elas ficam na mesma imagem do back-end.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62700" y="3492818"/>
            <a:ext cx="247650" cy="29443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50" b="1" i="0">
                <a:solidFill>
                  <a:srgbClr val="E94D1C"/>
                </a:solidFill>
                <a:latin typeface="Roboto"/>
              </a:rPr>
              <a:t>//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648450" y="3483292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80" b="0" i="0">
                <a:solidFill>
                  <a:srgbClr val="1A1A1E"/>
                </a:solidFill>
                <a:latin typeface="Roboto"/>
              </a:rPr>
              <a:t>Redução de acoplamento. Ele muda de forma e passa a ter latência, falha parcial e ordem de subida.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85800" y="6324600"/>
            <a:ext cx="6667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6B6B78"/>
                </a:solidFill>
                <a:latin typeface="Roboto"/>
              </a:rPr>
              <a:t>Bloco C · Aplicação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477500" y="6324600"/>
            <a:ext cx="10287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>
                <a:solidFill>
                  <a:srgbClr val="21049A"/>
                </a:solidFill>
                <a:latin typeface="Roboto"/>
              </a:rPr>
              <a:t>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u-azu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4200" y="457200"/>
            <a:ext cx="342900" cy="3429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85800" y="628650"/>
            <a:ext cx="10820400" cy="198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80" b="1" i="0" spc="160">
                <a:solidFill>
                  <a:srgbClr val="E94D1C"/>
                </a:solidFill>
                <a:latin typeface="Roboto"/>
              </a:rPr>
              <a:t>CONSEQUÊNCIA PARA O PROJETO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838200"/>
            <a:ext cx="96202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3000" b="1" i="0">
                <a:solidFill>
                  <a:srgbClr val="21049A"/>
                </a:solidFill>
                <a:latin typeface="Roboto"/>
              </a:rPr>
              <a:t>Duas views sobre o mesmo Model,</a:t>
            </a:r>
          </a:p>
          <a:p>
            <a:pPr>
              <a:lnSpc>
                <a:spcPct val="104000"/>
              </a:lnSpc>
            </a:pPr>
            <a:r>
              <a:rPr sz="3000" b="1" i="0">
                <a:solidFill>
                  <a:srgbClr val="21049A"/>
                </a:solidFill>
                <a:latin typeface="Roboto"/>
              </a:rPr>
              <a:t>dois perfis de carga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3042285"/>
            <a:ext cx="247650" cy="30845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20" b="1" i="0">
                <a:solidFill>
                  <a:srgbClr val="E94D1C"/>
                </a:solidFill>
                <a:latin typeface="Roboto"/>
              </a:rPr>
              <a:t>//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71550" y="3032760"/>
            <a:ext cx="758190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650" b="0" i="0">
                <a:solidFill>
                  <a:srgbClr val="1A1A1E"/>
                </a:solidFill>
                <a:latin typeface="Roboto"/>
              </a:rPr>
              <a:t>A jornada da Marina descreve o link caindo no grupo da família. Pico no convite público (UC005), uma pessoa no painel (UC007).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3881247"/>
            <a:ext cx="247650" cy="30845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20" b="1" i="0">
                <a:solidFill>
                  <a:srgbClr val="E94D1C"/>
                </a:solidFill>
                <a:latin typeface="Roboto"/>
              </a:rPr>
              <a:t>//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71550" y="3871722"/>
            <a:ext cx="758190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650" b="0" i="0">
                <a:solidFill>
                  <a:srgbClr val="1A1A1E"/>
                </a:solidFill>
                <a:latin typeface="Roboto"/>
              </a:rPr>
              <a:t>Replicar só o serviço público faz sentido. Replicar o painel não.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4443603"/>
            <a:ext cx="247650" cy="30845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20" b="1" i="0">
                <a:solidFill>
                  <a:srgbClr val="E94D1C"/>
                </a:solidFill>
                <a:latin typeface="Roboto"/>
              </a:rPr>
              <a:t>//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71550" y="4434078"/>
            <a:ext cx="758190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650" b="0" i="0">
                <a:solidFill>
                  <a:srgbClr val="1A1A1E"/>
                </a:solidFill>
                <a:latin typeface="Roboto"/>
              </a:rPr>
              <a:t>Para isso valer, o convite público não pode guardar sessão em memória nem gravar upload em disco local.</a:t>
            </a:r>
          </a:p>
        </p:txBody>
      </p:sp>
      <p:sp>
        <p:nvSpPr>
          <p:cNvPr id="11" name="Donut 10"/>
          <p:cNvSpPr/>
          <p:nvPr/>
        </p:nvSpPr>
        <p:spPr>
          <a:xfrm>
            <a:off x="9124950" y="3032760"/>
            <a:ext cx="142875" cy="142875"/>
          </a:xfrm>
          <a:prstGeom prst="donu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372600" y="3042285"/>
            <a:ext cx="21336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1" i="0" spc="120">
                <a:solidFill>
                  <a:srgbClr val="E94D1C"/>
                </a:solidFill>
                <a:latin typeface="Roboto"/>
              </a:rPr>
              <a:t>EM ABERTO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124950" y="3318510"/>
            <a:ext cx="38100" cy="1033272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334500" y="3318510"/>
            <a:ext cx="2171700" cy="16047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  <a:spcAft>
                <a:spcPts val="600"/>
              </a:spcAft>
            </a:pPr>
            <a:r>
              <a:rPr sz="1200" b="0" i="0">
                <a:solidFill>
                  <a:srgbClr val="3A3A44"/>
                </a:solidFill>
                <a:latin typeface="Roboto"/>
              </a:rPr>
              <a:t>Mesma imagem de front ou imagens separadas?</a:t>
            </a:r>
          </a:p>
          <a:p>
            <a:pPr>
              <a:lnSpc>
                <a:spcPct val="140000"/>
              </a:lnSpc>
              <a:spcAft>
                <a:spcPts val="600"/>
              </a:spcAft>
            </a:pPr>
            <a:r>
              <a:rPr sz="1200" b="0" i="0">
                <a:solidFill>
                  <a:srgbClr val="3A3A44"/>
                </a:solidFill>
                <a:latin typeface="Roboto"/>
              </a:rPr>
              <a:t/>
            </a:r>
          </a:p>
          <a:p>
            <a:pPr>
              <a:lnSpc>
                <a:spcPct val="140000"/>
              </a:lnSpc>
              <a:spcAft>
                <a:spcPts val="600"/>
              </a:spcAft>
            </a:pPr>
            <a:r>
              <a:rPr sz="1200" b="0" i="0">
                <a:solidFill>
                  <a:srgbClr val="3A3A44"/>
                </a:solidFill>
                <a:latin typeface="Roboto"/>
              </a:rPr>
              <a:t>Entrada direta para o #59 e o #60. Ainda não decidida.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5800" y="6324600"/>
            <a:ext cx="6667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6B6B78"/>
                </a:solidFill>
                <a:latin typeface="Roboto"/>
              </a:rPr>
              <a:t>Bloco C · Aplicação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477500" y="6324600"/>
            <a:ext cx="10287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>
                <a:solidFill>
                  <a:srgbClr val="21049A"/>
                </a:solidFill>
                <a:latin typeface="Roboto"/>
              </a:rPr>
              <a:t>19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1049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5250" cy="685800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pic>
        <p:nvPicPr>
          <p:cNvPr id="3" name="Picture 2" descr="u-branc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4200" y="457200"/>
            <a:ext cx="342900" cy="342900"/>
          </a:xfrm>
          <a:prstGeom prst="rect">
            <a:avLst/>
          </a:prstGeom>
        </p:spPr>
      </p:pic>
      <p:sp>
        <p:nvSpPr>
          <p:cNvPr id="4" name="Rounded Rectangle 3"/>
          <p:cNvSpPr/>
          <p:nvPr/>
        </p:nvSpPr>
        <p:spPr>
          <a:xfrm>
            <a:off x="8953500" y="2876550"/>
            <a:ext cx="704850" cy="762000"/>
          </a:xfrm>
          <a:prstGeom prst="round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829800" y="3219450"/>
            <a:ext cx="704850" cy="419100"/>
          </a:xfrm>
          <a:prstGeom prst="roundRect">
            <a:avLst/>
          </a:prstGeom>
          <a:solidFill>
            <a:srgbClr val="8A3A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953500" y="3714750"/>
            <a:ext cx="1581150" cy="3810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76300" y="1219200"/>
            <a:ext cx="3810000" cy="1981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750" b="1" i="0">
                <a:solidFill>
                  <a:srgbClr val="6E59D2"/>
                </a:solidFill>
                <a:latin typeface="Roboto"/>
              </a:rPr>
              <a:t>03</a:t>
            </a:r>
          </a:p>
        </p:txBody>
      </p:sp>
      <p:sp>
        <p:nvSpPr>
          <p:cNvPr id="8" name="Rectangle 7"/>
          <p:cNvSpPr/>
          <p:nvPr/>
        </p:nvSpPr>
        <p:spPr>
          <a:xfrm>
            <a:off x="914400" y="2895600"/>
            <a:ext cx="38100" cy="1714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66800" y="2857500"/>
            <a:ext cx="66675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20" b="1" i="0" spc="160">
                <a:solidFill>
                  <a:srgbClr val="FFFFFF"/>
                </a:solidFill>
                <a:latin typeface="Roboto"/>
              </a:rPr>
              <a:t>ANDREAS, COM TIAGO NA SEGURANÇA · 7 MINUTOS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3105150"/>
            <a:ext cx="8191500" cy="1428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4050" b="1" i="0">
                <a:solidFill>
                  <a:srgbClr val="FFFFFF"/>
                </a:solidFill>
                <a:latin typeface="Roboto"/>
              </a:rPr>
              <a:t>Vantagens, desvantagens e demonstração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4476750"/>
            <a:ext cx="6858000" cy="1047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420" b="0" i="0">
                <a:solidFill>
                  <a:srgbClr val="E2DEF5"/>
                </a:solidFill>
                <a:latin typeface="Roboto"/>
              </a:rPr>
              <a:t>A demonstração é do ambiente e da topologia, não do produto. A implementação começa na Sprint 4.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85800" y="6324600"/>
            <a:ext cx="6667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FFFFFF"/>
                </a:solidFill>
                <a:latin typeface="Roboto"/>
              </a:rPr>
              <a:t>Bloco 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477500" y="6324600"/>
            <a:ext cx="10287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>
                <a:solidFill>
                  <a:srgbClr val="FFFFFF"/>
                </a:solidFill>
                <a:latin typeface="Roboto"/>
              </a:rPr>
              <a:t>20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u-azu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4200" y="457200"/>
            <a:ext cx="342900" cy="3429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85800" y="628650"/>
            <a:ext cx="10820400" cy="198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80" b="1" i="0" spc="160">
                <a:solidFill>
                  <a:srgbClr val="E94D1C"/>
                </a:solidFill>
                <a:latin typeface="Roboto"/>
              </a:rPr>
              <a:t>DEMONSTRAÇÃO, 90 SEGUNDOS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838200"/>
            <a:ext cx="96202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3000" b="1" i="0">
                <a:solidFill>
                  <a:srgbClr val="21049A"/>
                </a:solidFill>
                <a:latin typeface="Roboto"/>
              </a:rPr>
              <a:t>Volume nomeado e persistência</a:t>
            </a:r>
          </a:p>
          <a:p>
            <a:pPr>
              <a:lnSpc>
                <a:spcPct val="104000"/>
              </a:lnSpc>
            </a:pPr>
            <a:r>
              <a:rPr sz="3000" b="1" i="0">
                <a:solidFill>
                  <a:srgbClr val="21049A"/>
                </a:solidFill>
                <a:latin typeface="Roboto"/>
              </a:rPr>
              <a:t>entre execuções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85800" y="1964055"/>
            <a:ext cx="10820400" cy="3524250"/>
          </a:xfrm>
          <a:prstGeom prst="roundRect">
            <a:avLst>
              <a:gd name="adj" fmla="val 2162"/>
            </a:avLst>
          </a:prstGeom>
          <a:solidFill>
            <a:srgbClr val="1212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952500" y="2173605"/>
            <a:ext cx="323850" cy="28575"/>
          </a:xfrm>
          <a:prstGeom prst="roundRect">
            <a:avLst>
              <a:gd name="adj" fmla="val 50000"/>
            </a:avLst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371600" y="2116455"/>
            <a:ext cx="1905000" cy="167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19" b="0" i="0" spc="140">
                <a:solidFill>
                  <a:srgbClr val="8A8A9A"/>
                </a:solidFill>
                <a:latin typeface="Roboto"/>
              </a:rPr>
              <a:t>TERMINAL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52500" y="2459355"/>
            <a:ext cx="10287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20" b="0" i="0">
                <a:solidFill>
                  <a:srgbClr val="7FE3A1"/>
                </a:solidFill>
                <a:latin typeface="Roboto Mono"/>
              </a:rPr>
              <a:t>$ docker compose up -d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52500" y="2697480"/>
            <a:ext cx="10287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20" b="0" i="0">
                <a:solidFill>
                  <a:srgbClr val="7FE3A1"/>
                </a:solidFill>
                <a:latin typeface="Roboto Mono"/>
              </a:rPr>
              <a:t>$ docker compose ps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52500" y="2935605"/>
            <a:ext cx="10287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20" b="0" i="0">
                <a:solidFill>
                  <a:srgbClr val="E4E4EC"/>
                </a:solidFill>
                <a:latin typeface="Roboto Mono"/>
              </a:rPr>
              <a:t>NAME   IMAGE          STATUS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52500" y="3173730"/>
            <a:ext cx="10287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20" b="0" i="0">
                <a:solidFill>
                  <a:srgbClr val="E4E4EC"/>
                </a:solidFill>
                <a:latin typeface="Roboto Mono"/>
              </a:rPr>
              <a:t>web    nginx:alpine   Up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52500" y="3411855"/>
            <a:ext cx="10287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20" b="0" i="0">
                <a:solidFill>
                  <a:srgbClr val="E4E4EC"/>
                </a:solidFill>
                <a:latin typeface="Roboto Mono"/>
              </a:rPr>
              <a:t>db     postgres:16    Up (healthy)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52500" y="3649980"/>
            <a:ext cx="10287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20" b="0" i="0">
                <a:solidFill>
                  <a:srgbClr val="E4E4EC"/>
                </a:solidFill>
                <a:latin typeface="Roboto Mono"/>
              </a:rPr>
              <a:t> 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52500" y="3888105"/>
            <a:ext cx="10287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20" b="0" i="0">
                <a:solidFill>
                  <a:srgbClr val="7FE3A1"/>
                </a:solidFill>
                <a:latin typeface="Roboto Mono"/>
              </a:rPr>
              <a:t>$ docker compose run --rm client psql -h db -c "create table t(); "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52500" y="4126230"/>
            <a:ext cx="10287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20" b="0" i="0">
                <a:solidFill>
                  <a:srgbClr val="7FE3A1"/>
                </a:solidFill>
                <a:latin typeface="Roboto Mono"/>
              </a:rPr>
              <a:t>$ docker compose down &amp;&amp; docker compose up -d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52500" y="4364355"/>
            <a:ext cx="10287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20" b="0" i="0">
                <a:solidFill>
                  <a:srgbClr val="8A8A9A"/>
                </a:solidFill>
                <a:latin typeface="Roboto Mono"/>
              </a:rPr>
              <a:t># a tabela continua lá, o volume sobreviveu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52500" y="4602480"/>
            <a:ext cx="10287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20" b="0" i="0">
                <a:solidFill>
                  <a:srgbClr val="E4E4EC"/>
                </a:solidFill>
                <a:latin typeface="Roboto Mono"/>
              </a:rPr>
              <a:t> 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52500" y="4840605"/>
            <a:ext cx="10287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20" b="0" i="0">
                <a:solidFill>
                  <a:srgbClr val="7FE3A1"/>
                </a:solidFill>
                <a:latin typeface="Roboto Mono"/>
              </a:rPr>
              <a:t>$ docker compose down -v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52500" y="5078730"/>
            <a:ext cx="10287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20" b="0" i="0">
                <a:solidFill>
                  <a:srgbClr val="8A8A9A"/>
                </a:solidFill>
                <a:latin typeface="Roboto Mono"/>
              </a:rPr>
              <a:t># agora o dado some junto com o volume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85800" y="5716905"/>
            <a:ext cx="28575" cy="37719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76300" y="5697855"/>
            <a:ext cx="10629900" cy="666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120" b="0" i="0">
                <a:solidFill>
                  <a:srgbClr val="3A3A44"/>
                </a:solidFill>
                <a:latin typeface="Roboto"/>
              </a:rPr>
              <a:t>A imagem de fundo do UC003 e o CSV do UC008 não podem morrer junto com o container. A decisão de implantação volta como restrição de projeto para as camadas de cima.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85800" y="6324600"/>
            <a:ext cx="6667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6B6B78"/>
                </a:solidFill>
                <a:latin typeface="Roboto"/>
              </a:rPr>
              <a:t>Bloco D · Demonstração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477500" y="6324600"/>
            <a:ext cx="10287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>
                <a:solidFill>
                  <a:srgbClr val="21049A"/>
                </a:solidFill>
                <a:latin typeface="Roboto"/>
              </a:rPr>
              <a:t>21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1049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u-branc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4200" y="457200"/>
            <a:ext cx="342900" cy="3429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914400" y="1638300"/>
            <a:ext cx="38100" cy="1714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66800" y="1600200"/>
            <a:ext cx="85725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20" b="1" i="0" spc="160">
                <a:solidFill>
                  <a:srgbClr val="FFFFFF"/>
                </a:solidFill>
                <a:latin typeface="Roboto"/>
              </a:rPr>
              <a:t>KUBERNETES 1.24, 2022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1866900"/>
            <a:ext cx="9715500" cy="1905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</a:pPr>
            <a:r>
              <a:rPr sz="3600" b="1" i="0">
                <a:solidFill>
                  <a:srgbClr val="FFFFFF"/>
                </a:solidFill>
                <a:latin typeface="Roboto"/>
              </a:rPr>
              <a:t>A remoção do dockershim</a:t>
            </a:r>
          </a:p>
          <a:p>
            <a:pPr>
              <a:lnSpc>
                <a:spcPct val="106000"/>
              </a:lnSpc>
            </a:pPr>
            <a:r>
              <a:rPr sz="3600" b="1" i="0">
                <a:solidFill>
                  <a:srgbClr val="FFFFFF"/>
                </a:solidFill>
                <a:latin typeface="Roboto"/>
              </a:rPr>
              <a:t>no Kubernetes 1.24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4095750"/>
            <a:ext cx="85725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420" b="0" i="0">
                <a:solidFill>
                  <a:srgbClr val="E2DEF5"/>
                </a:solidFill>
                <a:latin typeface="Roboto"/>
              </a:rPr>
              <a:t>O que saiu foi o adaptador embutido que falava com o Docker Engine, não o formato das imagens. Como imagem é OCI, nada quebrou. É um caso real de substituição por compatibilidade de interface, no vocabulário da Aula 05.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6324600"/>
            <a:ext cx="6667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FFFFFF"/>
                </a:solidFill>
                <a:latin typeface="Roboto"/>
              </a:rPr>
              <a:t>Bloco D · Estudo de caso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477500" y="6324600"/>
            <a:ext cx="10287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>
                <a:solidFill>
                  <a:srgbClr val="FFFFFF"/>
                </a:solidFill>
                <a:latin typeface="Roboto"/>
              </a:rPr>
              <a:t>22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u-azu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4200" y="457200"/>
            <a:ext cx="342900" cy="3429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85800" y="628650"/>
            <a:ext cx="10820400" cy="198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80" b="1" i="0" spc="160">
                <a:solidFill>
                  <a:srgbClr val="E94D1C"/>
                </a:solidFill>
                <a:latin typeface="Roboto"/>
              </a:rPr>
              <a:t>VANTAGENS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838200"/>
            <a:ext cx="96202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3000" b="1" i="0">
                <a:solidFill>
                  <a:srgbClr val="21049A"/>
                </a:solidFill>
                <a:latin typeface="Roboto"/>
              </a:rPr>
              <a:t>Vantagens no vocabulário</a:t>
            </a:r>
          </a:p>
          <a:p>
            <a:pPr>
              <a:lnSpc>
                <a:spcPct val="104000"/>
              </a:lnSpc>
            </a:pPr>
            <a:r>
              <a:rPr sz="3000" b="1" i="0">
                <a:solidFill>
                  <a:srgbClr val="21049A"/>
                </a:solidFill>
                <a:latin typeface="Roboto"/>
              </a:rPr>
              <a:t>da Aula 03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2325243"/>
            <a:ext cx="5143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1" i="0" spc="120">
                <a:solidFill>
                  <a:srgbClr val="21049A"/>
                </a:solidFill>
                <a:latin typeface="Roboto"/>
              </a:rPr>
              <a:t>O QUE ELE CREDITA A CAMADAS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2534793"/>
            <a:ext cx="419100" cy="28575"/>
          </a:xfrm>
          <a:prstGeom prst="rect">
            <a:avLst/>
          </a:prstGeom>
          <a:solidFill>
            <a:srgbClr val="210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2830068"/>
            <a:ext cx="247650" cy="29443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50" b="1" i="0">
                <a:solidFill>
                  <a:srgbClr val="E94D1C"/>
                </a:solidFill>
                <a:latin typeface="Roboto"/>
              </a:rPr>
              <a:t>//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71550" y="2820543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80" b="1" i="0">
                <a:solidFill>
                  <a:srgbClr val="1A1A1E"/>
                </a:solidFill>
                <a:latin typeface="Roboto"/>
              </a:rPr>
              <a:t>Modularidade.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3360801"/>
            <a:ext cx="247650" cy="29443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50" b="1" i="0">
                <a:solidFill>
                  <a:srgbClr val="E94D1C"/>
                </a:solidFill>
                <a:latin typeface="Roboto"/>
              </a:rPr>
              <a:t>//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71550" y="3351276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80" b="1" i="0">
                <a:solidFill>
                  <a:srgbClr val="1A1A1E"/>
                </a:solidFill>
                <a:latin typeface="Roboto"/>
              </a:rPr>
              <a:t>Reusabilidade.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3891534"/>
            <a:ext cx="247650" cy="29443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50" b="1" i="0">
                <a:solidFill>
                  <a:srgbClr val="E94D1C"/>
                </a:solidFill>
                <a:latin typeface="Roboto"/>
              </a:rPr>
              <a:t>//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71550" y="3882009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80" b="1" i="0">
                <a:solidFill>
                  <a:srgbClr val="1A1A1E"/>
                </a:solidFill>
                <a:latin typeface="Roboto"/>
              </a:rPr>
              <a:t>Compreensibilidade.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5800" y="4422267"/>
            <a:ext cx="247650" cy="29443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50" b="1" i="0">
                <a:solidFill>
                  <a:srgbClr val="E94D1C"/>
                </a:solidFill>
                <a:latin typeface="Roboto"/>
              </a:rPr>
              <a:t>//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71550" y="4412742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80" b="1" i="0">
                <a:solidFill>
                  <a:srgbClr val="1A1A1E"/>
                </a:solidFill>
                <a:latin typeface="Roboto"/>
              </a:rPr>
              <a:t>Extensibilidade.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62700" y="2325243"/>
            <a:ext cx="5143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1" i="0" spc="120">
                <a:solidFill>
                  <a:srgbClr val="E94D1C"/>
                </a:solidFill>
                <a:latin typeface="Roboto"/>
              </a:rPr>
              <a:t>O QUE CADA UMA VIRA AQUI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362700" y="2534793"/>
            <a:ext cx="419100" cy="28575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362700" y="2830068"/>
            <a:ext cx="247650" cy="29443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50" b="1" i="0">
                <a:solidFill>
                  <a:srgbClr val="E94D1C"/>
                </a:solidFill>
                <a:latin typeface="Roboto"/>
              </a:rPr>
              <a:t>//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648450" y="2820543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80" b="0" i="0">
                <a:solidFill>
                  <a:srgbClr val="1A1A1E"/>
                </a:solidFill>
                <a:latin typeface="Roboto"/>
              </a:rPr>
              <a:t>Uma responsabilidade por imagem, com fronteira declarada.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62700" y="3624834"/>
            <a:ext cx="247650" cy="29443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50" b="1" i="0">
                <a:solidFill>
                  <a:srgbClr val="E94D1C"/>
                </a:solidFill>
                <a:latin typeface="Roboto"/>
              </a:rPr>
              <a:t>//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648450" y="3615309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80" b="0" i="0">
                <a:solidFill>
                  <a:srgbClr val="1A1A1E"/>
                </a:solidFill>
                <a:latin typeface="Roboto"/>
              </a:rPr>
              <a:t>A mesma imagem atravessa notebook, pipeline e a demonstração funcional do T3.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62700" y="4419600"/>
            <a:ext cx="247650" cy="29443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50" b="1" i="0">
                <a:solidFill>
                  <a:srgbClr val="E94D1C"/>
                </a:solidFill>
                <a:latin typeface="Roboto"/>
              </a:rPr>
              <a:t>//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648450" y="4410075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80" b="0" i="0">
                <a:solidFill>
                  <a:srgbClr val="1A1A1E"/>
                </a:solidFill>
                <a:latin typeface="Roboto"/>
              </a:rPr>
              <a:t>O ambiente vira arquivo legível, versionado junto com o código.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362700" y="5214366"/>
            <a:ext cx="247650" cy="29443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50" b="1" i="0">
                <a:solidFill>
                  <a:srgbClr val="E94D1C"/>
                </a:solidFill>
                <a:latin typeface="Roboto"/>
              </a:rPr>
              <a:t>//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648450" y="5204841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80" b="0" i="0">
                <a:solidFill>
                  <a:srgbClr val="1A1A1E"/>
                </a:solidFill>
                <a:latin typeface="Roboto"/>
              </a:rPr>
              <a:t>Trocar runtime ou banco é editar uma linha, não reinstalar quatro notebooks.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85800" y="6324600"/>
            <a:ext cx="6667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6B6B78"/>
                </a:solidFill>
                <a:latin typeface="Roboto"/>
              </a:rPr>
              <a:t>Bloco D · Vantagens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477500" y="6324600"/>
            <a:ext cx="10287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>
                <a:solidFill>
                  <a:srgbClr val="21049A"/>
                </a:solidFill>
                <a:latin typeface="Roboto"/>
              </a:rPr>
              <a:t>23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u-azu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4200" y="457200"/>
            <a:ext cx="342900" cy="3429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85800" y="628650"/>
            <a:ext cx="10820400" cy="198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80" b="1" i="0" spc="160">
                <a:solidFill>
                  <a:srgbClr val="E94D1C"/>
                </a:solidFill>
                <a:latin typeface="Roboto"/>
              </a:rPr>
              <a:t>LIMITAÇÕES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838200"/>
            <a:ext cx="96202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3000" b="1" i="0">
                <a:solidFill>
                  <a:srgbClr val="21049A"/>
                </a:solidFill>
                <a:latin typeface="Roboto"/>
              </a:rPr>
              <a:t>Limitações e custos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2479929"/>
            <a:ext cx="247650" cy="30845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20" b="1" i="0">
                <a:solidFill>
                  <a:srgbClr val="E94D1C"/>
                </a:solidFill>
                <a:latin typeface="Roboto"/>
              </a:rPr>
              <a:t>//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71550" y="2470404"/>
            <a:ext cx="777240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650" b="0" i="0">
                <a:solidFill>
                  <a:srgbClr val="1A1A1E"/>
                </a:solidFill>
                <a:latin typeface="Roboto"/>
              </a:rPr>
              <a:t>O daemon roda como root. Estar no grupo docker equivale a root no host, sem sudo e sem trilha de auditoria.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3318891"/>
            <a:ext cx="247650" cy="30845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20" b="1" i="0">
                <a:solidFill>
                  <a:srgbClr val="E94D1C"/>
                </a:solidFill>
                <a:latin typeface="Roboto"/>
              </a:rPr>
              <a:t>//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71550" y="3309366"/>
            <a:ext cx="777240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650" b="0" i="0">
                <a:solidFill>
                  <a:srgbClr val="1A1A1E"/>
                </a:solidFill>
                <a:latin typeface="Roboto"/>
              </a:rPr>
              <a:t>O Docker escreve a regra de DNAT antes das regras do administrador, então um deny de firewall na porta publicada não bloqueia nada.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4157853"/>
            <a:ext cx="247650" cy="30845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20" b="1" i="0">
                <a:solidFill>
                  <a:srgbClr val="E94D1C"/>
                </a:solidFill>
                <a:latin typeface="Roboto"/>
              </a:rPr>
              <a:t>//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71550" y="4148328"/>
            <a:ext cx="777240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650" b="0" i="0">
                <a:solidFill>
                  <a:srgbClr val="1A1A1E"/>
                </a:solidFill>
                <a:latin typeface="Roboto"/>
              </a:rPr>
              <a:t>I/O de bind mount atravessando a fronteira da máquina virtual no WSL2.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4720209"/>
            <a:ext cx="247650" cy="30845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20" b="1" i="0">
                <a:solidFill>
                  <a:srgbClr val="E94D1C"/>
                </a:solidFill>
                <a:latin typeface="Roboto"/>
              </a:rPr>
              <a:t>//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71550" y="4710684"/>
            <a:ext cx="777240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650" b="0" i="0">
                <a:solidFill>
                  <a:srgbClr val="1A1A1E"/>
                </a:solidFill>
                <a:latin typeface="Roboto"/>
              </a:rPr>
              <a:t>Estado, que traz junto backup e upgrade de versão maior do banco.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5800" y="5282565"/>
            <a:ext cx="247650" cy="30845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20" b="1" i="0">
                <a:solidFill>
                  <a:srgbClr val="E94D1C"/>
                </a:solidFill>
                <a:latin typeface="Roboto"/>
              </a:rPr>
              <a:t>//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71550" y="5273040"/>
            <a:ext cx="777240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650" b="0" i="0">
                <a:solidFill>
                  <a:srgbClr val="1A1A1E"/>
                </a:solidFill>
                <a:latin typeface="Roboto"/>
              </a:rPr>
              <a:t>Licenciamento do Docker Desktop.</a:t>
            </a:r>
          </a:p>
        </p:txBody>
      </p:sp>
      <p:sp>
        <p:nvSpPr>
          <p:cNvPr id="15" name="Isosceles Triangle 14"/>
          <p:cNvSpPr/>
          <p:nvPr/>
        </p:nvSpPr>
        <p:spPr>
          <a:xfrm>
            <a:off x="9124950" y="2470404"/>
            <a:ext cx="152400" cy="133350"/>
          </a:xfrm>
          <a:prstGeom prst="triangle">
            <a:avLst/>
          </a:prstGeom>
          <a:noFill/>
          <a:ln w="19050">
            <a:solidFill>
              <a:srgbClr val="E94D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9193530" y="2527554"/>
            <a:ext cx="15240" cy="3810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372600" y="2479929"/>
            <a:ext cx="21336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1" i="0" spc="120">
                <a:solidFill>
                  <a:srgbClr val="E94D1C"/>
                </a:solidFill>
                <a:latin typeface="Roboto"/>
              </a:rPr>
              <a:t>REGRA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124950" y="2756154"/>
            <a:ext cx="38100" cy="804672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334500" y="2756154"/>
            <a:ext cx="2171700" cy="13761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  <a:spcAft>
                <a:spcPts val="600"/>
              </a:spcAft>
            </a:pPr>
            <a:r>
              <a:rPr sz="1200" b="0" i="0">
                <a:solidFill>
                  <a:srgbClr val="3A3A44"/>
                </a:solidFill>
                <a:latin typeface="Roboto"/>
              </a:rPr>
              <a:t>Nenhum número entra neste slide sem medição feita pelo time, com o modelo da máquina e a data.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85800" y="6324600"/>
            <a:ext cx="6667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6B6B78"/>
                </a:solidFill>
                <a:latin typeface="Roboto"/>
              </a:rPr>
              <a:t>Bloco D · Limitações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477500" y="6324600"/>
            <a:ext cx="10287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>
                <a:solidFill>
                  <a:srgbClr val="21049A"/>
                </a:solidFill>
                <a:latin typeface="Roboto"/>
              </a:rPr>
              <a:t>24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u-azu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4200" y="457200"/>
            <a:ext cx="342900" cy="3429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85800" y="628650"/>
            <a:ext cx="10820400" cy="198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80" b="1" i="0" spc="160">
                <a:solidFill>
                  <a:srgbClr val="E94D1C"/>
                </a:solidFill>
                <a:latin typeface="Roboto"/>
              </a:rPr>
              <a:t>CONTAINER E MÁQUINA VIRTUAL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838200"/>
            <a:ext cx="96202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2400" b="1" i="0">
                <a:solidFill>
                  <a:srgbClr val="21049A"/>
                </a:solidFill>
                <a:latin typeface="Roboto"/>
              </a:rPr>
              <a:t>Comparação pela</a:t>
            </a:r>
          </a:p>
          <a:p>
            <a:pPr>
              <a:lnSpc>
                <a:spcPct val="104000"/>
              </a:lnSpc>
            </a:pPr>
            <a:r>
              <a:rPr sz="2400" b="1" i="0">
                <a:solidFill>
                  <a:srgbClr val="21049A"/>
                </a:solidFill>
                <a:latin typeface="Roboto"/>
              </a:rPr>
              <a:t>superfície de ataque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2722626"/>
            <a:ext cx="5143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1" i="0" spc="120">
                <a:solidFill>
                  <a:srgbClr val="21049A"/>
                </a:solidFill>
                <a:latin typeface="Roboto"/>
              </a:rPr>
              <a:t>MÁQUINA VIRTUAL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2932176"/>
            <a:ext cx="419100" cy="28575"/>
          </a:xfrm>
          <a:prstGeom prst="rect">
            <a:avLst/>
          </a:prstGeom>
          <a:solidFill>
            <a:srgbClr val="210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3227451"/>
            <a:ext cx="247650" cy="29443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50" b="1" i="0">
                <a:solidFill>
                  <a:srgbClr val="E94D1C"/>
                </a:solidFill>
                <a:latin typeface="Roboto"/>
              </a:rPr>
              <a:t>//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71550" y="3217926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80" b="0" i="0">
                <a:solidFill>
                  <a:srgbClr val="1A1A1E"/>
                </a:solidFill>
                <a:latin typeface="Roboto"/>
              </a:rPr>
              <a:t>Kernel próprio.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3758184"/>
            <a:ext cx="247650" cy="29443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50" b="1" i="0">
                <a:solidFill>
                  <a:srgbClr val="E94D1C"/>
                </a:solidFill>
                <a:latin typeface="Roboto"/>
              </a:rPr>
              <a:t>//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71550" y="3748659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80" b="0" i="0">
                <a:solidFill>
                  <a:srgbClr val="1A1A1E"/>
                </a:solidFill>
                <a:latin typeface="Roboto"/>
              </a:rPr>
              <a:t>Fronteira imposta em hardware.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4288917"/>
            <a:ext cx="247650" cy="29443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50" b="1" i="0">
                <a:solidFill>
                  <a:srgbClr val="E94D1C"/>
                </a:solidFill>
                <a:latin typeface="Roboto"/>
              </a:rPr>
              <a:t>//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71550" y="4279392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80" b="0" i="0">
                <a:solidFill>
                  <a:srgbClr val="1A1A1E"/>
                </a:solidFill>
                <a:latin typeface="Roboto"/>
              </a:rPr>
              <a:t>Superfície relativamente estreita.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362700" y="2722626"/>
            <a:ext cx="5143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1" i="0" spc="120">
                <a:solidFill>
                  <a:srgbClr val="E94D1C"/>
                </a:solidFill>
                <a:latin typeface="Roboto"/>
              </a:rPr>
              <a:t>CONTAINER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362700" y="2932176"/>
            <a:ext cx="419100" cy="28575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362700" y="3227451"/>
            <a:ext cx="247650" cy="29443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50" b="1" i="0">
                <a:solidFill>
                  <a:srgbClr val="E94D1C"/>
                </a:solidFill>
                <a:latin typeface="Roboto"/>
              </a:rPr>
              <a:t>//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648450" y="3217926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80" b="0" i="0">
                <a:solidFill>
                  <a:srgbClr val="1A1A1E"/>
                </a:solidFill>
                <a:latin typeface="Roboto"/>
              </a:rPr>
              <a:t>Compartilha o kernel do host.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62700" y="3758184"/>
            <a:ext cx="247650" cy="29443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50" b="1" i="0">
                <a:solidFill>
                  <a:srgbClr val="E94D1C"/>
                </a:solidFill>
                <a:latin typeface="Roboto"/>
              </a:rPr>
              <a:t>//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648450" y="3748659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80" b="0" i="0">
                <a:solidFill>
                  <a:srgbClr val="1A1A1E"/>
                </a:solidFill>
                <a:latin typeface="Roboto"/>
              </a:rPr>
              <a:t>A fronteira é a interface de chamadas de sistema, mais de trezentas, mais /proc, /sys e ioctl.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62700" y="4552950"/>
            <a:ext cx="247650" cy="29443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50" b="1" i="0">
                <a:solidFill>
                  <a:srgbClr val="E94D1C"/>
                </a:solidFill>
                <a:latin typeface="Roboto"/>
              </a:rPr>
              <a:t>//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648450" y="4543425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80" b="0" i="0">
                <a:solidFill>
                  <a:srgbClr val="1A1A1E"/>
                </a:solidFill>
                <a:latin typeface="Roboto"/>
              </a:rPr>
              <a:t>CVE-2019-5736 no runc: o processo de dentro sobrescrevia o binário do runtime pelo /proc/self/exe.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85800" y="6324600"/>
            <a:ext cx="6667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6B6B78"/>
                </a:solidFill>
                <a:latin typeface="Roboto"/>
              </a:rPr>
              <a:t>Bloco D · Segurança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477500" y="6324600"/>
            <a:ext cx="10287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>
                <a:solidFill>
                  <a:srgbClr val="21049A"/>
                </a:solidFill>
                <a:latin typeface="Roboto"/>
              </a:rPr>
              <a:t>25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u-azu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4200" y="457200"/>
            <a:ext cx="342900" cy="3429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85800" y="628650"/>
            <a:ext cx="10820400" cy="198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80" b="1" i="0" spc="160">
                <a:solidFill>
                  <a:srgbClr val="E94D1C"/>
                </a:solidFill>
                <a:latin typeface="Roboto"/>
              </a:rPr>
              <a:t>ALTERNATIVAS CONSIDERADAS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838200"/>
            <a:ext cx="96202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3000" b="1" i="0">
                <a:solidFill>
                  <a:srgbClr val="21049A"/>
                </a:solidFill>
                <a:latin typeface="Roboto"/>
              </a:rPr>
              <a:t>Comparação com as outras opções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2864739"/>
            <a:ext cx="2190750" cy="167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19" b="1" i="0" spc="120">
                <a:solidFill>
                  <a:srgbClr val="21049A"/>
                </a:solidFill>
                <a:latin typeface="Roboto"/>
              </a:rPr>
              <a:t>OPÇÃO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048000" y="2864739"/>
            <a:ext cx="3429000" cy="167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19" b="1" i="0" spc="120">
                <a:solidFill>
                  <a:srgbClr val="21049A"/>
                </a:solidFill>
                <a:latin typeface="Roboto"/>
              </a:rPr>
              <a:t>A FAVOR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667500" y="2864739"/>
            <a:ext cx="4762500" cy="167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19" b="1" i="0" spc="120">
                <a:solidFill>
                  <a:srgbClr val="21049A"/>
                </a:solidFill>
                <a:latin typeface="Roboto"/>
              </a:rPr>
              <a:t>CONTRA</a:t>
            </a:r>
          </a:p>
        </p:txBody>
      </p:sp>
      <p:sp>
        <p:nvSpPr>
          <p:cNvPr id="8" name="Rectangle 7"/>
          <p:cNvSpPr/>
          <p:nvPr/>
        </p:nvSpPr>
        <p:spPr>
          <a:xfrm>
            <a:off x="685800" y="3093339"/>
            <a:ext cx="10820400" cy="19050"/>
          </a:xfrm>
          <a:prstGeom prst="rect">
            <a:avLst/>
          </a:prstGeom>
          <a:solidFill>
            <a:srgbClr val="210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3245739"/>
            <a:ext cx="20193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50" b="1" i="0">
                <a:solidFill>
                  <a:srgbClr val="21049A"/>
                </a:solidFill>
                <a:latin typeface="Roboto"/>
              </a:rPr>
              <a:t>README nativo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048000" y="3245739"/>
            <a:ext cx="325755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80" b="0" i="0">
                <a:solidFill>
                  <a:srgbClr val="1A1A1E"/>
                </a:solidFill>
                <a:latin typeface="Roboto"/>
              </a:rPr>
              <a:t>Custo zero para começar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667500" y="3245739"/>
            <a:ext cx="459105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80" b="0" i="0">
                <a:solidFill>
                  <a:srgbClr val="1A1A1E"/>
                </a:solidFill>
                <a:latin typeface="Roboto"/>
              </a:rPr>
              <a:t>Quebra na primeira divergência de versão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85800" y="3570732"/>
            <a:ext cx="10820400" cy="9525"/>
          </a:xfrm>
          <a:prstGeom prst="rect">
            <a:avLst/>
          </a:prstGeom>
          <a:solidFill>
            <a:srgbClr val="EDED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85800" y="3694557"/>
            <a:ext cx="20193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50" b="1" i="0">
                <a:solidFill>
                  <a:srgbClr val="21049A"/>
                </a:solidFill>
                <a:latin typeface="Roboto"/>
              </a:rPr>
              <a:t>VM compartilhada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048000" y="3694557"/>
            <a:ext cx="325755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80" b="0" i="0">
                <a:solidFill>
                  <a:srgbClr val="1A1A1E"/>
                </a:solidFill>
                <a:latin typeface="Roboto"/>
              </a:rPr>
              <a:t>Isola de verdade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667500" y="3694557"/>
            <a:ext cx="459105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80" b="0" i="0">
                <a:solidFill>
                  <a:srgbClr val="1A1A1E"/>
                </a:solidFill>
                <a:latin typeface="Roboto"/>
              </a:rPr>
              <a:t>Pesada e difícil de versionar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85800" y="4019550"/>
            <a:ext cx="10820400" cy="9525"/>
          </a:xfrm>
          <a:prstGeom prst="rect">
            <a:avLst/>
          </a:prstGeom>
          <a:solidFill>
            <a:srgbClr val="EDED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85800" y="4143375"/>
            <a:ext cx="20193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50" b="1" i="0">
                <a:solidFill>
                  <a:srgbClr val="21049A"/>
                </a:solidFill>
                <a:latin typeface="Roboto"/>
              </a:rPr>
              <a:t>Podman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048000" y="4143375"/>
            <a:ext cx="325755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80" b="0" i="0">
                <a:solidFill>
                  <a:srgbClr val="1A1A1E"/>
                </a:solidFill>
                <a:latin typeface="Roboto"/>
              </a:rPr>
              <a:t>Mesmo modelo, sem daemon root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667500" y="4143375"/>
            <a:ext cx="459105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80" b="0" i="0">
                <a:solidFill>
                  <a:srgbClr val="1A1A1E"/>
                </a:solidFill>
                <a:latin typeface="Roboto"/>
              </a:rPr>
              <a:t>Menos material e menos gente do time conhece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85800" y="4468368"/>
            <a:ext cx="10820400" cy="9525"/>
          </a:xfrm>
          <a:prstGeom prst="rect">
            <a:avLst/>
          </a:prstGeom>
          <a:solidFill>
            <a:srgbClr val="EDED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571500" y="4535043"/>
            <a:ext cx="28575" cy="3238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85800" y="4592193"/>
            <a:ext cx="20193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50" b="1" i="0">
                <a:solidFill>
                  <a:srgbClr val="E94D1C"/>
                </a:solidFill>
                <a:latin typeface="Roboto"/>
              </a:rPr>
              <a:t>Compose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048000" y="4592193"/>
            <a:ext cx="325755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80" b="0" i="0">
                <a:solidFill>
                  <a:srgbClr val="1A1A1E"/>
                </a:solidFill>
                <a:latin typeface="Roboto"/>
              </a:rPr>
              <a:t>Escolhido, com o custo declarado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667500" y="4592193"/>
            <a:ext cx="459105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80" b="0" i="0">
                <a:solidFill>
                  <a:srgbClr val="1A1A1E"/>
                </a:solidFill>
                <a:latin typeface="Roboto"/>
              </a:rPr>
              <a:t>Move complexidade em vez de apagá-la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85800" y="4917186"/>
            <a:ext cx="10820400" cy="9525"/>
          </a:xfrm>
          <a:prstGeom prst="rect">
            <a:avLst/>
          </a:prstGeom>
          <a:solidFill>
            <a:srgbClr val="EDED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85800" y="6324600"/>
            <a:ext cx="6667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6B6B78"/>
                </a:solidFill>
                <a:latin typeface="Roboto"/>
              </a:rPr>
              <a:t>Bloco D · Alternativas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477500" y="6324600"/>
            <a:ext cx="10287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>
                <a:solidFill>
                  <a:srgbClr val="21049A"/>
                </a:solidFill>
                <a:latin typeface="Roboto"/>
              </a:rPr>
              <a:t>26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u-azu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4200" y="457200"/>
            <a:ext cx="342900" cy="3429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85800" y="628650"/>
            <a:ext cx="10820400" cy="198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80" b="1" i="0" spc="160">
                <a:solidFill>
                  <a:srgbClr val="E94D1C"/>
                </a:solidFill>
                <a:latin typeface="Roboto"/>
              </a:rPr>
              <a:t>QUANDO NÃO COMPENSA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838200"/>
            <a:ext cx="96202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2550" b="1" i="0">
                <a:solidFill>
                  <a:srgbClr val="21049A"/>
                </a:solidFill>
                <a:latin typeface="Roboto"/>
              </a:rPr>
              <a:t>Critérios de contraindicação</a:t>
            </a:r>
          </a:p>
          <a:p>
            <a:pPr>
              <a:lnSpc>
                <a:spcPct val="104000"/>
              </a:lnSpc>
            </a:pPr>
            <a:r>
              <a:rPr sz="2550" b="1" i="0">
                <a:solidFill>
                  <a:srgbClr val="21049A"/>
                </a:solidFill>
                <a:latin typeface="Roboto"/>
              </a:rPr>
              <a:t>e a nossa situação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2194560"/>
            <a:ext cx="5143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1" i="0" spc="120">
                <a:solidFill>
                  <a:srgbClr val="21049A"/>
                </a:solidFill>
                <a:latin typeface="Roboto"/>
              </a:rPr>
              <a:t>QUANDO NÃO COMPENSA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2404110"/>
            <a:ext cx="419100" cy="28575"/>
          </a:xfrm>
          <a:prstGeom prst="rect">
            <a:avLst/>
          </a:prstGeom>
          <a:solidFill>
            <a:srgbClr val="210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2699385"/>
            <a:ext cx="247650" cy="29443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50" b="1" i="0">
                <a:solidFill>
                  <a:srgbClr val="E94D1C"/>
                </a:solidFill>
                <a:latin typeface="Roboto"/>
              </a:rPr>
              <a:t>//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71550" y="2689860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80" b="0" i="0">
                <a:solidFill>
                  <a:srgbClr val="1A1A1E"/>
                </a:solidFill>
                <a:latin typeface="Roboto"/>
              </a:rPr>
              <a:t>Monolito num servidor que nunca escala.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3230118"/>
            <a:ext cx="247650" cy="29443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50" b="1" i="0">
                <a:solidFill>
                  <a:srgbClr val="E94D1C"/>
                </a:solidFill>
                <a:latin typeface="Roboto"/>
              </a:rPr>
              <a:t>//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71550" y="3220593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80" b="0" i="0">
                <a:solidFill>
                  <a:srgbClr val="1A1A1E"/>
                </a:solidFill>
                <a:latin typeface="Roboto"/>
              </a:rPr>
              <a:t>Time sem integração contínua, que só ganha um passo de build a mais.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4024884"/>
            <a:ext cx="247650" cy="29443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50" b="1" i="0">
                <a:solidFill>
                  <a:srgbClr val="E94D1C"/>
                </a:solidFill>
                <a:latin typeface="Roboto"/>
              </a:rPr>
              <a:t>//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71550" y="4015359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80" b="0" i="0">
                <a:solidFill>
                  <a:srgbClr val="1A1A1E"/>
                </a:solidFill>
                <a:latin typeface="Roboto"/>
              </a:rPr>
              <a:t>Aplicação sensível a latência de cauda.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5800" y="4555617"/>
            <a:ext cx="247650" cy="29443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50" b="1" i="0">
                <a:solidFill>
                  <a:srgbClr val="E94D1C"/>
                </a:solidFill>
                <a:latin typeface="Roboto"/>
              </a:rPr>
              <a:t>//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71550" y="4546092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80" b="0" i="0">
                <a:solidFill>
                  <a:srgbClr val="1A1A1E"/>
                </a:solidFill>
                <a:latin typeface="Roboto"/>
              </a:rPr>
              <a:t>Sistema dominado por estado.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62700" y="2194560"/>
            <a:ext cx="5143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1" i="0" spc="120">
                <a:solidFill>
                  <a:srgbClr val="E94D1C"/>
                </a:solidFill>
                <a:latin typeface="Roboto"/>
              </a:rPr>
              <a:t>ONDE NÓS ESTAMOS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362700" y="2404110"/>
            <a:ext cx="419100" cy="28575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362700" y="2699385"/>
            <a:ext cx="247650" cy="29443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50" b="1" i="0">
                <a:solidFill>
                  <a:srgbClr val="E94D1C"/>
                </a:solidFill>
                <a:latin typeface="Roboto"/>
              </a:rPr>
              <a:t>//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648450" y="2689860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80" b="0" i="0">
                <a:solidFill>
                  <a:srgbClr val="1A1A1E"/>
                </a:solidFill>
                <a:latin typeface="Roboto"/>
              </a:rPr>
              <a:t>Não temos integração contínua definida nem hospedagem decidida, então dois dos critérios ao lado se aplicam a nós.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62700" y="3758184"/>
            <a:ext cx="247650" cy="29443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50" b="1" i="0">
                <a:solidFill>
                  <a:srgbClr val="E94D1C"/>
                </a:solidFill>
                <a:latin typeface="Roboto"/>
              </a:rPr>
              <a:t>//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648450" y="3748659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80" b="0" i="0">
                <a:solidFill>
                  <a:srgbClr val="1A1A1E"/>
                </a:solidFill>
                <a:latin typeface="Roboto"/>
              </a:rPr>
              <a:t>O motivo que resta é o ambiente igual para quatro integrantes com stacks diferentes, com o banco rodando sem instalação local, antes de escrever a primeira linha.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62700" y="5081016"/>
            <a:ext cx="247650" cy="29443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50" b="1" i="0">
                <a:solidFill>
                  <a:srgbClr val="E94D1C"/>
                </a:solidFill>
                <a:latin typeface="Roboto"/>
              </a:rPr>
              <a:t>//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648450" y="5071491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80" b="0" i="0">
                <a:solidFill>
                  <a:srgbClr val="1A1A1E"/>
                </a:solidFill>
                <a:latin typeface="Roboto"/>
              </a:rPr>
              <a:t>Compose é de host único. O MVP cabe num host. Kubernetes entraria com múltiplos nós, e é tema de outro grupo.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85800" y="6324600"/>
            <a:ext cx="6667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6B6B78"/>
                </a:solidFill>
                <a:latin typeface="Roboto"/>
              </a:rPr>
              <a:t>Bloco D · Honestidade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477500" y="6324600"/>
            <a:ext cx="10287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>
                <a:solidFill>
                  <a:srgbClr val="21049A"/>
                </a:solidFill>
                <a:latin typeface="Roboto"/>
              </a:rPr>
              <a:t>27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u-azu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4200" y="457200"/>
            <a:ext cx="342900" cy="3429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85800" y="628650"/>
            <a:ext cx="10820400" cy="198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80" b="1" i="0" spc="160">
                <a:solidFill>
                  <a:srgbClr val="E94D1C"/>
                </a:solidFill>
                <a:latin typeface="Roboto"/>
              </a:rPr>
              <a:t>O BALANÇO DO TIME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838200"/>
            <a:ext cx="96202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2550" b="1" i="0">
                <a:solidFill>
                  <a:srgbClr val="21049A"/>
                </a:solidFill>
                <a:latin typeface="Roboto"/>
              </a:rPr>
              <a:t>Ganho e custo, nos quatro atributos</a:t>
            </a:r>
          </a:p>
          <a:p>
            <a:pPr>
              <a:lnSpc>
                <a:spcPct val="104000"/>
              </a:lnSpc>
            </a:pPr>
            <a:r>
              <a:rPr sz="2550" b="1" i="0">
                <a:solidFill>
                  <a:srgbClr val="21049A"/>
                </a:solidFill>
                <a:latin typeface="Roboto"/>
              </a:rPr>
              <a:t>das Questões Norteadoras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2854642"/>
            <a:ext cx="5143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1" i="0" spc="120">
                <a:solidFill>
                  <a:srgbClr val="21049A"/>
                </a:solidFill>
                <a:latin typeface="Roboto"/>
              </a:rPr>
              <a:t>GANHA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3064192"/>
            <a:ext cx="419100" cy="28575"/>
          </a:xfrm>
          <a:prstGeom prst="rect">
            <a:avLst/>
          </a:prstGeom>
          <a:solidFill>
            <a:srgbClr val="210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3359468"/>
            <a:ext cx="247650" cy="29443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50" b="1" i="0">
                <a:solidFill>
                  <a:srgbClr val="E94D1C"/>
                </a:solidFill>
                <a:latin typeface="Roboto"/>
              </a:rPr>
              <a:t>//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71550" y="3349942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80" b="1" i="0">
                <a:solidFill>
                  <a:srgbClr val="1A1A1E"/>
                </a:solidFill>
                <a:latin typeface="Roboto"/>
              </a:rPr>
              <a:t>Manutenibilidade.</a:t>
            </a:r>
            <a:r>
              <a:rPr sz="1580" b="0" i="0">
                <a:solidFill>
                  <a:srgbClr val="1A1A1E"/>
                </a:solidFill>
                <a:latin typeface="Roboto"/>
              </a:rPr>
              <a:t> O ambiente passa a ser versionado junto com o código.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4154234"/>
            <a:ext cx="247650" cy="29443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50" b="1" i="0">
                <a:solidFill>
                  <a:srgbClr val="E94D1C"/>
                </a:solidFill>
                <a:latin typeface="Roboto"/>
              </a:rPr>
              <a:t>//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71550" y="4144708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80" b="1" i="0">
                <a:solidFill>
                  <a:srgbClr val="1A1A1E"/>
                </a:solidFill>
                <a:latin typeface="Roboto"/>
              </a:rPr>
              <a:t>Escalabilidade,</a:t>
            </a:r>
            <a:r>
              <a:rPr sz="1580" b="0" i="0">
                <a:solidFill>
                  <a:srgbClr val="1A1A1E"/>
                </a:solidFill>
                <a:latin typeface="Roboto"/>
              </a:rPr>
              <a:t> de forma seletiva, e isso impõe que a aplicação seja mesmo sem estado.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4948999"/>
            <a:ext cx="247650" cy="29443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50" b="1" i="0">
                <a:solidFill>
                  <a:srgbClr val="E94D1C"/>
                </a:solidFill>
                <a:latin typeface="Roboto"/>
              </a:rPr>
              <a:t>//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71550" y="4939474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80" b="1" i="0">
                <a:solidFill>
                  <a:srgbClr val="1A1A1E"/>
                </a:solidFill>
                <a:latin typeface="Roboto"/>
              </a:rPr>
              <a:t>Segurança.</a:t>
            </a:r>
            <a:r>
              <a:rPr sz="1580" b="0" i="0">
                <a:solidFill>
                  <a:srgbClr val="1A1A1E"/>
                </a:solidFill>
                <a:latin typeface="Roboto"/>
              </a:rPr>
              <a:t> Ganha isolamento.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362700" y="2854642"/>
            <a:ext cx="5143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1" i="0" spc="120">
                <a:solidFill>
                  <a:srgbClr val="E94D1C"/>
                </a:solidFill>
                <a:latin typeface="Roboto"/>
              </a:rPr>
              <a:t>CUSTA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362700" y="3064192"/>
            <a:ext cx="419100" cy="28575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362700" y="3359468"/>
            <a:ext cx="247650" cy="29443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50" b="1" i="0">
                <a:solidFill>
                  <a:srgbClr val="E94D1C"/>
                </a:solidFill>
                <a:latin typeface="Roboto"/>
              </a:rPr>
              <a:t>//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648450" y="3349942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80" b="1" i="0">
                <a:solidFill>
                  <a:srgbClr val="1A1A1E"/>
                </a:solidFill>
                <a:latin typeface="Roboto"/>
              </a:rPr>
              <a:t>Segurança.</a:t>
            </a:r>
            <a:r>
              <a:rPr sz="1580" b="0" i="0">
                <a:solidFill>
                  <a:srgbClr val="1A1A1E"/>
                </a:solidFill>
                <a:latin typeface="Roboto"/>
              </a:rPr>
              <a:t> Herda uma superfície nova: imagem base e privilégio de execução.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62700" y="4154234"/>
            <a:ext cx="247650" cy="29443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50" b="1" i="0">
                <a:solidFill>
                  <a:srgbClr val="E94D1C"/>
                </a:solidFill>
                <a:latin typeface="Roboto"/>
              </a:rPr>
              <a:t>//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648450" y="4144708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80" b="1" i="0">
                <a:solidFill>
                  <a:srgbClr val="1A1A1E"/>
                </a:solidFill>
                <a:latin typeface="Roboto"/>
              </a:rPr>
              <a:t>Desempenho.</a:t>
            </a:r>
            <a:r>
              <a:rPr sz="1580" b="0" i="0">
                <a:solidFill>
                  <a:srgbClr val="1A1A1E"/>
                </a:solidFill>
                <a:latin typeface="Roboto"/>
              </a:rPr>
              <a:t> Principalmente I/O nas máquinas Windows. A Aula 03 já avisa que camada extra prejudica desempenho.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85800" y="6324600"/>
            <a:ext cx="6667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6B6B78"/>
                </a:solidFill>
                <a:latin typeface="Roboto"/>
              </a:rPr>
              <a:t>Bloco D · Considerações finais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477500" y="6324600"/>
            <a:ext cx="10287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>
                <a:solidFill>
                  <a:srgbClr val="21049A"/>
                </a:solidFill>
                <a:latin typeface="Roboto"/>
              </a:rPr>
              <a:t>28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u-azu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4200" y="457200"/>
            <a:ext cx="342900" cy="3429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85800" y="628650"/>
            <a:ext cx="10820400" cy="198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80" b="1" i="0" spc="160">
                <a:solidFill>
                  <a:srgbClr val="E94D1C"/>
                </a:solidFill>
                <a:latin typeface="Roboto"/>
              </a:rPr>
              <a:t>RECOMENDAÇÃO PARA O ADR #63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838200"/>
            <a:ext cx="96202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3000" b="1" i="0">
                <a:solidFill>
                  <a:srgbClr val="21049A"/>
                </a:solidFill>
                <a:latin typeface="Roboto"/>
              </a:rPr>
              <a:t>Recomendação do grupo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2903982"/>
            <a:ext cx="247650" cy="30845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20" b="1" i="0">
                <a:solidFill>
                  <a:srgbClr val="E94D1C"/>
                </a:solidFill>
                <a:latin typeface="Roboto"/>
              </a:rPr>
              <a:t>//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71550" y="2894457"/>
            <a:ext cx="76771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650" b="0" i="0">
                <a:solidFill>
                  <a:srgbClr val="1A1A1E"/>
                </a:solidFill>
                <a:latin typeface="Roboto"/>
              </a:rPr>
              <a:t>Adotamos conteinerização como estratégia de empacotamento e de ambiente de desenvolvimento, registrada como troca.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3742944"/>
            <a:ext cx="247650" cy="30845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20" b="1" i="0">
                <a:solidFill>
                  <a:srgbClr val="E94D1C"/>
                </a:solidFill>
                <a:latin typeface="Roboto"/>
              </a:rPr>
              <a:t>//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71550" y="3733419"/>
            <a:ext cx="76771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650" b="0" i="0">
                <a:solidFill>
                  <a:srgbClr val="1A1A1E"/>
                </a:solidFill>
                <a:latin typeface="Roboto"/>
              </a:rPr>
              <a:t>O #60 deixa de ser caixa genérica e passa a ter um arquivo correspondente que roda, e esse arquivo vira artefato do repositório.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4581906"/>
            <a:ext cx="247650" cy="30845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20" b="1" i="0">
                <a:solidFill>
                  <a:srgbClr val="E94D1C"/>
                </a:solidFill>
                <a:latin typeface="Roboto"/>
              </a:rPr>
              <a:t>//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71550" y="4572381"/>
            <a:ext cx="76771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650" b="0" i="0">
                <a:solidFill>
                  <a:srgbClr val="1A1A1E"/>
                </a:solidFill>
                <a:latin typeface="Roboto"/>
              </a:rPr>
              <a:t>A stack ainda não está decidida. Com Dockerfile, trocar runtime ou banco é editar uma linha de arquivo em vez de reinstalar em quatro notebooks.</a:t>
            </a:r>
          </a:p>
        </p:txBody>
      </p:sp>
      <p:sp>
        <p:nvSpPr>
          <p:cNvPr id="11" name="Chevron 10"/>
          <p:cNvSpPr/>
          <p:nvPr/>
        </p:nvSpPr>
        <p:spPr>
          <a:xfrm>
            <a:off x="9124950" y="2903982"/>
            <a:ext cx="142875" cy="123825"/>
          </a:xfrm>
          <a:prstGeom prst="chevron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372600" y="2903982"/>
            <a:ext cx="21336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1" i="0" spc="120">
                <a:solidFill>
                  <a:srgbClr val="E94D1C"/>
                </a:solidFill>
                <a:latin typeface="Roboto"/>
              </a:rPr>
              <a:t>PRÓXIMO PASSO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124950" y="3180207"/>
            <a:ext cx="38100" cy="100584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334500" y="3180207"/>
            <a:ext cx="2171700" cy="15773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  <a:spcAft>
                <a:spcPts val="600"/>
              </a:spcAft>
            </a:pPr>
            <a:r>
              <a:rPr sz="1200" b="0" i="0">
                <a:solidFill>
                  <a:srgbClr val="3A3A44"/>
                </a:solidFill>
                <a:latin typeface="Roboto"/>
              </a:rPr>
              <a:t>Insumo direto da Sprint 3, que começa no dia 15 e tem como objetivo declarado definir as tecnologias e os mecanismos da implementação.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5800" y="6324600"/>
            <a:ext cx="6667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6B6B78"/>
                </a:solidFill>
                <a:latin typeface="Roboto"/>
              </a:rPr>
              <a:t>Bloco D · Considerações finais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477500" y="6324600"/>
            <a:ext cx="10287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>
                <a:solidFill>
                  <a:srgbClr val="21049A"/>
                </a:solidFill>
                <a:latin typeface="Roboto"/>
              </a:rPr>
              <a:t>29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u-azu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4200" y="457200"/>
            <a:ext cx="342900" cy="3429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85800" y="628650"/>
            <a:ext cx="10820400" cy="198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80" b="1" i="0" spc="160">
                <a:solidFill>
                  <a:srgbClr val="E94D1C"/>
                </a:solidFill>
                <a:latin typeface="Roboto"/>
              </a:rPr>
              <a:t>RETOMANDO A EVIDÊNCIA INICIAL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838200"/>
            <a:ext cx="96202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3000" b="1" i="0">
                <a:solidFill>
                  <a:srgbClr val="21049A"/>
                </a:solidFill>
                <a:latin typeface="Roboto"/>
              </a:rPr>
              <a:t>Do problema de ambiente</a:t>
            </a:r>
          </a:p>
          <a:p>
            <a:pPr>
              <a:lnSpc>
                <a:spcPct val="104000"/>
              </a:lnSpc>
            </a:pPr>
            <a:r>
              <a:rPr sz="3000" b="1" i="0">
                <a:solidFill>
                  <a:srgbClr val="21049A"/>
                </a:solidFill>
                <a:latin typeface="Roboto"/>
              </a:rPr>
              <a:t>ao arquivo de compose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3120009"/>
            <a:ext cx="5143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1" i="0" spc="120">
                <a:solidFill>
                  <a:srgbClr val="21049A"/>
                </a:solidFill>
                <a:latin typeface="Roboto"/>
              </a:rPr>
              <a:t>NO COMEÇO DO PROJETO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3329559"/>
            <a:ext cx="419100" cy="28575"/>
          </a:xfrm>
          <a:prstGeom prst="rect">
            <a:avLst/>
          </a:prstGeom>
          <a:solidFill>
            <a:srgbClr val="210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3624834"/>
            <a:ext cx="247650" cy="29443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50" b="1" i="0">
                <a:solidFill>
                  <a:srgbClr val="E94D1C"/>
                </a:solidFill>
                <a:latin typeface="Roboto"/>
              </a:rPr>
              <a:t>//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71550" y="3615309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80" b="0" i="0">
                <a:solidFill>
                  <a:srgbClr val="1A1A1E"/>
                </a:solidFill>
                <a:latin typeface="Roboto"/>
              </a:rPr>
              <a:t>Uma linha de .gitattributes forçando LF nos scripts, porque o Git Bash quebra no Windows.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4419600"/>
            <a:ext cx="247650" cy="29443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50" b="1" i="0">
                <a:solidFill>
                  <a:srgbClr val="E94D1C"/>
                </a:solidFill>
                <a:latin typeface="Roboto"/>
              </a:rPr>
              <a:t>//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71550" y="4410075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80" b="0" i="0">
                <a:solidFill>
                  <a:srgbClr val="1A1A1E"/>
                </a:solidFill>
                <a:latin typeface="Roboto"/>
              </a:rPr>
              <a:t>Os ambientes do time já divergem antes de existir a primeira linha de código do produto.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62700" y="3120009"/>
            <a:ext cx="5143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1" i="0" spc="120">
                <a:solidFill>
                  <a:srgbClr val="E94D1C"/>
                </a:solidFill>
                <a:latin typeface="Roboto"/>
              </a:rPr>
              <a:t>AGORA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362700" y="3329559"/>
            <a:ext cx="419100" cy="28575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362700" y="3624834"/>
            <a:ext cx="247650" cy="29443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50" b="1" i="0">
                <a:solidFill>
                  <a:srgbClr val="E94D1C"/>
                </a:solidFill>
                <a:latin typeface="Roboto"/>
              </a:rPr>
              <a:t>//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48450" y="3615309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80" b="0" i="0">
                <a:solidFill>
                  <a:srgbClr val="1A1A1E"/>
                </a:solidFill>
                <a:latin typeface="Roboto"/>
              </a:rPr>
              <a:t>Um arquivo que descreve o ambiente inteiro e que qualquer um dos quatro sobe com um comando.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62700" y="4419600"/>
            <a:ext cx="247650" cy="29443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50" b="1" i="0">
                <a:solidFill>
                  <a:srgbClr val="E94D1C"/>
                </a:solidFill>
                <a:latin typeface="Roboto"/>
              </a:rPr>
              <a:t>//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648450" y="4410075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80" b="0" i="0">
                <a:solidFill>
                  <a:srgbClr val="1A1A1E"/>
                </a:solidFill>
                <a:latin typeface="Roboto"/>
              </a:rPr>
              <a:t>E que vira o diagrama de implantação do item #60.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5800" y="6324600"/>
            <a:ext cx="6667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6B6B78"/>
                </a:solidFill>
                <a:latin typeface="Roboto"/>
              </a:rPr>
              <a:t>Bloco D · Fecho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477500" y="6324600"/>
            <a:ext cx="10287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>
                <a:solidFill>
                  <a:srgbClr val="21049A"/>
                </a:solidFill>
                <a:latin typeface="Roboto"/>
              </a:rPr>
              <a:t>30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u-azu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4200" y="457200"/>
            <a:ext cx="342900" cy="3429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85800" y="628650"/>
            <a:ext cx="10820400" cy="198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80" b="1" i="0" spc="160">
                <a:solidFill>
                  <a:srgbClr val="E94D1C"/>
                </a:solidFill>
                <a:latin typeface="Roboto"/>
              </a:rPr>
              <a:t>O QUE NÃO ESTAMOS AFIRMANDO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838200"/>
            <a:ext cx="96202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3000" b="1" i="0">
                <a:solidFill>
                  <a:srgbClr val="21049A"/>
                </a:solidFill>
                <a:latin typeface="Roboto"/>
              </a:rPr>
              <a:t>Pendências, com número de item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2899410"/>
            <a:ext cx="247650" cy="30845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20" b="1" i="0">
                <a:solidFill>
                  <a:srgbClr val="E94D1C"/>
                </a:solidFill>
                <a:latin typeface="Roboto"/>
              </a:rPr>
              <a:t>//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71550" y="2889885"/>
            <a:ext cx="74866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650" b="0" i="0">
                <a:solidFill>
                  <a:srgbClr val="1A1A1E"/>
                </a:solidFill>
                <a:latin typeface="Roboto"/>
              </a:rPr>
              <a:t>Os itens #58 a #63 da Sprint 2 estão em To Do. Isto é insumo desses itens, não relato de item concluído.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3738372"/>
            <a:ext cx="247650" cy="30845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20" b="1" i="0">
                <a:solidFill>
                  <a:srgbClr val="E94D1C"/>
                </a:solidFill>
                <a:latin typeface="Roboto"/>
              </a:rPr>
              <a:t>//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71550" y="3728847"/>
            <a:ext cx="74866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650" b="0" i="0">
                <a:solidFill>
                  <a:srgbClr val="1A1A1E"/>
                </a:solidFill>
                <a:latin typeface="Roboto"/>
              </a:rPr>
              <a:t>O #63, onde a stack será decidida, ainda não foi escrito.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4300728"/>
            <a:ext cx="247650" cy="30845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20" b="1" i="0">
                <a:solidFill>
                  <a:srgbClr val="E94D1C"/>
                </a:solidFill>
                <a:latin typeface="Roboto"/>
              </a:rPr>
              <a:t>//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71550" y="4291203"/>
            <a:ext cx="74866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650" b="0" i="0">
                <a:solidFill>
                  <a:srgbClr val="1A1A1E"/>
                </a:solidFill>
                <a:latin typeface="Roboto"/>
              </a:rPr>
              <a:t>Os itens #56 e #57 da Sprint 1 seguem em Doing.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4863084"/>
            <a:ext cx="247650" cy="30845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20" b="1" i="0">
                <a:solidFill>
                  <a:srgbClr val="E94D1C"/>
                </a:solidFill>
                <a:latin typeface="Roboto"/>
              </a:rPr>
              <a:t>//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71550" y="4853559"/>
            <a:ext cx="74866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650" b="0" i="0">
                <a:solidFill>
                  <a:srgbClr val="1A1A1E"/>
                </a:solidFill>
                <a:latin typeface="Roboto"/>
              </a:rPr>
              <a:t>A Sprint 2 fecha no dia 14.</a:t>
            </a:r>
          </a:p>
        </p:txBody>
      </p:sp>
      <p:sp>
        <p:nvSpPr>
          <p:cNvPr id="13" name="Document 12"/>
          <p:cNvSpPr/>
          <p:nvPr/>
        </p:nvSpPr>
        <p:spPr>
          <a:xfrm>
            <a:off x="9124950" y="2889885"/>
            <a:ext cx="142875" cy="133350"/>
          </a:xfrm>
          <a:prstGeom prst="flowChartDocument">
            <a:avLst/>
          </a:prstGeom>
          <a:noFill/>
          <a:ln w="19050">
            <a:solidFill>
              <a:srgbClr val="E94D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372600" y="2899410"/>
            <a:ext cx="21336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1" i="0" spc="120">
                <a:solidFill>
                  <a:srgbClr val="E94D1C"/>
                </a:solidFill>
                <a:latin typeface="Roboto"/>
              </a:rPr>
              <a:t>PARA LEVAR PARA A P1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124950" y="3175635"/>
            <a:ext cx="38100" cy="1664208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334500" y="3175635"/>
            <a:ext cx="2171700" cy="22357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  <a:spcAft>
                <a:spcPts val="600"/>
              </a:spcAft>
            </a:pPr>
            <a:r>
              <a:rPr sz="1200" b="0" i="0">
                <a:solidFill>
                  <a:srgbClr val="3A3A44"/>
                </a:solidFill>
                <a:latin typeface="Roboto"/>
              </a:rPr>
              <a:t>Container é processo isolado por mecanismo de kernel.</a:t>
            </a:r>
          </a:p>
          <a:p>
            <a:pPr>
              <a:lnSpc>
                <a:spcPct val="140000"/>
              </a:lnSpc>
              <a:spcAft>
                <a:spcPts val="600"/>
              </a:spcAft>
            </a:pPr>
            <a:r>
              <a:rPr sz="1200" b="0" i="0">
                <a:solidFill>
                  <a:srgbClr val="3A3A44"/>
                </a:solidFill>
                <a:latin typeface="Roboto"/>
              </a:rPr>
              <a:t/>
            </a:r>
          </a:p>
          <a:p>
            <a:pPr>
              <a:lnSpc>
                <a:spcPct val="140000"/>
              </a:lnSpc>
              <a:spcAft>
                <a:spcPts val="600"/>
              </a:spcAft>
            </a:pPr>
            <a:r>
              <a:rPr sz="1200" b="0" i="0">
                <a:solidFill>
                  <a:srgbClr val="3A3A44"/>
                </a:solidFill>
                <a:latin typeface="Roboto"/>
              </a:rPr>
              <a:t>Imagem é artefato, container é ambiente de execução.</a:t>
            </a:r>
          </a:p>
          <a:p>
            <a:pPr>
              <a:lnSpc>
                <a:spcPct val="140000"/>
              </a:lnSpc>
              <a:spcAft>
                <a:spcPts val="600"/>
              </a:spcAft>
            </a:pPr>
            <a:r>
              <a:rPr sz="1200" b="0" i="0">
                <a:solidFill>
                  <a:srgbClr val="3A3A44"/>
                </a:solidFill>
                <a:latin typeface="Roboto"/>
              </a:rPr>
              <a:t/>
            </a:r>
          </a:p>
          <a:p>
            <a:pPr>
              <a:lnSpc>
                <a:spcPct val="140000"/>
              </a:lnSpc>
              <a:spcAft>
                <a:spcPts val="600"/>
              </a:spcAft>
            </a:pPr>
            <a:r>
              <a:rPr sz="1200" b="0" i="0">
                <a:solidFill>
                  <a:srgbClr val="3A3A44"/>
                </a:solidFill>
                <a:latin typeface="Roboto"/>
              </a:rPr>
              <a:t>A decisão arquitetural é a granularidade de tier.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5800" y="6324600"/>
            <a:ext cx="6667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6B6B78"/>
                </a:solidFill>
                <a:latin typeface="Roboto"/>
              </a:rPr>
              <a:t>Bloco D · Fecho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477500" y="6324600"/>
            <a:ext cx="10287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>
                <a:solidFill>
                  <a:srgbClr val="21049A"/>
                </a:solidFill>
                <a:latin typeface="Roboto"/>
              </a:rPr>
              <a:t>31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u-azu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4200" y="457200"/>
            <a:ext cx="342900" cy="3429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85800" y="628650"/>
            <a:ext cx="10820400" cy="198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80" b="1" i="0" spc="160">
                <a:solidFill>
                  <a:srgbClr val="E94D1C"/>
                </a:solidFill>
                <a:latin typeface="Roboto"/>
              </a:rPr>
              <a:t>PARA CONSULTAR DEPOIS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838200"/>
            <a:ext cx="96202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3000" b="1" i="0">
                <a:solidFill>
                  <a:srgbClr val="21049A"/>
                </a:solidFill>
                <a:latin typeface="Roboto"/>
              </a:rPr>
              <a:t>Referências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2267712"/>
            <a:ext cx="247650" cy="25237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40" b="1" i="0">
                <a:solidFill>
                  <a:srgbClr val="E94D1C"/>
                </a:solidFill>
                <a:latin typeface="Roboto"/>
              </a:rPr>
              <a:t>//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71550" y="2258187"/>
            <a:ext cx="967740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350" b="0" i="0">
                <a:solidFill>
                  <a:srgbClr val="1A1A1E"/>
                </a:solidFill>
                <a:latin typeface="Roboto"/>
              </a:rPr>
              <a:t>Open Container Initiative. Runtime Spec, Image Spec e Distribution Spec. Linux Foundation, fundada em 2015.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2703576"/>
            <a:ext cx="247650" cy="25237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40" b="1" i="0">
                <a:solidFill>
                  <a:srgbClr val="E94D1C"/>
                </a:solidFill>
                <a:latin typeface="Roboto"/>
              </a:rPr>
              <a:t>//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71550" y="2694051"/>
            <a:ext cx="967740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350" b="0" i="0">
                <a:solidFill>
                  <a:srgbClr val="1A1A1E"/>
                </a:solidFill>
                <a:latin typeface="Roboto"/>
              </a:rPr>
              <a:t>WIGGINS, A. The Twelve-Factor App, 2011.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3139440"/>
            <a:ext cx="247650" cy="25237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40" b="1" i="0">
                <a:solidFill>
                  <a:srgbClr val="E94D1C"/>
                </a:solidFill>
                <a:latin typeface="Roboto"/>
              </a:rPr>
              <a:t>//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71550" y="3129915"/>
            <a:ext cx="967740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350" b="0" i="0">
                <a:solidFill>
                  <a:srgbClr val="1A1A1E"/>
                </a:solidFill>
                <a:latin typeface="Roboto"/>
              </a:rPr>
              <a:t>FELTER, W. et al. An updated performance comparison of virtual machines and Linux containers. IBM Research Report, 2015.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3801618"/>
            <a:ext cx="247650" cy="25237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40" b="1" i="0">
                <a:solidFill>
                  <a:srgbClr val="E94D1C"/>
                </a:solidFill>
                <a:latin typeface="Roboto"/>
              </a:rPr>
              <a:t>//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71550" y="3792093"/>
            <a:ext cx="967740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350" b="0" i="0">
                <a:solidFill>
                  <a:srgbClr val="1A1A1E"/>
                </a:solidFill>
                <a:latin typeface="Roboto"/>
              </a:rPr>
              <a:t>MERKEL, D. Docker: lightweight Linux containers for consistent development and deployment. Linux Journal, 2014.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5800" y="4237482"/>
            <a:ext cx="247650" cy="25237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40" b="1" i="0">
                <a:solidFill>
                  <a:srgbClr val="E94D1C"/>
                </a:solidFill>
                <a:latin typeface="Roboto"/>
              </a:rPr>
              <a:t>//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71550" y="4227957"/>
            <a:ext cx="967740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350" b="0" i="0">
                <a:solidFill>
                  <a:srgbClr val="1A1A1E"/>
                </a:solidFill>
                <a:latin typeface="Roboto"/>
              </a:rPr>
              <a:t>NIST SP 800-190. Application Container Security Guide.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5800" y="4673346"/>
            <a:ext cx="247650" cy="25237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40" b="1" i="0">
                <a:solidFill>
                  <a:srgbClr val="E94D1C"/>
                </a:solidFill>
                <a:latin typeface="Roboto"/>
              </a:rPr>
              <a:t>//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71550" y="4663821"/>
            <a:ext cx="967740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350" b="0" i="0">
                <a:solidFill>
                  <a:srgbClr val="1A1A1E"/>
                </a:solidFill>
                <a:latin typeface="Roboto"/>
              </a:rPr>
              <a:t>SOMMERVILLE, I. Engenharia de Software. 6. ed. Addison Wesley, 2004.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5800" y="5109210"/>
            <a:ext cx="247650" cy="25237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40" b="1" i="0">
                <a:solidFill>
                  <a:srgbClr val="E94D1C"/>
                </a:solidFill>
                <a:latin typeface="Roboto"/>
              </a:rPr>
              <a:t>//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71550" y="5099685"/>
            <a:ext cx="967740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350" b="0" i="0">
                <a:solidFill>
                  <a:srgbClr val="1A1A1E"/>
                </a:solidFill>
                <a:latin typeface="Roboto"/>
              </a:rPr>
              <a:t>FOWLER, M. Patterns of Enterprise Application Architecture. Addison Wesley, 2002.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85800" y="5545074"/>
            <a:ext cx="247650" cy="25237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40" b="1" i="0">
                <a:solidFill>
                  <a:srgbClr val="E94D1C"/>
                </a:solidFill>
                <a:latin typeface="Roboto"/>
              </a:rPr>
              <a:t>//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71550" y="5535549"/>
            <a:ext cx="967740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350" b="0" i="0">
                <a:solidFill>
                  <a:srgbClr val="1A1A1E"/>
                </a:solidFill>
                <a:latin typeface="Roboto"/>
              </a:rPr>
              <a:t>FARIAS, K. Aula 03, Arquiteturas em Camadas. Aula 05, Arquiteturas Baseadas em Componentes.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85800" y="6324600"/>
            <a:ext cx="6667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6B6B78"/>
                </a:solidFill>
                <a:latin typeface="Roboto"/>
              </a:rPr>
              <a:t>Bloco D · Fecho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477500" y="6324600"/>
            <a:ext cx="10287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>
                <a:solidFill>
                  <a:srgbClr val="21049A"/>
                </a:solidFill>
                <a:latin typeface="Roboto"/>
              </a:rPr>
              <a:t>32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tema unisinos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Escritório">
      <a:majorFont>
        <a:latin typeface="Aptos Display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ptos" panose="020B000402020202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Escritório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tema unisinos" id="{0EDEEB91-0736-441F-A7F5-4FA5717EFDDE}" vid="{6FB48B3F-96BA-4BC3-92BE-A09E0B32FF42}"/>
    </a:ext>
  </a:extLst>
</a:theme>
</file>

<file path=ppt/theme/theme2.xml><?xml version="1.0" encoding="utf-8"?>
<a:theme xmlns:a="http://schemas.openxmlformats.org/drawingml/2006/main" name="Tema do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Documento" ma:contentTypeID="0x010100585AD953FC666642937FCE52CC8B4A6A" ma:contentTypeVersion="21" ma:contentTypeDescription="Crie um novo documento." ma:contentTypeScope="" ma:versionID="a0f0a53631578753e0de4c39d7473101">
  <xsd:schema xmlns:xsd="http://www.w3.org/2001/XMLSchema" xmlns:xs="http://www.w3.org/2001/XMLSchema" xmlns:p="http://schemas.microsoft.com/office/2006/metadata/properties" xmlns:ns2="5fb5f026-dc7b-485f-82fe-577aafb4abaa" xmlns:ns3="9970e0e6-68bd-454a-b013-2dc3f312d27d" targetNamespace="http://schemas.microsoft.com/office/2006/metadata/properties" ma:root="true" ma:fieldsID="1cb42779a8c523c71ef9e1ae6bb42114" ns2:_="" ns3:_="">
    <xsd:import namespace="5fb5f026-dc7b-485f-82fe-577aafb4abaa"/>
    <xsd:import namespace="9970e0e6-68bd-454a-b013-2dc3f312d27d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OCR" minOccurs="0"/>
                <xsd:element ref="ns2:MediaServiceDateTaken" minOccurs="0"/>
                <xsd:element ref="ns2:MediaServiceGenerationTime" minOccurs="0"/>
                <xsd:element ref="ns2:MediaServiceEventHashCode" minOccurs="0"/>
                <xsd:element ref="ns2:MediaServiceLocation" minOccurs="0"/>
                <xsd:element ref="ns3:SharedWithUsers" minOccurs="0"/>
                <xsd:element ref="ns3:SharedWithDetails" minOccurs="0"/>
                <xsd:element ref="ns2:MediaServiceAutoKeyPoints" minOccurs="0"/>
                <xsd:element ref="ns2:MediaServiceKeyPoints" minOccurs="0"/>
                <xsd:element ref="ns2:MediaLengthInSeconds" minOccurs="0"/>
                <xsd:element ref="ns2:lcf76f155ced4ddcb4097134ff3c332f" minOccurs="0"/>
                <xsd:element ref="ns3:TaxCatchAll" minOccurs="0"/>
                <xsd:element ref="ns2:MediaServiceSearchProperties" minOccurs="0"/>
                <xsd:element ref="ns2:MediaServiceObjectDetectorVersions" minOccurs="0"/>
                <xsd:element ref="ns2:MediaServiceBillingMetadata" minOccurs="0"/>
                <xsd:element ref="ns2:Na_x0020_sua_x0020_vis_x00e3_o_x002c__x0020_qual_x0020__x00e9__x0020_o_x0020_principal_x0020_diferencial_x0020_dos_x0020_cursos_x0020_em_x0020_rela_x00e7__x00e3_o_x0020_a_x0020_outras_x0020_especializa_x00e7__x00f5_es_x0020_semelhantes_x0020_no_x0020_Brasil_x003f_"/>
                <xsd:element ref="ns2:Que_x0020_tipo_x0020_de_x0020_profissional_x0020_voc_x00ea__x0020_acredita_x0020_que_x0020_mais_x0020_se_x0020_beneficia_x0020_deste_x0020_curso_x0020_hoje_x0020__x0028_perfil_x0020_t_x00e9_cnico_x002c__x0020_momento_x0020_de_x0020_carreira_x002c__x0020_lacunas_x0020_que_x0020_o_x0020_curso_x0020_supre_x0029__x003f_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5fb5f026-dc7b-485f-82fe-577aafb4abaa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OCR" ma:index="10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DateTaken" ma:index="11" nillable="true" ma:displayName="MediaServiceDateTaken" ma:hidden="true" ma:internalName="MediaServiceDateTaken" ma:readOnly="true">
      <xsd:simpleType>
        <xsd:restriction base="dms:Text"/>
      </xsd:simpleType>
    </xsd:element>
    <xsd:element name="MediaServiceGenerationTime" ma:index="12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3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Location" ma:index="14" nillable="true" ma:displayName="Location" ma:internalName="MediaServiceLocation" ma:readOnly="true">
      <xsd:simpleType>
        <xsd:restriction base="dms:Text"/>
      </xsd:simpleType>
    </xsd:element>
    <xsd:element name="MediaServiceAutoKeyPoints" ma:index="17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8" nillable="true" ma:displayName="KeyPoints" ma:internalName="MediaServiceKeyPoints" ma:readOnly="true">
      <xsd:simpleType>
        <xsd:restriction base="dms:Note">
          <xsd:maxLength value="255"/>
        </xsd:restriction>
      </xsd:simpleType>
    </xsd:element>
    <xsd:element name="MediaLengthInSeconds" ma:index="19" nillable="true" ma:displayName="Length (seconds)" ma:internalName="MediaLengthInSeconds" ma:readOnly="true">
      <xsd:simpleType>
        <xsd:restriction base="dms:Unknown"/>
      </xsd:simpleType>
    </xsd:element>
    <xsd:element name="lcf76f155ced4ddcb4097134ff3c332f" ma:index="21" nillable="true" ma:taxonomy="true" ma:internalName="lcf76f155ced4ddcb4097134ff3c332f" ma:taxonomyFieldName="MediaServiceImageTags" ma:displayName="Marcações de imagem" ma:readOnly="false" ma:fieldId="{5cf76f15-5ced-4ddc-b409-7134ff3c332f}" ma:taxonomyMulti="true" ma:sspId="aac08c5c-6fe0-4712-b828-e958a9361e2e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SearchProperties" ma:index="23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ObjectDetectorVersions" ma:index="24" nillable="true" ma:displayName="MediaServiceObjectDetectorVersions" ma:description="" ma:hidden="true" ma:indexed="true" ma:internalName="MediaServiceObjectDetectorVersions" ma:readOnly="true">
      <xsd:simpleType>
        <xsd:restriction base="dms:Text"/>
      </xsd:simpleType>
    </xsd:element>
    <xsd:element name="MediaServiceBillingMetadata" ma:index="25" nillable="true" ma:displayName="MediaServiceBillingMetadata" ma:hidden="true" ma:internalName="MediaServiceBillingMetadata" ma:readOnly="true">
      <xsd:simpleType>
        <xsd:restriction base="dms:Note"/>
      </xsd:simpleType>
    </xsd:element>
    <xsd:element name="Na_x0020_sua_x0020_vis_x00e3_o_x002c__x0020_qual_x0020__x00e9__x0020_o_x0020_principal_x0020_diferencial_x0020_dos_x0020_cursos_x0020_em_x0020_rela_x00e7__x00e3_o_x0020_a_x0020_outras_x0020_especializa_x00e7__x00f5_es_x0020_semelhantes_x0020_no_x0020_Brasil_x003f_" ma:index="26" ma:displayName="Na sua visão, qual é o principal diferencial dos cursos em relação a outras especializações semelhantes no Brasil?" ma:internalName="Na_x0020_sua_x0020_vis_x00e3_o_x002c__x0020_qual_x0020__x00e9__x0020_o_x0020_principal_x0020_diferencial_x0020_dos_x0020_cursos_x0020_em_x0020_rela_x00e7__x00e3_o_x0020_a_x0020_outras_x0020_especializa_x00e7__x00f5_es_x0020_semelhantes_x0020_no_x0020_Brasil_x003f_">
      <xsd:simpleType>
        <xsd:restriction base="dms:Note">
          <xsd:maxLength value="255"/>
        </xsd:restriction>
      </xsd:simpleType>
    </xsd:element>
    <xsd:element name="Que_x0020_tipo_x0020_de_x0020_profissional_x0020_voc_x00ea__x0020_acredita_x0020_que_x0020_mais_x0020_se_x0020_beneficia_x0020_deste_x0020_curso_x0020_hoje_x0020__x0028_perfil_x0020_t_x00e9_cnico_x002c__x0020_momento_x0020_de_x0020_carreira_x002c__x0020_lacunas_x0020_que_x0020_o_x0020_curso_x0020_supre_x0029__x003f_" ma:index="27" ma:displayName="Que tipo de profissional você acredita que mais se beneficia deste curso hoje (perfil técnico, momento de carreira, lacunas que o curso supre)?" ma:internalName="Que_x0020_tipo_x0020_de_x0020_profissional_x0020_voc_x00ea__x0020_acredita_x0020_que_x0020_mais_x0020_se_x0020_beneficia_x0020_deste_x0020_curso_x0020_hoje_x0020__x0028_perfil_x0020_t_x00e9_cnico_x002c__x0020_momento_x0020_de_x0020_carreira_x002c__x0020_lacunas_x0020_que_x0020_o_x0020_curso_x0020_supre_x0029__x003f_">
      <xsd:simpleType>
        <xsd:restriction base="dms:Note">
          <xsd:maxLength value="255"/>
        </xsd:restriction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9970e0e6-68bd-454a-b013-2dc3f312d27d" elementFormDefault="qualified">
    <xsd:import namespace="http://schemas.microsoft.com/office/2006/documentManagement/types"/>
    <xsd:import namespace="http://schemas.microsoft.com/office/infopath/2007/PartnerControls"/>
    <xsd:element name="SharedWithUsers" ma:index="15" nillable="true" ma:displayName="Compartilhado com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6" nillable="true" ma:displayName="Detalhes de Compartilhado Com" ma:internalName="SharedWithDetails" ma:readOnly="true">
      <xsd:simpleType>
        <xsd:restriction base="dms:Note">
          <xsd:maxLength value="255"/>
        </xsd:restriction>
      </xsd:simpleType>
    </xsd:element>
    <xsd:element name="TaxCatchAll" ma:index="22" nillable="true" ma:displayName="Taxonomy Catch All Column" ma:hidden="true" ma:list="{f04e90fd-b40d-4e8a-9052-aed8cdd6606b}" ma:internalName="TaxCatchAll" ma:showField="CatchAllData" ma:web="9970e0e6-68bd-454a-b013-2dc3f312d27d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Tipo de Conteúdo"/>
        <xsd:element ref="dc:title" minOccurs="0" maxOccurs="1" ma:index="4" ma:displayName="Título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lcf76f155ced4ddcb4097134ff3c332f xmlns="5fb5f026-dc7b-485f-82fe-577aafb4abaa">
      <Terms xmlns="http://schemas.microsoft.com/office/infopath/2007/PartnerControls"/>
    </lcf76f155ced4ddcb4097134ff3c332f>
    <TaxCatchAll xmlns="9970e0e6-68bd-454a-b013-2dc3f312d27d" xsi:nil="true"/>
    <Que_x0020_tipo_x0020_de_x0020_profissional_x0020_voc_x00ea__x0020_acredita_x0020_que_x0020_mais_x0020_se_x0020_beneficia_x0020_deste_x0020_curso_x0020_hoje_x0020__x0028_perfil_x0020_t_x00e9_cnico_x002c__x0020_momento_x0020_de_x0020_carreira_x002c__x0020_lacunas_x0020_que_x0020_o_x0020_curso_x0020_supre_x0029__x003f_ xmlns="5fb5f026-dc7b-485f-82fe-577aafb4abaa">a</Que_x0020_tipo_x0020_de_x0020_profissional_x0020_voc_x00ea__x0020_acredita_x0020_que_x0020_mais_x0020_se_x0020_beneficia_x0020_deste_x0020_curso_x0020_hoje_x0020__x0028_perfil_x0020_t_x00e9_cnico_x002c__x0020_momento_x0020_de_x0020_carreira_x002c__x0020_lacunas_x0020_que_x0020_o_x0020_curso_x0020_supre_x0029__x003f_>
    <Na_x0020_sua_x0020_vis_x00e3_o_x002c__x0020_qual_x0020__x00e9__x0020_o_x0020_principal_x0020_diferencial_x0020_dos_x0020_cursos_x0020_em_x0020_rela_x00e7__x00e3_o_x0020_a_x0020_outras_x0020_especializa_x00e7__x00f5_es_x0020_semelhantes_x0020_no_x0020_Brasil_x003f_ xmlns="5fb5f026-dc7b-485f-82fe-577aafb4abaa">a</Na_x0020_sua_x0020_vis_x00e3_o_x002c__x0020_qual_x0020__x00e9__x0020_o_x0020_principal_x0020_diferencial_x0020_dos_x0020_cursos_x0020_em_x0020_rela_x00e7__x00e3_o_x0020_a_x0020_outras_x0020_especializa_x00e7__x00f5_es_x0020_semelhantes_x0020_no_x0020_Brasil_x003f_>
  </documentManagement>
</p:properties>
</file>

<file path=customXml/itemProps1.xml><?xml version="1.0" encoding="utf-8"?>
<ds:datastoreItem xmlns:ds="http://schemas.openxmlformats.org/officeDocument/2006/customXml" ds:itemID="{8EFE6DF0-C827-427D-A5C4-577D5E296F43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5fb5f026-dc7b-485f-82fe-577aafb4abaa"/>
    <ds:schemaRef ds:uri="9970e0e6-68bd-454a-b013-2dc3f312d27d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2.xml><?xml version="1.0" encoding="utf-8"?>
<ds:datastoreItem xmlns:ds="http://schemas.openxmlformats.org/officeDocument/2006/customXml" ds:itemID="{5504F551-2F4B-4ED5-8A86-9AF9523DAD55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0D329F00-2A8C-46E7-9764-248AFFF1202A}">
  <ds:schemaRefs>
    <ds:schemaRef ds:uri="http://purl.org/dc/elements/1.1/"/>
    <ds:schemaRef ds:uri="http://schemas.openxmlformats.org/package/2006/metadata/core-properties"/>
    <ds:schemaRef ds:uri="http://purl.org/dc/terms/"/>
    <ds:schemaRef ds:uri="5fb5f026-dc7b-485f-82fe-577aafb4abaa"/>
    <ds:schemaRef ds:uri="http://schemas.microsoft.com/office/2006/documentManagement/types"/>
    <ds:schemaRef ds:uri="http://schemas.microsoft.com/office/infopath/2007/PartnerControls"/>
    <ds:schemaRef ds:uri="http://schemas.microsoft.com/office/2006/metadata/properties"/>
    <ds:schemaRef ds:uri="9970e0e6-68bd-454a-b013-2dc3f312d27d"/>
    <ds:schemaRef ds:uri="http://www.w3.org/XML/1998/namespace"/>
    <ds:schemaRef ds:uri="http://purl.org/dc/dcmitype/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tema unisinos</Template>
  <TotalTime>60</TotalTime>
  <Words>1142</Words>
  <Application>Microsoft Office PowerPoint</Application>
  <PresentationFormat>Widescreen</PresentationFormat>
  <Paragraphs>120</Paragraphs>
  <Slides>15</Slides>
  <Notes>2</Notes>
  <HiddenSlides>1</HiddenSlides>
  <MMClips>0</MMClips>
  <ScaleCrop>false</ScaleCrop>
  <HeadingPairs>
    <vt:vector size="4" baseType="variant">
      <vt:variant>
        <vt:lpstr>Tema</vt:lpstr>
      </vt:variant>
      <vt:variant>
        <vt:i4>1</vt:i4>
      </vt:variant>
      <vt:variant>
        <vt:lpstr>Títulos de slides</vt:lpstr>
      </vt:variant>
      <vt:variant>
        <vt:i4>15</vt:i4>
      </vt:variant>
    </vt:vector>
  </HeadingPairs>
  <TitlesOfParts>
    <vt:vector size="16" baseType="lpstr">
      <vt:lpstr>tema unisinos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TÍTULO TÍTULO</vt:lpstr>
      <vt:lpstr>Apresentação do PowerPoint</vt:lpstr>
      <vt:lpstr>Apresentação do PowerPoint</vt:lpstr>
      <vt:lpstr>TÍTULO TÍTULO TÍTULO TÍTULO TÍTULO TÍTULO</vt:lpstr>
      <vt:lpstr>Apresentação do PowerPoint</vt:lpstr>
      <vt:lpstr>Apresentação do PowerPoint</vt:lpstr>
      <vt:lpstr>Apresentação do PowerPoint</vt:lpstr>
      <vt:lpstr>Apresentação do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Apresentação do PowerPoint</dc:title>
  <dc:creator>Marcelo Krause de Verney</dc:creator>
  <cp:lastModifiedBy>Roberto Ferrari</cp:lastModifiedBy>
  <cp:revision>15</cp:revision>
  <dcterms:created xsi:type="dcterms:W3CDTF">2012-07-30T23:50:35Z</dcterms:created>
  <dcterms:modified xsi:type="dcterms:W3CDTF">2026-03-06T20:44:32Z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0x010100585AD953FC666642937FCE52CC8B4A6A</vt:lpwstr>
  </property>
  <property fmtid="{D5CDD505-2E9C-101B-9397-08002B2CF9AE}" pid="3" name="MediaServiceImageTags">
    <vt:lpwstr/>
  </property>
</Properties>
</file>