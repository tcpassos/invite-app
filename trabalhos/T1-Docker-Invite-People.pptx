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ckup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SEMINÁRIO T1 · TECNOLOGIAS EMERGENTES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Docker e</a:t>
            </a:r>
          </a:p>
          <a:p>
            <a:pPr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conteinerização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Como o empacotamento em containers se aplica ao projeto Invite People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Tiago Passos · Guilherme Toebe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 · Gabriel Tomasi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53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53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4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4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08 de setembro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Invite People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244563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336673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É um app web de convites virtuais, onde o convidado confirma presença e o anfitrião consolida as restrições alimentares.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328460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175635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São duas superfícies sobre o mesmo Model, o convite público, que não pede login, e o painel do anfitrião.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12356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01459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arquitetura já está registrada no Guia da Arquitetura, com MVC no front-end e três camadas no back-end.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96252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85355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Questão Norteadora da Sprint 2, que é a pergunta que a sprint precisa responder, é como os componentes serão distribuídos e implantados no ambiente de execução.</a:t>
            </a:r>
          </a:p>
        </p:txBody>
      </p:sp>
      <p:sp>
        <p:nvSpPr>
          <p:cNvPr id="13" name="Donut 12"/>
          <p:cNvSpPr/>
          <p:nvPr/>
        </p:nvSpPr>
        <p:spPr>
          <a:xfrm>
            <a:off x="9124950" y="2336673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346198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ESTAMOS HOJE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622423"/>
            <a:ext cx="38100" cy="10332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2622423"/>
            <a:ext cx="2171700" cy="1604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As três camadas do back-end já estão decididas.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Falta decidir em quantos processos separados elas vão rodar.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448050"/>
            <a:ext cx="1676400" cy="2476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953500" y="3143250"/>
            <a:ext cx="1676400" cy="247650"/>
          </a:xfrm>
          <a:prstGeom prst="roundRect">
            <a:avLst/>
          </a:prstGeom>
          <a:solidFill>
            <a:srgbClr val="C04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53500" y="2838450"/>
            <a:ext cx="1676400" cy="2476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Definições e arquitetura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Antes de decidir onde cada parte roda, o que o kernel faz quando alguém digita docker run e por que a imagem é em camadas.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Definições e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LINHA DO TEMPO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Marcos do isolamento de processos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82486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1979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chroot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8257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31571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8721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primeiro namespace no kernel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4029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7343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34493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cgroups no mainline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198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23114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80264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Docker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65571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68886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6036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primeiras especificações comuns de container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11343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4657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1807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containerd na CNCF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657114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60429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7579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Kubernetes remove o dockershim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629150"/>
            <a:ext cx="28575" cy="47777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isolamento de processos existe desde 1979. O que é recente é a padronização da cadeia de execução, a partir de 2015.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DUAS DEFINIÇÕES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239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CONTAINER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93351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33232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2192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ou mais processos executados com visão isolada por namespaces, consumo limitado por cgroups e privilégio reduzido por capabilities e seccomp, sobre um sistema de arquivos raiz próprio.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62700" y="27239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IMAGEM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62700" y="293351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81750" y="33232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48450" y="32192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Conjunto ordenado de camadas de sistema de arquivos mais a configuração de execução, identificado por um digest, que é o hash do próprio conteúdo.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817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84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São essas duas definições que decidem o desenho do item #60, com a imagem entrando como artefato e o container como nó.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QUE O KERNEL ENXERGA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Um container é um processo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 a visão restringida por namespaces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83118"/>
            <a:ext cx="10820400" cy="3286125"/>
          </a:xfrm>
          <a:prstGeom prst="roundRect">
            <a:avLst>
              <a:gd name="adj" fmla="val 2318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292668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235518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5784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run -d --name web nginx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8165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ps -eo pid,comm | grep nginx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0546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4821 nginx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2927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5309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lsns -p 4821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7690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     NS TYPE   NPROCS   PID USER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0071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4026532191 mnt         3  4821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2452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4026532192 uts         3  4821 root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4834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4026532193 ipc         3  4821 root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7215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4026532194 pid         3  4821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9596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4026532196 net         3  4821 root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597842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6300" y="5578792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Saída da distro docker-desktop do WSL. O mesmo processo tem PID 1 dentro do container e outro PID no host, que é o que o namespace de PID faz. É por isso que no nosso diagrama de implantação o container aparece dentro do host, e não como máquina separada.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NAMESPACES E CGROUPS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Namespaces isolam a visão.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Cgroups limitam o consumo.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NAMESPACES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7076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mnt dá ao processo uma árvore de montagem própria.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45528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3512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pid faz o processo enxergar a si mesmo como PID 1.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25005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1460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net dá uma pilha de rede própria, e é por isso que dois containers conseguem escutar na mesma porta.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530885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520484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Esse é o mecanismo que permite o front-end, a API e o banco do projeto rodarem no mesmo host sem conflito de porta.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CGROUPS V2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27076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17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484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cgroups não isolam nada, eles contabilizam e limitam o consumo de recursos.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1750" y="345528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33512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Quando o processo estoura o limite de memória ele não fica lento, o kernel mata ele.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81750" y="425005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8450" y="41460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limite de CPU não mata, ele freia o processo, o que piora as requisições mais lentas e quase não mexe na média, por isso é mais difícil de perceber.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ESTRUTURA DA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Camadas somente leitura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 a camada de escrita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343150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60">
                <a:solidFill>
                  <a:srgbClr val="6B6B78"/>
                </a:solidFill>
                <a:latin typeface="Roboto"/>
              </a:rPr>
              <a:t>CAMADAS DE UMA IMAGEM E DO CONTAINER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40576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41910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camada base (debian, alpine)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35623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36957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dependências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30670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32004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código da aplicação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0550" y="3067050"/>
            <a:ext cx="28575" cy="14287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2950" y="462915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as três de baixo são somente leitura, endereçadas por digest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2514600"/>
            <a:ext cx="3429000" cy="495300"/>
          </a:xfrm>
          <a:prstGeom prst="roundRect">
            <a:avLst>
              <a:gd name="adj" fmla="val 7692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7750" y="260985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94D1C"/>
                </a:solidFill>
                <a:latin typeface="Roboto"/>
              </a:rPr>
              <a:t>camada de escrita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" y="2790825"/>
            <a:ext cx="3048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criada pelo container, morre com ele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857750" y="2457450"/>
            <a:ext cx="0" cy="215265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257800" y="2914650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copy-up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3181350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alterar um byte de um arquivo grande copia o arquivo inteiro para cima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752850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whiteout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4019550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apagar cria uma marcação, o arquivo continua na camada de baixo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5638800"/>
            <a:ext cx="28575" cy="42748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6300" y="5619750"/>
            <a:ext cx="106299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Um Dockerfile que copia um .env e faz RUN rm na instrução seguinte produz uma imagem em que o segredo continua legível. No nosso caso o segredo seria a senha do banco e o segredo de sessão do login do anfitrião, o UC001.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 PILHA DE EXECUÇÃO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CLI, dockerd, containerd,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shim e runc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7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 CLI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cliente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527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527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099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daemon, roda como root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289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048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48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containerd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05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ciclo de vida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244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1437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437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shim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09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um por container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199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239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9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runc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6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cria e sai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154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667250" y="3133725"/>
            <a:ext cx="8572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21049A"/>
                </a:solidFill>
                <a:latin typeface="Roboto"/>
              </a:rPr>
              <a:t>gRPC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6300" y="447522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4391025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shim é pai do container e não filho do daemon. Foi esse desenho que fez reiniciar o daemon deixar de matar os containers em execução.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76300" y="509320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009007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Cada peça tem uma responsabilidade e pode ser trocada. É a substituibilidade da Aula 05, aplicada ao próprio Docker.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RESTRIÇÃO DE PRIVILÉGIO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Capabilities, seccomp e LSM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30034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89445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Capabilities fatiam o root do POSIX em privilégios independentes, que podem ser derrubados e devolvidos um a um.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384238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73341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perfil padrão de seccomp-bpf bloqueia parte das chamadas de sistema disponíveis.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6813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572381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AppArmor ou SELinux entram por cima de tudo, pelo módulo de segurança do próprio kernel.</a:t>
            </a:r>
          </a:p>
        </p:txBody>
      </p:sp>
      <p:sp>
        <p:nvSpPr>
          <p:cNvPr id="11" name="Isosceles Triangle 10"/>
          <p:cNvSpPr/>
          <p:nvPr/>
        </p:nvSpPr>
        <p:spPr>
          <a:xfrm>
            <a:off x="9124950" y="2894457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93530" y="2951607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72600" y="2903982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CUIDADO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24950" y="3180207"/>
            <a:ext cx="38100" cy="60350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34500" y="3180207"/>
            <a:ext cx="2171700" cy="11750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opção --privileged devolve tudo de uma vez e ainda desliga o seccomp.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OCI, FUNDADA EM 2015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Docker implementa as</a:t>
            </a:r>
          </a:p>
          <a:p>
            <a:pPr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especificações da OCI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Fundada em 2015 sob a Linux Foundation, com a Runtime Spec, a Image Spec e a Distribution Spec. O runc é trocável por crun, gVisor ou Kata. O engine é trocável por Podman. É a substituibilidade por compatibilidade de interface da Aula 05, e o Bloco D traz um caso real.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048000"/>
            <a:ext cx="590550" cy="5905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Arrow 4"/>
          <p:cNvSpPr/>
          <p:nvPr/>
        </p:nvSpPr>
        <p:spPr>
          <a:xfrm>
            <a:off x="9658350" y="3219450"/>
            <a:ext cx="419100" cy="247650"/>
          </a:xfrm>
          <a:prstGeom prst="rightArrow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191750" y="3048000"/>
            <a:ext cx="590550" cy="5905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Aplicação no Invite People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Mapeamento entre os diagramas da Sprint 2 e o arquivo de compose, com o número de cada task.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CAMADA LÓGICA E TIER, AULA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As mesmas três camadas lógicas,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empacotadas de três jeitos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562225"/>
            <a:ext cx="100012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6B6B78"/>
                </a:solidFill>
                <a:latin typeface="Roboto"/>
              </a:rPr>
              <a:t>AS TRÊS CAMADAS LÓGICAS FICAM SEMPRE NA MESMA IMAGEM. O QUE MUDA É ONDE O FRONT-END E O BANCO RODAM.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809875"/>
            <a:ext cx="2724150" cy="1504950"/>
          </a:xfrm>
          <a:prstGeom prst="roundRect">
            <a:avLst>
              <a:gd name="adj" fmla="val 316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9650" y="2886075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9650" y="2943225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3171825"/>
            <a:ext cx="24193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8225" y="32861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35147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8225" y="37433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9650" y="3990975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9650" y="4048125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" y="4429125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1 tier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4638675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tudo num processo só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62425" y="2809875"/>
            <a:ext cx="1143000" cy="1504950"/>
          </a:xfrm>
          <a:prstGeom prst="roundRect">
            <a:avLst>
              <a:gd name="adj" fmla="val 4166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95775" y="3476625"/>
            <a:ext cx="8763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5775" y="3533775"/>
            <a:ext cx="8763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95925" y="2809875"/>
            <a:ext cx="1390650" cy="1504950"/>
          </a:xfrm>
          <a:prstGeom prst="roundRect">
            <a:avLst>
              <a:gd name="adj" fmla="val 342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562600" y="3028950"/>
            <a:ext cx="125730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91175" y="31432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1175" y="33718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91175" y="36004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29275" y="3867150"/>
            <a:ext cx="11239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29275" y="3924300"/>
            <a:ext cx="11239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2425" y="4429125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2 tiers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62425" y="4638675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front-end separado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39000" y="2809875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53300" y="3476625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53300" y="3533775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05800" y="2809875"/>
            <a:ext cx="1619250" cy="1504950"/>
          </a:xfrm>
          <a:prstGeom prst="roundRect">
            <a:avLst>
              <a:gd name="adj" fmla="val 3164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420100" y="3171825"/>
            <a:ext cx="13906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48675" y="32861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48675" y="35147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48675" y="37433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53650" y="2809875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267950" y="3476625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7950" y="3533775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39000" y="4429125"/>
            <a:ext cx="3752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3 tiers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39000" y="4638675"/>
            <a:ext cx="37528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banco isolado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85800" y="5638800"/>
            <a:ext cx="28575" cy="641223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6300" y="5619750"/>
            <a:ext cx="106299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Nenhuma das três muda uma linha do projeto lógico. Todas mudam o empacotamento, e essa escolha é entrada do ADR #63, o documento de decisões arquiteturais da Sprint 2. Cuidado com o vocabulário: Docker usa </a:t>
            </a:r>
            <a:r>
              <a:rPr sz="1280" b="0" i="1">
                <a:solidFill>
                  <a:srgbClr val="3A3A44"/>
                </a:solidFill>
                <a:latin typeface="Roboto"/>
              </a:rPr>
              <a:t>layer</a:t>
            </a:r>
            <a:r>
              <a:rPr sz="1280" b="0" i="0">
                <a:solidFill>
                  <a:srgbClr val="3A3A44"/>
                </a:solidFill>
                <a:latin typeface="Roboto"/>
              </a:rPr>
              <a:t> para o empilhamento do sistema de arquivos da imagem, que não tem relação com a camada lógica da Aula 03.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MODELAGEM UML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No diagrama de implantação, o container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é um nó e a imagem é um artefato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2771775"/>
            <a:ext cx="3810000" cy="2286000"/>
          </a:xfrm>
          <a:prstGeom prst="rect">
            <a:avLst/>
          </a:prstGeom>
          <a:noFill/>
          <a:ln w="317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2924175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«device»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" y="3114675"/>
            <a:ext cx="3429000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Host de desenvolvimento</a:t>
            </a:r>
          </a:p>
        </p:txBody>
      </p:sp>
      <p:sp>
        <p:nvSpPr>
          <p:cNvPr id="8" name="Rectangle 7"/>
          <p:cNvSpPr/>
          <p:nvPr/>
        </p:nvSpPr>
        <p:spPr>
          <a:xfrm>
            <a:off x="1162050" y="3476625"/>
            <a:ext cx="3200400" cy="139065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2550" y="3609975"/>
            <a:ext cx="285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«executionEnvironment»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2550" y="3819525"/>
            <a:ext cx="28575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6850" y="4143375"/>
            <a:ext cx="2590800" cy="552450"/>
          </a:xfrm>
          <a:prstGeom prst="roundRect">
            <a:avLst>
              <a:gd name="adj" fmla="val 5172"/>
            </a:avLst>
          </a:prstGeom>
          <a:solidFill>
            <a:srgbClr val="F2F2F5"/>
          </a:solidFill>
          <a:ln w="1270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57350" y="4257675"/>
            <a:ext cx="22860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1" i="0" spc="120">
                <a:solidFill>
                  <a:srgbClr val="6B6B78"/>
                </a:solidFill>
                <a:latin typeface="Roboto"/>
              </a:rPr>
              <a:t>«artifact»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7350" y="4448175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1A1A1E"/>
                </a:solidFill>
                <a:latin typeface="Roboto"/>
              </a:rPr>
              <a:t>imagem (tag + digest)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0" y="2962275"/>
            <a:ext cx="4000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Ambiente de execução é</a:t>
            </a:r>
          </a:p>
          <a:p>
            <a:pPr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uma especialização de nó.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43500" y="3629025"/>
            <a:ext cx="4095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Por isso nunca dizer que container não é nó. O modelo fiel é o container aninhado no host, com a imagem implantada dentro dele.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143500" y="4410075"/>
            <a:ext cx="4095750" cy="0"/>
          </a:xfrm>
          <a:prstGeom prst="line">
            <a:avLst/>
          </a:prstGeom>
          <a:ln w="254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143500" y="4562475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Máquina virtual, essa sim, é um nó novo, com sistema operacional próprio.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RASCUNHOS DOS ITENS #59 E #60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Mapeamento dos componentes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para os nós do diagrama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3028950"/>
            <a:ext cx="3810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21049A"/>
                </a:solidFill>
                <a:latin typeface="Roboto"/>
              </a:rPr>
              <a:t>RASCUNHO #59, DIAGRAMA DE COMPONENTES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57250" y="3200400"/>
            <a:ext cx="3810000" cy="1866900"/>
          </a:xfrm>
          <a:prstGeom prst="rect">
            <a:avLst/>
          </a:prstGeom>
          <a:noFill/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23950" y="34480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3950" y="36004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Convite público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71800" y="34480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36004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Painel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47875" y="4114800"/>
            <a:ext cx="1428750" cy="419100"/>
          </a:xfrm>
          <a:prstGeom prst="roundRect">
            <a:avLst>
              <a:gd name="adj" fmla="val 6818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47875" y="42481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47875" y="4667250"/>
            <a:ext cx="1428750" cy="285750"/>
          </a:xfrm>
          <a:prstGeom prst="roundRect">
            <a:avLst>
              <a:gd name="adj" fmla="val 10000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47875" y="4733925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838325" y="39052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952750" y="39052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762250" y="4533900"/>
            <a:ext cx="0" cy="1333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667250" y="4133850"/>
            <a:ext cx="1524000" cy="0"/>
          </a:xfrm>
          <a:prstGeom prst="line">
            <a:avLst/>
          </a:prstGeom>
          <a:ln w="381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953000" y="3886200"/>
            <a:ext cx="95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E94D1C"/>
                </a:solidFill>
                <a:latin typeface="Roboto"/>
              </a:rPr>
              <a:t>#72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1250" y="3028950"/>
            <a:ext cx="4000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RASCUNHO #60, DIAGRAMA DE IMPLANTAÇÃO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91250" y="3200400"/>
            <a:ext cx="3810000" cy="186690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1750" y="331470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>
                <a:solidFill>
                  <a:srgbClr val="E94D1C"/>
                </a:solidFill>
                <a:latin typeface="Roboto"/>
              </a:rPr>
              <a:t>«device» host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817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628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19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19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API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48550" y="37909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87439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630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630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629650" y="37909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381750" y="4267200"/>
            <a:ext cx="3429000" cy="323850"/>
          </a:xfrm>
          <a:prstGeom prst="roundRect">
            <a:avLst>
              <a:gd name="adj" fmla="val 8823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1750" y="43624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E94D1C"/>
                </a:solidFill>
                <a:latin typeface="Roboto"/>
              </a:rPr>
              <a:t>rede nomeada, resolução por nome de serviço  ·  #75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81750" y="4762500"/>
            <a:ext cx="36195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0" i="0">
                <a:solidFill>
                  <a:srgbClr val="6B6B78"/>
                </a:solidFill>
                <a:latin typeface="Roboto"/>
              </a:rPr>
              <a:t>#71 nós  ·  #73 imagem por tag e digest  ·  #74, #76 e #77 são passos de processo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INTERFACES NO ARQUIVO DE COMPOSE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Onde ficam a interface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provida e a requerida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505075"/>
            <a:ext cx="5905500" cy="2895600"/>
          </a:xfrm>
          <a:prstGeom prst="roundRect">
            <a:avLst>
              <a:gd name="adj" fmla="val 263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3450" y="27146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3450" y="29622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450" y="32099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34575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37052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- "3000:3000"        # interface provida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450" y="39528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environment: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" y="42005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DATABASE_URL: ...    # interface requerida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450" y="44481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depends_on: [db]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450" y="46958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450" y="49434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67550" y="25892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34250" y="2505075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publicada mais o contrato HTTP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provida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pirulito da UML.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67550" y="316915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34250" y="3084957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variável de conexão mais a dependência declarada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requerida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soquete.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67550" y="37490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34250" y="3664839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da UML é literalmente a porta do container, com o mesmo desenho e o mesmo nome.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67550" y="43289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34250" y="4244721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As imagens do arquivo são exemplo. A stack ainda não foi decidida e é assunto do ADR #63.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COESÃO E ACOPLAMENTO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 fronteira aumenta a coesão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 muda a forma do acoplamento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COESÃO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7076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imagem passa a ter uma responsabilidade só, que é mais coesão.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45528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3512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código do front-end não está na imagem da API, então a API não depende dele nem por acidente.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25005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1460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Só o serviço de fronteira publica porta, e o banco fica na rede interna sem mapeamento nenhum.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504482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494080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regra escrita na wiki depende de alguém revisar. A mesma regra na topologia é verificada pela estrutura, o que reduz a degradação arquitetural da Aula 02.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ACOPLAMENTO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27076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17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484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Entre as nossas três camadas o acoplamento continua igual, porque elas ficam na mesma imagem do back-end.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1750" y="37193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Onde há separação, o acoplamento não some, muda de forma e passa a ter latência, falha parcial e ordem de subida.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CONSEQUÊNCIA PARA 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convite público e o painel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têm cargas diferentes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30034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894457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Marina é a persona da anfitriã, e a jornada dela descreve o link caindo no grupo da família. Isso é pico no convite público, onde o convidado confirma presença, e uma pessoa só no painel, onde a anfitriã vê a lista.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411899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4010025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Replicar só o serviço público faz sentido, e replicar o painel não faz.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6813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572381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Para isso valer, o convite público não pode guardar sessão em memória nem gravar upload em disco local.</a:t>
            </a:r>
          </a:p>
        </p:txBody>
      </p:sp>
      <p:sp>
        <p:nvSpPr>
          <p:cNvPr id="11" name="Donut 10"/>
          <p:cNvSpPr/>
          <p:nvPr/>
        </p:nvSpPr>
        <p:spPr>
          <a:xfrm>
            <a:off x="9124950" y="2894457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2903982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EM ABERTO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3180207"/>
            <a:ext cx="38100" cy="10332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0" y="3180207"/>
            <a:ext cx="2171700" cy="1604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Mesma imagem de front-end ou imagens separadas?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Entrada direta para o #59 e o #60. Ainda não decidida.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2876550"/>
            <a:ext cx="704850" cy="76200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829800" y="3219450"/>
            <a:ext cx="704850" cy="41910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953500" y="3714750"/>
            <a:ext cx="158115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Vantagens, desvantagens e demonstração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 demonstração é do ambiente e da topologia, não do produto. A implementação começa na Sprint 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DEMONSTRAÇÃO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dado sobrevive ao container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se ficar num volume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4055"/>
            <a:ext cx="10820400" cy="3524250"/>
          </a:xfrm>
          <a:prstGeom prst="roundRect">
            <a:avLst>
              <a:gd name="adj" fmla="val 2162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173605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1645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459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up -d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697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2935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NAME   IMAGE          STATUS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173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web    nginx:alpine  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4118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db     postgres:16    Up (healthy)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6499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8881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run --rm client psql -h db -c "create table t(); 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1262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&amp;&amp; docker compose up -d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364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 tabela continua lá, o volume sobreviveu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602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840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-v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500" y="5078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agora o dado some junto com o volume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5716905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6300" y="5697855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 imagem de fundo que a anfitriã envia ao personalizar o convite e o CSV de restrições alimentares que ela exporta não podem morrer junto com o container. A decisão de implantação volta como restrição de projeto para as camadas de cima.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Demonstração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KUBERNETES 1.24, 2022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A remoção do dockershim</a:t>
            </a:r>
          </a:p>
          <a:p>
            <a:pPr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no Kubernetes 1.24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O que saiu foi o adaptador embutido que falava com o Docker Engine, não o formato das imagens. Como imagem é OCI, nada quebrou. É um caso real de substituição por compatibilidade de interface, no vocabulário da Aula 05.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Estudo de caso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LIMITAÇÕES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Limitações e custos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258394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474976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daemon roda como root. Estar no grupo docker equivale a root no host, sem sudo e sem trilha de auditoria.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34229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313938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regra de rede que o Docker escreve passa na frente da do administrador, então um deny de firewall na porta publicada não bloqueia nada.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26186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152900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Container com estado traz junto o problema de backup e o de upgrade de versão maior do banco, que não somem por estar em imagem.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510082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991862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Docker Desktop é pago para empresa acima de certo porte, o que afeta quem for usar isto fora da faculdade.</a:t>
            </a:r>
          </a:p>
        </p:txBody>
      </p:sp>
      <p:sp>
        <p:nvSpPr>
          <p:cNvPr id="13" name="Isosceles Triangle 12"/>
          <p:cNvSpPr/>
          <p:nvPr/>
        </p:nvSpPr>
        <p:spPr>
          <a:xfrm>
            <a:off x="9124950" y="2474976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93530" y="2532126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2484501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NO NOSSO CASO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24950" y="2760726"/>
            <a:ext cx="38100" cy="1005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34500" y="2760726"/>
            <a:ext cx="2171700" cy="157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Dos quatro, o do daemon como root é o que atinge o projeto hoje, porque os quatro integrantes rodam na própria máquina.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CONTAINER E MÁQUINA VIRTUAL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Comparação pela</a:t>
            </a:r>
          </a:p>
          <a:p>
            <a:pPr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superfície de ataque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MÁQUINA VIRTUAL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7076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máquina virtual tem kernel próprio.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19125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08724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fronteira entre ela e o host é imposta em hardware.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39860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38820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Por isso a superfície de ataque fica relativamente estreita.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27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2700" y="227076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817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484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container compartilha o kernel do host.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81750" y="319125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48450" y="308724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fronteira dele é a interface de chamadas de sistema, que são mais de trezentas, somadas a /proc, /sys e ioctl.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1750" y="425005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41460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CVE-2019-5736 mostrou o risco na prática, porque o processo de dentro conseguia sobrescrever o binário do runtime pelo /proc/self/exe.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81750" y="530885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8450" y="520484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Por isso o ADR #63 precisa registrar que container não dá o mesmo isolamento de uma máquina virtual.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ALTERNATIVAS CONSIDERADAS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Comparação com as outras opções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864739"/>
            <a:ext cx="2190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OPÇÃO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48000" y="2864739"/>
            <a:ext cx="3429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A FAVOR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0" y="2864739"/>
            <a:ext cx="4762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CONTRA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093339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245739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README nativo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0" y="3245739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Custo zero para começar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67500" y="3245739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Quebra na primeira divergência de versão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57073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694557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VM compartilhada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48000" y="3694557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Isolamento imposto em hardware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0" y="3694557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Pesada e difícil de versionar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0195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143375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Podman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48000" y="4143375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Mesmo modelo, sem daemon root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7500" y="4143375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Menos material e menos gente do time conhece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468368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1500" y="4535043"/>
            <a:ext cx="28575" cy="3238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592193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E94D1C"/>
                </a:solidFill>
                <a:latin typeface="Roboto"/>
              </a:rPr>
              <a:t>Compose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48000" y="4592193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Ambiente igual para os quatro integrantes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0" y="4592193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Acrescenta uma camada de build e de orquestração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4917186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QUANDO NÃO COMPENSA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Quatro critérios para não conteinerizar,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e a nossa situação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4572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OS QUATRO CRITÉRIOS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66681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30565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9525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primeiro é o monolito que roda num servidor só e nunca vai escalar.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85133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7473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segundo é o time sem integração contínua, que só ganha um passo de build a mais.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terceiro é a aplicação sensível a latência de cauda.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544087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533685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quarto é o sistema dominado por estado.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4572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NÓS ESTAMOS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66681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1750" y="30565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48450" y="29525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Não temos integração contínua definida nem hospedagem decidida, então dois dos critérios ao lado se aplicam a nós.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1750" y="41153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40113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motivo que resta é o ambiente igual para quatro integrantes com stacks diferentes, com o banco rodando sem instalação local, antes de escrever a primeira linha.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VANTAGENS E CUSTOS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Efeito nos atributos da Aula 03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e das Questões Norteadoras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17598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GANHA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327148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270205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61289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Cada imagem tem uma responsabilidade e uma fronteira declarada, que é a modularidade e a reusabilidade da Aula 03.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59054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50139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O ambiente vira arquivo legível, versionado junto com o código, e com isso ganha compreensibilidade.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2527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1635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Extensibilidade sai barata, porque trocar runtime ou banco é editar uma linha de arquivo.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491490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482574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A mesma imagem atravessa notebook, pipeline e a demonstração funcional do T3, o que ajuda a manutenibilidade.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850" y="557707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1550" y="548792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A escalabilidade fica seletiva, e só vale se a aplicação for mesmo sem estado.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2700" y="2117598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CUSTA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62700" y="2327148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81750" y="270205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261289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Segurança ganha isolamento e herda uma superfície nova, que é a imagem base e o privilégio de execução.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81750" y="336423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8450" y="32750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Desempenho custa, principalmente I/O nas máquinas Windows, e a Aula 03 já avisa que camada extra prejudica desempenho.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RECOMENDAÇÃO PARA O ADR #63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Recomendação do grupo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314172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303276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grupo recomenda adotar conteinerização como estratégia de empacotamento e de ambiente de desenvolvimento, com o custo declarado junto.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398068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87172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#60 deixa de ser caixa genérica e passa a ter um arquivo correspondente que roda, e esse arquivo vira artefato do repositório.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81965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710684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stack ainda não está decidida, e o ADR #63 é onde ela será registrada.</a:t>
            </a:r>
          </a:p>
        </p:txBody>
      </p:sp>
      <p:sp>
        <p:nvSpPr>
          <p:cNvPr id="11" name="Chevron 10"/>
          <p:cNvSpPr/>
          <p:nvPr/>
        </p:nvSpPr>
        <p:spPr>
          <a:xfrm>
            <a:off x="9124950" y="3042285"/>
            <a:ext cx="142875" cy="123825"/>
          </a:xfrm>
          <a:prstGeom prst="chevron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3042285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PRÓXIMO PASSO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3318510"/>
            <a:ext cx="38100" cy="1005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0" y="3318510"/>
            <a:ext cx="2171700" cy="157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Insumo direto da Sprint 3, que começa no dia 15 e tem como objetivo declarado definir as tecnologias e os mecanismos da implementação.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ANTES E DEPOIS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mudou no ambiente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98799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NO COMEÇO DO PROJETO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19754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35873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repositório tem uma linha de .gitattributes forçando LF nos scripts, porque sem ela o Git Bash quebra no Windows.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ambientes do time já divergem antes de existir a primeira linha de código do produto.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2700" y="298799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AGORA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62700" y="319754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81750" y="35873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84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Existe um arquivo que descreve o ambiente inteiro e que qualquer um dos quatro sobe com um comando.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817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484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Esse mesmo arquivo é o que vira o diagrama de implantação do item #60.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QUE NÃO ESTAMOS AFIRMANDO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Pendências, com número de item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356120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3452241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Os itens #58 a #63 da Sprint 2 estão em To Do. Isto é insumo desses itens, não relato de item concluído.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440016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4291203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#63, onde a stack será decidida, ainda não foi escrito.</a:t>
            </a:r>
          </a:p>
        </p:txBody>
      </p:sp>
      <p:sp>
        <p:nvSpPr>
          <p:cNvPr id="9" name="Document 8"/>
          <p:cNvSpPr/>
          <p:nvPr/>
        </p:nvSpPr>
        <p:spPr>
          <a:xfrm>
            <a:off x="9124950" y="3452241"/>
            <a:ext cx="142875" cy="133350"/>
          </a:xfrm>
          <a:prstGeom prst="flowChartDocument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72600" y="3461766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PARA LEVAR PARA A P1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24950" y="3737991"/>
            <a:ext cx="38100" cy="1664208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34500" y="3737991"/>
            <a:ext cx="2171700" cy="22357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Container é processo isolado por mecanismo de kernel.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Imagem é artefato, container é ambiente de execução.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decisão arquitetural é a granularidade de tier.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FONTES CITADAS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Referências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234734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25818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Open Container Initiative. Runtime Spec, Image Spec e Distribution Spec. Linux Foundation, fundada em 2015.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278320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69405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WIGGINS, A. The Twelve-Factor App, 2011.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21906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12991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FELTER, W. et al. An updated performance comparison of virtual machines and Linux containers. IBM Research Report, 2015.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38812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3792093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MERKEL, D. Docker: lightweight Linux containers for consistent development and deployment. Linux Journal, 2014.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431711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422795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NIST SP 800-190. Application Container Security Guide.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850" y="475297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1550" y="466382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SOMMERVILLE, I. Engenharia de Software. 6. ed. Addison Wesley, 2004.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4850" y="518883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1550" y="509968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FOWLER, M. Patterns of Enterprise Application Architecture. Addison Wesley, 2002.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850" y="562470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1550" y="553554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FARIAS, K. Aula 03, Arquiteturas em Camadas. Aula 05, Arquiteturas Baseadas em Componentes.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Referências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Marcelo Krause de Verney</dc:creator>
  <cp:lastModifiedBy>Roberto Ferrari</cp:lastModifiedBy>
  <cp:revision>15</cp:revision>
  <dcterms:created xsi:type="dcterms:W3CDTF">2012-07-30T23:50:35Z</dcterms:created>
  <dcterms:modified xsi:type="dcterms:W3CDTF">2026-03-06T20:44:32Z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