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4.svg" ContentType="image/svg+xml"/>
  <Override PartName="/ppt/media/image19.svg" ContentType="image/svg+xml"/>
  <Override PartName="/ppt/media/image7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20"/>
  </p:notes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  <p:sldId id="263" r:id="rId18"/>
    <p:sldId id="264" r:id="rId19"/>
    <p:sldId id="265" r:id="rId10"/>
    <p:sldId id="266" r:id="rId9"/>
    <p:sldId id="267" r:id="rId8"/>
    <p:sldId id="268" r:id="rId7"/>
    <p:sldId id="269" r:id="rId6"/>
    <p:sldId id="270" r:id="rId5"/>
    <p:sldId id="271" r:id="rId26"/>
    <p:sldId id="272" r:id="rId27"/>
    <p:sldId id="273" r:id="rId28"/>
    <p:sldId id="274" r:id="rId29"/>
    <p:sldId id="275" r:id="rId30"/>
    <p:sldId id="276" r:id="rId31"/>
    <p:sldId id="277" r:id="rId32"/>
    <p:sldId id="278" r:id="rId33"/>
    <p:sldId id="279" r:id="rId34"/>
    <p:sldId id="280" r:id="rId35"/>
    <p:sldId id="281" r:id="rId36"/>
    <p:sldId id="282" r:id="rId37"/>
    <p:sldId id="283" r:id="rId38"/>
    <p:sldId id="284" r:id="rId39"/>
    <p:sldId id="285" r:id="rId40"/>
    <p:sldId id="286" r:id="rId41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1049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B9716C1-5024-8CCE-3203-86B75C2C8617}" v="3" dt="2026-03-04T18:26:21.527"/>
    <p1510:client id="{15EE4E26-2F7C-A8A7-F640-351793DF4648}" v="51" dt="2026-03-04T14:37:16.632"/>
    <p1510:client id="{1A042CCA-B3F5-4F3A-A55B-20F5A0164B7D}" v="24" dt="2026-03-04T14:05:53.570"/>
    <p1510:client id="{474E71F2-6943-508A-29C8-0B58041B59EA}" v="24" dt="2026-03-04T13:40:41.656"/>
    <p1510:client id="{610FBFFC-C927-4559-84E4-21F8025EFCC9}" v="4" dt="2026-03-04T18:41:12.929"/>
    <p1510:client id="{6B13FC13-F49B-3BCF-DC56-120CE7AD128B}" v="3" dt="2026-03-04T14:27:44.521"/>
    <p1510:client id="{6B418F69-DA30-9EA3-9484-1B1B7022BB9A}" v="26" dt="2026-03-04T18:46:59.600"/>
    <p1510:client id="{A6C34AF3-2CB0-9917-C57B-32A817E4D2F0}" v="15" dt="2026-03-04T19:28:10.596"/>
    <p1510:client id="{B4BCC3D1-ADA6-AE73-AB10-F1FD9D46F8AE}" v="1" dt="2026-03-04T18:45:27.91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8" d="100"/>
          <a:sy n="68" d="100"/>
        </p:scale>
        <p:origin x="79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5.xml"/><Relationship Id="rId6" Type="http://schemas.openxmlformats.org/officeDocument/2006/relationships/slide" Target="slides/slide14.xml"/><Relationship Id="rId7" Type="http://schemas.openxmlformats.org/officeDocument/2006/relationships/slide" Target="slides/slide13.xml"/><Relationship Id="rId8" Type="http://schemas.openxmlformats.org/officeDocument/2006/relationships/slide" Target="slides/slide12.xml"/><Relationship Id="rId9" Type="http://schemas.openxmlformats.org/officeDocument/2006/relationships/slide" Target="slides/slide11.xml"/><Relationship Id="rId10" Type="http://schemas.openxmlformats.org/officeDocument/2006/relationships/slide" Target="slides/slide10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microsoft.com/office/2015/10/relationships/revisionInfo" Target="revisionInfo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Relationship Id="rId33" Type="http://schemas.openxmlformats.org/officeDocument/2006/relationships/slide" Target="slides/slide23.xml"/><Relationship Id="rId34" Type="http://schemas.openxmlformats.org/officeDocument/2006/relationships/slide" Target="slides/slide24.xml"/><Relationship Id="rId35" Type="http://schemas.openxmlformats.org/officeDocument/2006/relationships/slide" Target="slides/slide25.xml"/><Relationship Id="rId36" Type="http://schemas.openxmlformats.org/officeDocument/2006/relationships/slide" Target="slides/slide26.xml"/><Relationship Id="rId37" Type="http://schemas.openxmlformats.org/officeDocument/2006/relationships/slide" Target="slides/slide27.xml"/><Relationship Id="rId38" Type="http://schemas.openxmlformats.org/officeDocument/2006/relationships/slide" Target="slides/slide28.xml"/><Relationship Id="rId39" Type="http://schemas.openxmlformats.org/officeDocument/2006/relationships/slide" Target="slides/slide29.xml"/><Relationship Id="rId40" Type="http://schemas.openxmlformats.org/officeDocument/2006/relationships/slide" Target="slides/slide30.xml"/><Relationship Id="rId41" Type="http://schemas.openxmlformats.org/officeDocument/2006/relationships/slide" Target="slides/slide3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6EFFF79-EEE3-444A-9BA1-1453A65B916B}" type="datetimeFigureOut">
              <a:t>06/03/2026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6BDD6EE-BF3C-42FE-A967-089A0F35743B}" type="slidenum"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811193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Relationship Id="rId3" Type="http://schemas.openxmlformats.org/officeDocument/2006/relationships/image" Target="../media/image6.png"/><Relationship Id="rId4" Type="http://schemas.openxmlformats.org/officeDocument/2006/relationships/image" Target="../media/image7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jpe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eg"/><Relationship Id="rId3" Type="http://schemas.openxmlformats.org/officeDocument/2006/relationships/image" Target="../media/image13.png"/><Relationship Id="rId4" Type="http://schemas.openxmlformats.org/officeDocument/2006/relationships/image" Target="../media/image14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jpeg"/><Relationship Id="rId3" Type="http://schemas.openxmlformats.org/officeDocument/2006/relationships/image" Target="../media/image13.png"/><Relationship Id="rId4" Type="http://schemas.openxmlformats.org/officeDocument/2006/relationships/image" Target="../media/image14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jpe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jpeg"/><Relationship Id="rId3" Type="http://schemas.openxmlformats.org/officeDocument/2006/relationships/image" Target="../media/image18.png"/><Relationship Id="rId4" Type="http://schemas.openxmlformats.org/officeDocument/2006/relationships/image" Target="../media/image19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 descr="Diagrama, Desenho técnico&#10;&#10;O conteúdo gerado por IA pode estar incorreto.">
            <a:extLst>
              <a:ext uri="{FF2B5EF4-FFF2-40B4-BE49-F238E27FC236}">
                <a16:creationId xmlns:a16="http://schemas.microsoft.com/office/drawing/2014/main" id="{B12703BC-BA0D-49E1-5856-8172DFCF21E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Espaço Reservado para Conteúdo 4">
            <a:extLst>
              <a:ext uri="{FF2B5EF4-FFF2-40B4-BE49-F238E27FC236}">
                <a16:creationId xmlns:a16="http://schemas.microsoft.com/office/drawing/2014/main" id="{9BA904D1-772F-4932-8EC4-AC8ABD79784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198963" y="854211"/>
            <a:ext cx="9794071" cy="29136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000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CARTOLA </a:t>
            </a:r>
            <a:r>
              <a:rPr lang="pt-BR" dirty="0" err="1"/>
              <a:t>CARTOLA</a:t>
            </a:r>
            <a:endParaRPr lang="pt-BR" dirty="0"/>
          </a:p>
        </p:txBody>
      </p:sp>
      <p:sp>
        <p:nvSpPr>
          <p:cNvPr id="11" name="Espaço Reservado para Conteúdo 4">
            <a:extLst>
              <a:ext uri="{FF2B5EF4-FFF2-40B4-BE49-F238E27FC236}">
                <a16:creationId xmlns:a16="http://schemas.microsoft.com/office/drawing/2014/main" id="{798E2A19-B017-4014-9BCE-0EDA90228AE4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198962" y="2685167"/>
            <a:ext cx="9794071" cy="29136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1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/>
              <a:t>COMPLEMENTO </a:t>
            </a:r>
            <a:r>
              <a:rPr lang="pt-BR" err="1"/>
              <a:t>COMPLEMENTO</a:t>
            </a:r>
            <a:endParaRPr lang="pt-BR"/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0FAFA1B5-CB3C-4B76-9115-38A3CFEBBEDC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198962" y="1376961"/>
            <a:ext cx="9794071" cy="111804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DA CAPA</a:t>
            </a:r>
          </a:p>
          <a:p>
            <a:pPr lvl="0"/>
            <a:r>
              <a:rPr lang="pt-BR" dirty="0"/>
              <a:t>TÍTULO DA CAPA</a:t>
            </a:r>
          </a:p>
        </p:txBody>
      </p:sp>
    </p:spTree>
    <p:extLst>
      <p:ext uri="{BB962C8B-B14F-4D97-AF65-F5344CB8AC3E}">
        <p14:creationId xmlns:p14="http://schemas.microsoft.com/office/powerpoint/2010/main" val="7432689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Uma imagem contendo pessoa, segurando, raquete, homem&#10;&#10;O conteúdo gerado por IA pode estar incorreto.">
            <a:extLst>
              <a:ext uri="{FF2B5EF4-FFF2-40B4-BE49-F238E27FC236}">
                <a16:creationId xmlns:a16="http://schemas.microsoft.com/office/drawing/2014/main" id="{68201F9E-9442-51CA-D606-ADE185D215E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641F0451-2034-4B4C-B5BB-323C5B960552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999028" y="1721616"/>
            <a:ext cx="3848744" cy="766779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br>
              <a:rPr lang="pt-BR" dirty="0"/>
            </a:br>
            <a:r>
              <a:rPr lang="pt-BR" dirty="0"/>
              <a:t>DE SEÇÃO</a:t>
            </a:r>
          </a:p>
        </p:txBody>
      </p:sp>
      <p:sp>
        <p:nvSpPr>
          <p:cNvPr id="13" name="Espaço Reservado para Conteúdo 4">
            <a:extLst>
              <a:ext uri="{FF2B5EF4-FFF2-40B4-BE49-F238E27FC236}">
                <a16:creationId xmlns:a16="http://schemas.microsoft.com/office/drawing/2014/main" id="{271D91BB-59F7-42EE-91A0-E9E7DAE29B4D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99026" y="2655324"/>
            <a:ext cx="3848743" cy="3288276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  <a:p>
            <a:pPr lvl="0"/>
            <a:endParaRPr lang="pt-BR" dirty="0"/>
          </a:p>
          <a:p>
            <a:pPr lvl="0"/>
            <a:r>
              <a:rPr lang="pt-BR" dirty="0" err="1"/>
              <a:t>Maecenas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, </a:t>
            </a:r>
            <a:r>
              <a:rPr lang="pt-BR" dirty="0" err="1"/>
              <a:t>diam</a:t>
            </a:r>
            <a:r>
              <a:rPr lang="pt-BR" dirty="0"/>
              <a:t> vitae gravida </a:t>
            </a:r>
            <a:r>
              <a:rPr lang="pt-BR" dirty="0" err="1"/>
              <a:t>congue</a:t>
            </a:r>
            <a:r>
              <a:rPr lang="pt-BR" dirty="0"/>
              <a:t>, est sem </a:t>
            </a:r>
            <a:r>
              <a:rPr lang="pt-BR" dirty="0" err="1"/>
              <a:t>auctor</a:t>
            </a:r>
            <a:r>
              <a:rPr lang="pt-BR" dirty="0"/>
              <a:t> </a:t>
            </a:r>
            <a:r>
              <a:rPr lang="pt-BR" dirty="0" err="1"/>
              <a:t>orci</a:t>
            </a:r>
            <a:r>
              <a:rPr lang="pt-BR" dirty="0"/>
              <a:t>,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 </a:t>
            </a:r>
            <a:r>
              <a:rPr lang="pt-BR" dirty="0" err="1"/>
              <a:t>ullamcorper</a:t>
            </a:r>
            <a:r>
              <a:rPr lang="pt-BR" dirty="0"/>
              <a:t> sem </a:t>
            </a:r>
            <a:r>
              <a:rPr lang="pt-BR" dirty="0" err="1"/>
              <a:t>orci</a:t>
            </a:r>
            <a:r>
              <a:rPr lang="pt-BR" dirty="0"/>
              <a:t> in </a:t>
            </a:r>
            <a:r>
              <a:rPr lang="pt-BR" dirty="0" err="1"/>
              <a:t>tellus</a:t>
            </a:r>
            <a:r>
              <a:rPr lang="pt-BR" dirty="0"/>
              <a:t>. </a:t>
            </a:r>
            <a:r>
              <a:rPr lang="pt-BR" dirty="0" err="1"/>
              <a:t>Pellentesque</a:t>
            </a:r>
            <a:r>
              <a:rPr lang="pt-BR" dirty="0"/>
              <a:t> </a:t>
            </a:r>
            <a:r>
              <a:rPr lang="pt-BR" dirty="0" err="1"/>
              <a:t>habitant</a:t>
            </a:r>
            <a:r>
              <a:rPr lang="pt-BR" dirty="0"/>
              <a:t>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tristique</a:t>
            </a:r>
            <a:r>
              <a:rPr lang="pt-BR" dirty="0"/>
              <a:t> </a:t>
            </a:r>
            <a:r>
              <a:rPr lang="pt-BR" dirty="0" err="1"/>
              <a:t>senectus</a:t>
            </a:r>
            <a:r>
              <a:rPr lang="pt-BR" dirty="0"/>
              <a:t> et </a:t>
            </a:r>
            <a:r>
              <a:rPr lang="pt-BR" dirty="0" err="1"/>
              <a:t>netus</a:t>
            </a:r>
            <a:r>
              <a:rPr lang="pt-BR" dirty="0"/>
              <a:t> et </a:t>
            </a:r>
            <a:r>
              <a:rPr lang="pt-BR" dirty="0" err="1"/>
              <a:t>malesuada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1886156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Forma&#10;&#10;O conteúdo gerado por IA pode estar incorreto.">
            <a:extLst>
              <a:ext uri="{FF2B5EF4-FFF2-40B4-BE49-F238E27FC236}">
                <a16:creationId xmlns:a16="http://schemas.microsoft.com/office/drawing/2014/main" id="{9D5AB3BD-B97C-7B52-83A2-3E5D5CD519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cxnSp>
        <p:nvCxnSpPr>
          <p:cNvPr id="8" name="Conector de Seta Reta 7">
            <a:extLst>
              <a:ext uri="{FF2B5EF4-FFF2-40B4-BE49-F238E27FC236}">
                <a16:creationId xmlns:a16="http://schemas.microsoft.com/office/drawing/2014/main" id="{883A4AD6-7C2F-6DE8-E4EB-27627E6153B2}"/>
              </a:ext>
            </a:extLst>
          </p:cNvPr>
          <p:cNvCxnSpPr>
            <a:cxnSpLocks/>
          </p:cNvCxnSpPr>
          <p:nvPr userDrawn="1"/>
        </p:nvCxnSpPr>
        <p:spPr>
          <a:xfrm>
            <a:off x="5161560" y="3216203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ector de Seta Reta 8">
            <a:extLst>
              <a:ext uri="{FF2B5EF4-FFF2-40B4-BE49-F238E27FC236}">
                <a16:creationId xmlns:a16="http://schemas.microsoft.com/office/drawing/2014/main" id="{D832A813-B17C-DC29-723C-8DADDB8A2DE0}"/>
              </a:ext>
            </a:extLst>
          </p:cNvPr>
          <p:cNvCxnSpPr>
            <a:cxnSpLocks/>
          </p:cNvCxnSpPr>
          <p:nvPr userDrawn="1"/>
        </p:nvCxnSpPr>
        <p:spPr>
          <a:xfrm>
            <a:off x="5161560" y="3666615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ector de Seta Reta 9">
            <a:extLst>
              <a:ext uri="{FF2B5EF4-FFF2-40B4-BE49-F238E27FC236}">
                <a16:creationId xmlns:a16="http://schemas.microsoft.com/office/drawing/2014/main" id="{7950EE94-C4C8-17C8-8A38-D10AC5A0870E}"/>
              </a:ext>
            </a:extLst>
          </p:cNvPr>
          <p:cNvCxnSpPr>
            <a:cxnSpLocks/>
          </p:cNvCxnSpPr>
          <p:nvPr userDrawn="1"/>
        </p:nvCxnSpPr>
        <p:spPr>
          <a:xfrm>
            <a:off x="5161560" y="4078129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A8422CA4-13D9-5447-94BF-81DFA61CFA8C}"/>
              </a:ext>
            </a:extLst>
          </p:cNvPr>
          <p:cNvSpPr/>
          <p:nvPr userDrawn="1"/>
        </p:nvSpPr>
        <p:spPr>
          <a:xfrm>
            <a:off x="5057617" y="2922847"/>
            <a:ext cx="5277795" cy="537509"/>
          </a:xfrm>
          <a:prstGeom prst="roundRect">
            <a:avLst>
              <a:gd name="adj" fmla="val 50000"/>
            </a:avLst>
          </a:prstGeom>
          <a:solidFill>
            <a:srgbClr val="43287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CF33C47C-7543-6136-48FE-FFD7D5569582}"/>
              </a:ext>
            </a:extLst>
          </p:cNvPr>
          <p:cNvSpPr/>
          <p:nvPr userDrawn="1"/>
        </p:nvSpPr>
        <p:spPr>
          <a:xfrm>
            <a:off x="6067590" y="3387232"/>
            <a:ext cx="4267822" cy="537511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800FC918-C448-6DF0-E954-B06797063FAB}"/>
              </a:ext>
            </a:extLst>
          </p:cNvPr>
          <p:cNvSpPr/>
          <p:nvPr userDrawn="1"/>
        </p:nvSpPr>
        <p:spPr>
          <a:xfrm>
            <a:off x="7000073" y="3784591"/>
            <a:ext cx="3335340" cy="537512"/>
          </a:xfrm>
          <a:prstGeom prst="roundRect">
            <a:avLst>
              <a:gd name="adj" fmla="val 50000"/>
            </a:avLst>
          </a:prstGeom>
          <a:solidFill>
            <a:srgbClr val="2652C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756E2B9B-2FC7-4B61-8475-1E6F5501EE2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27463" y="1164272"/>
            <a:ext cx="10345783" cy="494711"/>
          </a:xfrm>
          <a:prstGeom prst="rect">
            <a:avLst/>
          </a:prstGeom>
          <a:solidFill>
            <a:schemeClr val="bg1"/>
          </a:solidFill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r>
              <a:rPr lang="pt-BR" dirty="0" err="1"/>
              <a:t>TÍTULO</a:t>
            </a:r>
            <a:r>
              <a:rPr lang="pt-BR" dirty="0"/>
              <a:t> </a:t>
            </a:r>
            <a:r>
              <a:rPr lang="pt-BR" dirty="0" err="1"/>
              <a:t>TÍTULO</a:t>
            </a:r>
            <a:endParaRPr lang="pt-BR" dirty="0"/>
          </a:p>
        </p:txBody>
      </p:sp>
      <p:sp>
        <p:nvSpPr>
          <p:cNvPr id="21" name="Espaço Reservado para Conteúdo 4">
            <a:extLst>
              <a:ext uri="{FF2B5EF4-FFF2-40B4-BE49-F238E27FC236}">
                <a16:creationId xmlns:a16="http://schemas.microsoft.com/office/drawing/2014/main" id="{3B400B1A-A24E-4444-BD47-E24B33C087D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62141" y="2178956"/>
            <a:ext cx="3050460" cy="28756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  <a:p>
            <a:pPr lvl="0"/>
            <a:endParaRPr lang="pt-BR" dirty="0"/>
          </a:p>
          <a:p>
            <a:pPr lvl="0"/>
            <a:r>
              <a:rPr lang="pt-BR" dirty="0" err="1"/>
              <a:t>Maecenas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, </a:t>
            </a:r>
            <a:r>
              <a:rPr lang="pt-BR" dirty="0" err="1"/>
              <a:t>diam</a:t>
            </a:r>
            <a:r>
              <a:rPr lang="pt-BR" dirty="0"/>
              <a:t> vitae gravida </a:t>
            </a:r>
            <a:r>
              <a:rPr lang="pt-BR" dirty="0" err="1"/>
              <a:t>congue</a:t>
            </a:r>
            <a:r>
              <a:rPr lang="pt-BR" dirty="0"/>
              <a:t>, est sem </a:t>
            </a:r>
            <a:r>
              <a:rPr lang="pt-BR" dirty="0" err="1"/>
              <a:t>auctor</a:t>
            </a:r>
            <a:r>
              <a:rPr lang="pt-BR" dirty="0"/>
              <a:t> </a:t>
            </a:r>
            <a:r>
              <a:rPr lang="pt-BR" dirty="0" err="1"/>
              <a:t>orci</a:t>
            </a:r>
            <a:r>
              <a:rPr lang="pt-BR" dirty="0"/>
              <a:t>,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 </a:t>
            </a:r>
            <a:r>
              <a:rPr lang="pt-BR" dirty="0" err="1"/>
              <a:t>ullamcorper</a:t>
            </a:r>
            <a:r>
              <a:rPr lang="pt-BR" dirty="0"/>
              <a:t> sem </a:t>
            </a:r>
            <a:r>
              <a:rPr lang="pt-BR" dirty="0" err="1"/>
              <a:t>orci</a:t>
            </a:r>
            <a:r>
              <a:rPr lang="pt-BR" dirty="0"/>
              <a:t> in </a:t>
            </a:r>
            <a:r>
              <a:rPr lang="pt-BR" dirty="0" err="1"/>
              <a:t>tellus</a:t>
            </a:r>
            <a:r>
              <a:rPr lang="pt-BR" dirty="0"/>
              <a:t>. </a:t>
            </a:r>
            <a:r>
              <a:rPr lang="pt-BR" dirty="0" err="1"/>
              <a:t>Pellentesque</a:t>
            </a:r>
            <a:r>
              <a:rPr lang="pt-BR" dirty="0"/>
              <a:t> </a:t>
            </a:r>
            <a:r>
              <a:rPr lang="pt-BR" dirty="0" err="1"/>
              <a:t>habitant</a:t>
            </a:r>
            <a:r>
              <a:rPr lang="pt-BR" dirty="0"/>
              <a:t>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tristique</a:t>
            </a:r>
            <a:r>
              <a:rPr lang="pt-BR" dirty="0"/>
              <a:t> </a:t>
            </a:r>
            <a:r>
              <a:rPr lang="pt-BR" dirty="0" err="1"/>
              <a:t>senectus</a:t>
            </a:r>
            <a:r>
              <a:rPr lang="pt-BR" dirty="0"/>
              <a:t> et </a:t>
            </a:r>
            <a:r>
              <a:rPr lang="pt-BR" dirty="0" err="1"/>
              <a:t>netus</a:t>
            </a:r>
            <a:r>
              <a:rPr lang="pt-BR" dirty="0"/>
              <a:t> et </a:t>
            </a:r>
            <a:r>
              <a:rPr lang="pt-BR" dirty="0" err="1"/>
              <a:t>malesuada</a:t>
            </a:r>
            <a:r>
              <a:rPr lang="pt-BR" dirty="0"/>
              <a:t>.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9DA28D68-018D-419D-A736-E64ACB9206E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208200" y="3032630"/>
            <a:ext cx="4850199" cy="30737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  <p:sp>
        <p:nvSpPr>
          <p:cNvPr id="26" name="Espaço Reservado para Conteúdo 4">
            <a:extLst>
              <a:ext uri="{FF2B5EF4-FFF2-40B4-BE49-F238E27FC236}">
                <a16:creationId xmlns:a16="http://schemas.microsoft.com/office/drawing/2014/main" id="{431D2614-3827-4A58-A31E-D9102D6BE68E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42644" y="3500419"/>
            <a:ext cx="3815756" cy="3361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  <p:sp>
        <p:nvSpPr>
          <p:cNvPr id="27" name="Espaço Reservado para Conteúdo 4">
            <a:extLst>
              <a:ext uri="{FF2B5EF4-FFF2-40B4-BE49-F238E27FC236}">
                <a16:creationId xmlns:a16="http://schemas.microsoft.com/office/drawing/2014/main" id="{5E3BB5D0-837A-4037-AC95-AB1D4F649860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7120214" y="3902767"/>
            <a:ext cx="2938185" cy="3361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</p:spTree>
    <p:extLst>
      <p:ext uri="{BB962C8B-B14F-4D97-AF65-F5344CB8AC3E}">
        <p14:creationId xmlns:p14="http://schemas.microsoft.com/office/powerpoint/2010/main" val="19239415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>
            <a:extLst>
              <a:ext uri="{FF2B5EF4-FFF2-40B4-BE49-F238E27FC236}">
                <a16:creationId xmlns:a16="http://schemas.microsoft.com/office/drawing/2014/main" id="{8F673DBA-CB69-50BD-F973-A9E3A3FE152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Espaço Reservado para Conteúdo 4">
            <a:extLst>
              <a:ext uri="{FF2B5EF4-FFF2-40B4-BE49-F238E27FC236}">
                <a16:creationId xmlns:a16="http://schemas.microsoft.com/office/drawing/2014/main" id="{6BE41F8E-4F22-46F6-B0AE-D58832BE3FC2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6637006" y="780986"/>
            <a:ext cx="4391941" cy="1118045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4000">
                <a:solidFill>
                  <a:schemeClr val="bg1">
                    <a:lumMod val="8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NOME </a:t>
            </a:r>
            <a:br>
              <a:rPr lang="pt-BR" dirty="0"/>
            </a:br>
            <a:r>
              <a:rPr lang="pt-BR" dirty="0"/>
              <a:t>DA SEÇÃO</a:t>
            </a:r>
          </a:p>
        </p:txBody>
      </p:sp>
      <p:sp>
        <p:nvSpPr>
          <p:cNvPr id="18" name="Espaço Reservado para Conteúdo 4">
            <a:extLst>
              <a:ext uri="{FF2B5EF4-FFF2-40B4-BE49-F238E27FC236}">
                <a16:creationId xmlns:a16="http://schemas.microsoft.com/office/drawing/2014/main" id="{180BB7B2-EE70-4E52-A5A7-0F7F00EFB298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637006" y="2245217"/>
            <a:ext cx="3848744" cy="316190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INTERTÍTULO 1</a:t>
            </a:r>
          </a:p>
        </p:txBody>
      </p:sp>
      <p:sp>
        <p:nvSpPr>
          <p:cNvPr id="19" name="Espaço Reservado para Conteúdo 4">
            <a:extLst>
              <a:ext uri="{FF2B5EF4-FFF2-40B4-BE49-F238E27FC236}">
                <a16:creationId xmlns:a16="http://schemas.microsoft.com/office/drawing/2014/main" id="{664A7BCC-13C8-4944-BAC9-E32ACD6D1ED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637006" y="2589090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2" name="Espaço Reservado para Conteúdo 4">
            <a:extLst>
              <a:ext uri="{FF2B5EF4-FFF2-40B4-BE49-F238E27FC236}">
                <a16:creationId xmlns:a16="http://schemas.microsoft.com/office/drawing/2014/main" id="{D2F372CA-7A81-4DC0-9C08-38BBC4518D5C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637006" y="4362546"/>
            <a:ext cx="3848744" cy="316190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INTERTÍTULO 2</a:t>
            </a:r>
          </a:p>
        </p:txBody>
      </p:sp>
      <p:sp>
        <p:nvSpPr>
          <p:cNvPr id="23" name="Espaço Reservado para Conteúdo 4">
            <a:extLst>
              <a:ext uri="{FF2B5EF4-FFF2-40B4-BE49-F238E27FC236}">
                <a16:creationId xmlns:a16="http://schemas.microsoft.com/office/drawing/2014/main" id="{99641B3D-FFEC-4170-9DE3-5965CE430DC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637006" y="4706419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9823119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m 9" descr="Forma&#10;&#10;O conteúdo gerado por IA pode estar incorreto.">
            <a:extLst>
              <a:ext uri="{FF2B5EF4-FFF2-40B4-BE49-F238E27FC236}">
                <a16:creationId xmlns:a16="http://schemas.microsoft.com/office/drawing/2014/main" id="{3C9A769A-63A3-DE23-592B-55245BC352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-8750"/>
            <a:ext cx="12192000" cy="6866749"/>
          </a:xfrm>
          <a:prstGeom prst="rect">
            <a:avLst/>
          </a:prstGeom>
        </p:spPr>
      </p:pic>
      <p:pic>
        <p:nvPicPr>
          <p:cNvPr id="14" name="Gráfico 13">
            <a:extLst>
              <a:ext uri="{FF2B5EF4-FFF2-40B4-BE49-F238E27FC236}">
                <a16:creationId xmlns:a16="http://schemas.microsoft.com/office/drawing/2014/main" id="{1E1C6F54-8EED-6A4A-951E-8F53058EBB6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61271" y="5963677"/>
            <a:ext cx="531242" cy="531242"/>
          </a:xfrm>
          <a:prstGeom prst="rect">
            <a:avLst/>
          </a:prstGeom>
        </p:spPr>
      </p:pic>
      <p:sp>
        <p:nvSpPr>
          <p:cNvPr id="7" name="Espaço Reservado para Conteúdo 4">
            <a:extLst>
              <a:ext uri="{FF2B5EF4-FFF2-40B4-BE49-F238E27FC236}">
                <a16:creationId xmlns:a16="http://schemas.microsoft.com/office/drawing/2014/main" id="{39251BE9-618E-42E3-99D7-A7567BEAC4F4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92701" y="2865601"/>
            <a:ext cx="3927494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9" name="Espaço Reservado para Conteúdo 4">
            <a:extLst>
              <a:ext uri="{FF2B5EF4-FFF2-40B4-BE49-F238E27FC236}">
                <a16:creationId xmlns:a16="http://schemas.microsoft.com/office/drawing/2014/main" id="{37BB87C6-3A52-4563-8FED-B6B3781BF21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92701" y="794269"/>
            <a:ext cx="3927494" cy="111804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000">
                <a:solidFill>
                  <a:schemeClr val="bg1">
                    <a:lumMod val="8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16" name="Espaço Reservado para Conteúdo 4">
            <a:extLst>
              <a:ext uri="{FF2B5EF4-FFF2-40B4-BE49-F238E27FC236}">
                <a16:creationId xmlns:a16="http://schemas.microsoft.com/office/drawing/2014/main" id="{74A45D75-7A9C-404D-BDF7-39D938D9204A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231687" y="2271833"/>
            <a:ext cx="3927494" cy="1118045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FontTx/>
              <a:buChar char="•"/>
              <a:defRPr sz="1600">
                <a:solidFill>
                  <a:schemeClr val="bg1">
                    <a:lumMod val="85000"/>
                  </a:schemeClr>
                </a:solidFill>
                <a:latin typeface="Roboto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  <a:p>
            <a:pPr lvl="0"/>
            <a:r>
              <a:rPr lang="pt-BR" dirty="0"/>
              <a:t>ITEM 2</a:t>
            </a:r>
          </a:p>
          <a:p>
            <a:pPr lvl="0"/>
            <a:r>
              <a:rPr lang="pt-BR" dirty="0"/>
              <a:t>ITEM 3</a:t>
            </a:r>
          </a:p>
          <a:p>
            <a:pPr lvl="0"/>
            <a:r>
              <a:rPr lang="pt-BR" dirty="0"/>
              <a:t>ITEM 4</a:t>
            </a:r>
          </a:p>
          <a:p>
            <a:pPr lvl="0"/>
            <a:r>
              <a:rPr lang="pt-BR" dirty="0"/>
              <a:t>ITEM 5</a:t>
            </a:r>
          </a:p>
          <a:p>
            <a:pPr lvl="0"/>
            <a:r>
              <a:rPr lang="pt-BR" dirty="0"/>
              <a:t>ITEM 6</a:t>
            </a:r>
          </a:p>
          <a:p>
            <a:pPr lvl="0"/>
            <a:r>
              <a:rPr lang="pt-BR" dirty="0"/>
              <a:t>ITEM 7</a:t>
            </a:r>
          </a:p>
        </p:txBody>
      </p:sp>
    </p:spTree>
    <p:extLst>
      <p:ext uri="{BB962C8B-B14F-4D97-AF65-F5344CB8AC3E}">
        <p14:creationId xmlns:p14="http://schemas.microsoft.com/office/powerpoint/2010/main" val="34677928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Imagem 13">
            <a:extLst>
              <a:ext uri="{FF2B5EF4-FFF2-40B4-BE49-F238E27FC236}">
                <a16:creationId xmlns:a16="http://schemas.microsoft.com/office/drawing/2014/main" id="{4A036B0A-933A-2985-8269-6345DAD8922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45D534F8-C499-4401-B371-2922E2FC60F2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815738" y="2608895"/>
            <a:ext cx="9013371" cy="82010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80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</p:txBody>
      </p:sp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BB3FE49F-E596-4FC6-AC93-7944FFF72447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971518" y="3526859"/>
            <a:ext cx="6851751" cy="2351427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bg1"/>
                </a:solidFill>
                <a:latin typeface="Roboto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34622643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 descr="Ícone&#10;&#10;O conteúdo gerado por IA pode estar incorreto.">
            <a:extLst>
              <a:ext uri="{FF2B5EF4-FFF2-40B4-BE49-F238E27FC236}">
                <a16:creationId xmlns:a16="http://schemas.microsoft.com/office/drawing/2014/main" id="{AF2EB98D-EF35-397E-FA18-F906466EB53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2B6F4DD1-33F3-4B49-95ED-C95B61876CA5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76376" y="3916012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1" name="Espaço Reservado para Conteúdo 4">
            <a:extLst>
              <a:ext uri="{FF2B5EF4-FFF2-40B4-BE49-F238E27FC236}">
                <a16:creationId xmlns:a16="http://schemas.microsoft.com/office/drawing/2014/main" id="{141E17BE-679D-4780-A50B-95ABDEA83415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476375" y="3083044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  <a:br>
              <a:rPr lang="pt-BR" dirty="0"/>
            </a:br>
            <a:r>
              <a:rPr lang="pt-BR" dirty="0" err="1"/>
              <a:t>INTERTÍTULO</a:t>
            </a:r>
            <a:endParaRPr lang="pt-BR" dirty="0"/>
          </a:p>
        </p:txBody>
      </p:sp>
      <p:sp>
        <p:nvSpPr>
          <p:cNvPr id="24" name="Espaço Reservado para Conteúdo 4">
            <a:extLst>
              <a:ext uri="{FF2B5EF4-FFF2-40B4-BE49-F238E27FC236}">
                <a16:creationId xmlns:a16="http://schemas.microsoft.com/office/drawing/2014/main" id="{BB3C5678-B5DE-4BCA-900A-F36CE17308F5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800601" y="482395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063FB4E0-9626-4EF4-806F-71DFF51C6511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4800600" y="3990985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</a:p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</a:p>
        </p:txBody>
      </p:sp>
      <p:sp>
        <p:nvSpPr>
          <p:cNvPr id="26" name="Espaço Reservado para Conteúdo 4">
            <a:extLst>
              <a:ext uri="{FF2B5EF4-FFF2-40B4-BE49-F238E27FC236}">
                <a16:creationId xmlns:a16="http://schemas.microsoft.com/office/drawing/2014/main" id="{188B0BB6-CE3D-4850-B5D3-213A7B0CB16A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8124825" y="3122148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7" name="Espaço Reservado para Conteúdo 4">
            <a:extLst>
              <a:ext uri="{FF2B5EF4-FFF2-40B4-BE49-F238E27FC236}">
                <a16:creationId xmlns:a16="http://schemas.microsoft.com/office/drawing/2014/main" id="{07A0879C-E9A3-4A48-A4AC-1DE60387F7C4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8124824" y="2289180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  <a:br>
              <a:rPr lang="pt-BR" dirty="0"/>
            </a:br>
            <a:r>
              <a:rPr lang="pt-BR" dirty="0" err="1"/>
              <a:t>INTERTÍTULO</a:t>
            </a:r>
            <a:endParaRPr lang="pt-BR" dirty="0"/>
          </a:p>
        </p:txBody>
      </p:sp>
      <p:sp>
        <p:nvSpPr>
          <p:cNvPr id="28" name="Espaço Reservado para Conteúdo 4">
            <a:extLst>
              <a:ext uri="{FF2B5EF4-FFF2-40B4-BE49-F238E27FC236}">
                <a16:creationId xmlns:a16="http://schemas.microsoft.com/office/drawing/2014/main" id="{C93AF59E-0B59-41F7-8D76-870509D7AAFB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85455" y="1040475"/>
            <a:ext cx="6734546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DO SLIDE</a:t>
            </a:r>
          </a:p>
          <a:p>
            <a:pPr lvl="0"/>
            <a:r>
              <a:rPr lang="pt-BR" dirty="0"/>
              <a:t>TÍTULO DO SLIDE</a:t>
            </a:r>
          </a:p>
        </p:txBody>
      </p:sp>
    </p:spTree>
    <p:extLst>
      <p:ext uri="{BB962C8B-B14F-4D97-AF65-F5344CB8AC3E}">
        <p14:creationId xmlns:p14="http://schemas.microsoft.com/office/powerpoint/2010/main" val="33559585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Imagem 25" descr="Forma&#10;&#10;O conteúdo gerado por IA pode estar incorreto.">
            <a:extLst>
              <a:ext uri="{FF2B5EF4-FFF2-40B4-BE49-F238E27FC236}">
                <a16:creationId xmlns:a16="http://schemas.microsoft.com/office/drawing/2014/main" id="{412108E6-D36D-1E5D-A463-5DB8DA6A1B0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82B24A9D-A588-4551-9139-9C6E0410761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91887" y="378824"/>
            <a:ext cx="4602014" cy="6126480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  <a:br>
              <a:rPr lang="pt-BR" dirty="0"/>
            </a:br>
            <a:r>
              <a:rPr lang="pt-BR" dirty="0" err="1"/>
              <a:t>TÍTULO</a:t>
            </a:r>
            <a:endParaRPr lang="pt-BR" dirty="0"/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24" name="Espaço Reservado para Conteúdo 4">
            <a:extLst>
              <a:ext uri="{FF2B5EF4-FFF2-40B4-BE49-F238E27FC236}">
                <a16:creationId xmlns:a16="http://schemas.microsoft.com/office/drawing/2014/main" id="{A21AE171-2175-4DAD-8189-61FFCBDB02B1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392643" y="616721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1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56D3D759-453E-442D-AEC3-0FFF411B48A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788311" y="1023583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48" name="Espaço Reservado para Conteúdo 4">
            <a:extLst>
              <a:ext uri="{FF2B5EF4-FFF2-40B4-BE49-F238E27FC236}">
                <a16:creationId xmlns:a16="http://schemas.microsoft.com/office/drawing/2014/main" id="{8C3073B7-3423-46D9-8011-B23D48EB9616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396653" y="616721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2</a:t>
            </a:r>
          </a:p>
        </p:txBody>
      </p:sp>
      <p:sp>
        <p:nvSpPr>
          <p:cNvPr id="49" name="Espaço Reservado para Conteúdo 4">
            <a:extLst>
              <a:ext uri="{FF2B5EF4-FFF2-40B4-BE49-F238E27FC236}">
                <a16:creationId xmlns:a16="http://schemas.microsoft.com/office/drawing/2014/main" id="{79C9CBE2-F540-4408-8EB3-A373311F163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8792321" y="1023583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0" name="Espaço Reservado para Conteúdo 4">
            <a:extLst>
              <a:ext uri="{FF2B5EF4-FFF2-40B4-BE49-F238E27FC236}">
                <a16:creationId xmlns:a16="http://schemas.microsoft.com/office/drawing/2014/main" id="{7534DFE6-358C-4FF5-B3B9-6C34B0781772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388289" y="2066007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3</a:t>
            </a:r>
          </a:p>
        </p:txBody>
      </p:sp>
      <p:sp>
        <p:nvSpPr>
          <p:cNvPr id="51" name="Espaço Reservado para Conteúdo 4">
            <a:extLst>
              <a:ext uri="{FF2B5EF4-FFF2-40B4-BE49-F238E27FC236}">
                <a16:creationId xmlns:a16="http://schemas.microsoft.com/office/drawing/2014/main" id="{2D4FC50B-1040-4A33-9D53-F74DFB48C830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5783957" y="2472869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2" name="Espaço Reservado para Conteúdo 4">
            <a:extLst>
              <a:ext uri="{FF2B5EF4-FFF2-40B4-BE49-F238E27FC236}">
                <a16:creationId xmlns:a16="http://schemas.microsoft.com/office/drawing/2014/main" id="{F847EBBC-8153-4D80-BBEA-981CCB037D67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8392299" y="2066007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4</a:t>
            </a:r>
          </a:p>
        </p:txBody>
      </p:sp>
      <p:sp>
        <p:nvSpPr>
          <p:cNvPr id="53" name="Espaço Reservado para Conteúdo 4">
            <a:extLst>
              <a:ext uri="{FF2B5EF4-FFF2-40B4-BE49-F238E27FC236}">
                <a16:creationId xmlns:a16="http://schemas.microsoft.com/office/drawing/2014/main" id="{170C864E-D912-46D5-B580-C79231F833A0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8787967" y="2472869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4" name="Espaço Reservado para Conteúdo 4">
            <a:extLst>
              <a:ext uri="{FF2B5EF4-FFF2-40B4-BE49-F238E27FC236}">
                <a16:creationId xmlns:a16="http://schemas.microsoft.com/office/drawing/2014/main" id="{C4786A3E-B372-4DCC-B4F6-D10391BC6344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5392643" y="351529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5</a:t>
            </a:r>
          </a:p>
        </p:txBody>
      </p:sp>
      <p:sp>
        <p:nvSpPr>
          <p:cNvPr id="55" name="Espaço Reservado para Conteúdo 4">
            <a:extLst>
              <a:ext uri="{FF2B5EF4-FFF2-40B4-BE49-F238E27FC236}">
                <a16:creationId xmlns:a16="http://schemas.microsoft.com/office/drawing/2014/main" id="{B330D9FC-3804-478B-8B2F-BD1D550EB724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5788311" y="3922155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6" name="Espaço Reservado para Conteúdo 4">
            <a:extLst>
              <a:ext uri="{FF2B5EF4-FFF2-40B4-BE49-F238E27FC236}">
                <a16:creationId xmlns:a16="http://schemas.microsoft.com/office/drawing/2014/main" id="{AADC77ED-B602-4D58-BF71-D63985E8F86D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8396653" y="351529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6</a:t>
            </a:r>
          </a:p>
        </p:txBody>
      </p:sp>
      <p:sp>
        <p:nvSpPr>
          <p:cNvPr id="57" name="Espaço Reservado para Conteúdo 4">
            <a:extLst>
              <a:ext uri="{FF2B5EF4-FFF2-40B4-BE49-F238E27FC236}">
                <a16:creationId xmlns:a16="http://schemas.microsoft.com/office/drawing/2014/main" id="{E912F27E-5DAD-40E4-A876-B9139A7C4862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8792321" y="3922155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8" name="Espaço Reservado para Conteúdo 4">
            <a:extLst>
              <a:ext uri="{FF2B5EF4-FFF2-40B4-BE49-F238E27FC236}">
                <a16:creationId xmlns:a16="http://schemas.microsoft.com/office/drawing/2014/main" id="{70F43E27-89B9-4AFE-9DB9-4B4A0555AEDA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5388289" y="4964579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7</a:t>
            </a:r>
          </a:p>
        </p:txBody>
      </p:sp>
      <p:sp>
        <p:nvSpPr>
          <p:cNvPr id="59" name="Espaço Reservado para Conteúdo 4">
            <a:extLst>
              <a:ext uri="{FF2B5EF4-FFF2-40B4-BE49-F238E27FC236}">
                <a16:creationId xmlns:a16="http://schemas.microsoft.com/office/drawing/2014/main" id="{7891A22C-0D7C-4E4E-B231-0A73D868DAF9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5783957" y="5371441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60" name="Espaço Reservado para Conteúdo 4">
            <a:extLst>
              <a:ext uri="{FF2B5EF4-FFF2-40B4-BE49-F238E27FC236}">
                <a16:creationId xmlns:a16="http://schemas.microsoft.com/office/drawing/2014/main" id="{9AA294D8-A530-4C47-987A-7D029688897B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8392299" y="4964579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8</a:t>
            </a:r>
          </a:p>
        </p:txBody>
      </p:sp>
      <p:sp>
        <p:nvSpPr>
          <p:cNvPr id="61" name="Espaço Reservado para Conteúdo 4">
            <a:extLst>
              <a:ext uri="{FF2B5EF4-FFF2-40B4-BE49-F238E27FC236}">
                <a16:creationId xmlns:a16="http://schemas.microsoft.com/office/drawing/2014/main" id="{14C76703-4040-4320-BD4F-1DD7CBE8C563}"/>
              </a:ext>
            </a:extLst>
          </p:cNvPr>
          <p:cNvSpPr>
            <a:spLocks noGrp="1"/>
          </p:cNvSpPr>
          <p:nvPr>
            <p:ph sz="quarter" idx="27" hasCustomPrompt="1"/>
          </p:nvPr>
        </p:nvSpPr>
        <p:spPr>
          <a:xfrm>
            <a:off x="8787967" y="5371441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563588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áfico 7">
            <a:extLst>
              <a:ext uri="{FF2B5EF4-FFF2-40B4-BE49-F238E27FC236}">
                <a16:creationId xmlns:a16="http://schemas.microsoft.com/office/drawing/2014/main" id="{C8A2A5EB-55E9-818C-5100-8E3EC4E96C1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61271" y="5963677"/>
            <a:ext cx="531242" cy="531242"/>
          </a:xfrm>
          <a:prstGeom prst="rect">
            <a:avLst/>
          </a:prstGeom>
        </p:spPr>
      </p:pic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F3DFFE69-5EB8-470E-B99B-54A3FB6EE3A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49074" y="633344"/>
            <a:ext cx="2529556" cy="46166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spc="600">
                <a:solidFill>
                  <a:srgbClr val="21049A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NOME DA SEÇÃO</a:t>
            </a:r>
            <a:br>
              <a:rPr lang="pt-BR" dirty="0"/>
            </a:br>
            <a:r>
              <a:rPr lang="pt-BR" dirty="0"/>
              <a:t>NOME DA SEÇÃO</a:t>
            </a:r>
          </a:p>
        </p:txBody>
      </p:sp>
      <p:sp>
        <p:nvSpPr>
          <p:cNvPr id="29" name="Espaço Reservado para Conteúdo 4">
            <a:extLst>
              <a:ext uri="{FF2B5EF4-FFF2-40B4-BE49-F238E27FC236}">
                <a16:creationId xmlns:a16="http://schemas.microsoft.com/office/drawing/2014/main" id="{2F7B3AF4-B738-4398-B67B-6BBE8A527D51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77669" y="1789450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1</a:t>
            </a:r>
          </a:p>
        </p:txBody>
      </p:sp>
      <p:sp>
        <p:nvSpPr>
          <p:cNvPr id="30" name="Espaço Reservado para Conteúdo 4">
            <a:extLst>
              <a:ext uri="{FF2B5EF4-FFF2-40B4-BE49-F238E27FC236}">
                <a16:creationId xmlns:a16="http://schemas.microsoft.com/office/drawing/2014/main" id="{5D35BA6E-193D-4880-99D4-D6E40313A35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1386076" y="1789450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1" name="Espaço Reservado para Conteúdo 4">
            <a:extLst>
              <a:ext uri="{FF2B5EF4-FFF2-40B4-BE49-F238E27FC236}">
                <a16:creationId xmlns:a16="http://schemas.microsoft.com/office/drawing/2014/main" id="{58CA9FBA-C6F6-48B4-8054-37886D57B897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2902119" y="1789450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2" name="Espaço Reservado para Conteúdo 4">
            <a:extLst>
              <a:ext uri="{FF2B5EF4-FFF2-40B4-BE49-F238E27FC236}">
                <a16:creationId xmlns:a16="http://schemas.microsoft.com/office/drawing/2014/main" id="{3B524203-EAD3-4477-9209-B4351264128B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317421" y="1789450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2</a:t>
            </a:r>
          </a:p>
        </p:txBody>
      </p:sp>
      <p:sp>
        <p:nvSpPr>
          <p:cNvPr id="33" name="Espaço Reservado para Conteúdo 4">
            <a:extLst>
              <a:ext uri="{FF2B5EF4-FFF2-40B4-BE49-F238E27FC236}">
                <a16:creationId xmlns:a16="http://schemas.microsoft.com/office/drawing/2014/main" id="{01D447D5-A389-49AB-9939-1EC12515C697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7025828" y="1789450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4" name="Espaço Reservado para Conteúdo 4">
            <a:extLst>
              <a:ext uri="{FF2B5EF4-FFF2-40B4-BE49-F238E27FC236}">
                <a16:creationId xmlns:a16="http://schemas.microsoft.com/office/drawing/2014/main" id="{B8D809D7-F1D1-4A2C-BB27-83433994B162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8541871" y="1789450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5" name="Espaço Reservado para Conteúdo 4">
            <a:extLst>
              <a:ext uri="{FF2B5EF4-FFF2-40B4-BE49-F238E27FC236}">
                <a16:creationId xmlns:a16="http://schemas.microsoft.com/office/drawing/2014/main" id="{4705D9C3-A995-459D-AADF-DFDD6934707E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677669" y="387656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3</a:t>
            </a:r>
          </a:p>
        </p:txBody>
      </p:sp>
      <p:sp>
        <p:nvSpPr>
          <p:cNvPr id="36" name="Espaço Reservado para Conteúdo 4">
            <a:extLst>
              <a:ext uri="{FF2B5EF4-FFF2-40B4-BE49-F238E27FC236}">
                <a16:creationId xmlns:a16="http://schemas.microsoft.com/office/drawing/2014/main" id="{48370BE8-A043-4995-BDFE-BDB113D9F98B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1386076" y="3876563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7" name="Espaço Reservado para Conteúdo 4">
            <a:extLst>
              <a:ext uri="{FF2B5EF4-FFF2-40B4-BE49-F238E27FC236}">
                <a16:creationId xmlns:a16="http://schemas.microsoft.com/office/drawing/2014/main" id="{EF334FA5-EFEC-4880-AB74-FDA39A9CF324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2902119" y="387656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8" name="Espaço Reservado para Conteúdo 4">
            <a:extLst>
              <a:ext uri="{FF2B5EF4-FFF2-40B4-BE49-F238E27FC236}">
                <a16:creationId xmlns:a16="http://schemas.microsoft.com/office/drawing/2014/main" id="{C62A379B-D566-4D7A-B047-927E5BA2A089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6317421" y="387656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4</a:t>
            </a:r>
          </a:p>
        </p:txBody>
      </p:sp>
      <p:sp>
        <p:nvSpPr>
          <p:cNvPr id="39" name="Espaço Reservado para Conteúdo 4">
            <a:extLst>
              <a:ext uri="{FF2B5EF4-FFF2-40B4-BE49-F238E27FC236}">
                <a16:creationId xmlns:a16="http://schemas.microsoft.com/office/drawing/2014/main" id="{265B2327-F611-4CB3-B79A-22014E2BDC29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7025828" y="3876563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40" name="Espaço Reservado para Conteúdo 4">
            <a:extLst>
              <a:ext uri="{FF2B5EF4-FFF2-40B4-BE49-F238E27FC236}">
                <a16:creationId xmlns:a16="http://schemas.microsoft.com/office/drawing/2014/main" id="{875ADBDB-708D-40FF-B05B-63F736D2AC8D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8541871" y="387656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1641899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Forma, Retângulo&#10;&#10;O conteúdo gerado por IA pode estar incorreto.">
            <a:extLst>
              <a:ext uri="{FF2B5EF4-FFF2-40B4-BE49-F238E27FC236}">
                <a16:creationId xmlns:a16="http://schemas.microsoft.com/office/drawing/2014/main" id="{755604ED-8D58-1615-3BD2-70AE34C5B63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DD008399-5FBB-472F-8E3F-633534F80D17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27463" y="1492989"/>
            <a:ext cx="10345783" cy="494711"/>
          </a:xfrm>
          <a:prstGeom prst="rect">
            <a:avLst/>
          </a:prstGeom>
          <a:solidFill>
            <a:schemeClr val="bg1"/>
          </a:solidFill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r>
              <a:rPr lang="pt-BR" dirty="0" err="1"/>
              <a:t>TÍTULO</a:t>
            </a:r>
            <a:r>
              <a:rPr lang="pt-BR" dirty="0"/>
              <a:t> </a:t>
            </a:r>
            <a:r>
              <a:rPr lang="pt-BR" dirty="0" err="1"/>
              <a:t>TÍTULO</a:t>
            </a:r>
            <a:endParaRPr lang="pt-BR" dirty="0"/>
          </a:p>
        </p:txBody>
      </p:sp>
      <p:sp>
        <p:nvSpPr>
          <p:cNvPr id="12" name="Espaço Reservado para Conteúdo 4">
            <a:extLst>
              <a:ext uri="{FF2B5EF4-FFF2-40B4-BE49-F238E27FC236}">
                <a16:creationId xmlns:a16="http://schemas.microsoft.com/office/drawing/2014/main" id="{22C20E1A-1706-435A-BF46-A7988122942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272937" y="2586445"/>
            <a:ext cx="3709852" cy="2778565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2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fr-FR" dirty="0"/>
              <a:t>Fusce quis lacus sit amet</a:t>
            </a:r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8CB7D53B-6460-4A34-8124-84C3FBD464E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196150" y="2586445"/>
            <a:ext cx="3709850" cy="2778565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2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fr-FR" dirty="0"/>
              <a:t>Fusce quis lacus sit amet</a:t>
            </a:r>
          </a:p>
        </p:txBody>
      </p:sp>
    </p:spTree>
    <p:extLst>
      <p:ext uri="{BB962C8B-B14F-4D97-AF65-F5344CB8AC3E}">
        <p14:creationId xmlns:p14="http://schemas.microsoft.com/office/powerpoint/2010/main" val="10365117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>
            <a:extLst>
              <a:ext uri="{FF2B5EF4-FFF2-40B4-BE49-F238E27FC236}">
                <a16:creationId xmlns:a16="http://schemas.microsoft.com/office/drawing/2014/main" id="{0562E0AD-E4EE-02BD-8E08-C54B7CD54BE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Gráfico 8">
            <a:extLst>
              <a:ext uri="{FF2B5EF4-FFF2-40B4-BE49-F238E27FC236}">
                <a16:creationId xmlns:a16="http://schemas.microsoft.com/office/drawing/2014/main" id="{1ADE5E87-BD9B-7C07-F239-DC95941763A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8663" b="40706"/>
          <a:stretch>
            <a:fillRect/>
          </a:stretch>
        </p:blipFill>
        <p:spPr>
          <a:xfrm>
            <a:off x="11287643" y="5957700"/>
            <a:ext cx="610847" cy="567947"/>
          </a:xfrm>
          <a:prstGeom prst="rect">
            <a:avLst/>
          </a:prstGeom>
        </p:spPr>
      </p:pic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A5F91E17-4B22-43C4-BC9A-B85CBB295BD0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85455" y="2973777"/>
            <a:ext cx="5972545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DO SLIDE</a:t>
            </a:r>
          </a:p>
          <a:p>
            <a:pPr lvl="0"/>
            <a:r>
              <a:rPr lang="pt-BR" dirty="0"/>
              <a:t>TÍTULO DO SLIDE</a:t>
            </a:r>
          </a:p>
        </p:txBody>
      </p:sp>
    </p:spTree>
    <p:extLst>
      <p:ext uri="{BB962C8B-B14F-4D97-AF65-F5344CB8AC3E}">
        <p14:creationId xmlns:p14="http://schemas.microsoft.com/office/powerpoint/2010/main" val="280259198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m 8" descr="Logotipo&#10;&#10;O conteúdo gerado por IA pode estar incorreto.">
            <a:extLst>
              <a:ext uri="{FF2B5EF4-FFF2-40B4-BE49-F238E27FC236}">
                <a16:creationId xmlns:a16="http://schemas.microsoft.com/office/drawing/2014/main" id="{D5AE18F8-4C98-E987-C600-30B97C4E563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2" name="Gráfico 11">
            <a:extLst>
              <a:ext uri="{FF2B5EF4-FFF2-40B4-BE49-F238E27FC236}">
                <a16:creationId xmlns:a16="http://schemas.microsoft.com/office/drawing/2014/main" id="{C2EFD695-3E61-27BB-FD99-9C489A1A735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8663" b="40706"/>
          <a:stretch>
            <a:fillRect/>
          </a:stretch>
        </p:blipFill>
        <p:spPr>
          <a:xfrm>
            <a:off x="11287643" y="5957700"/>
            <a:ext cx="610847" cy="567947"/>
          </a:xfrm>
          <a:prstGeom prst="rect">
            <a:avLst/>
          </a:prstGeom>
        </p:spPr>
      </p:pic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C32784AB-7E2C-4D14-865A-F72AC13685F1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58600" y="3821054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107E1770-8F3E-4B77-9943-2EEF8B2A663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49074" y="633344"/>
            <a:ext cx="2529556" cy="46166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spc="600">
                <a:solidFill>
                  <a:srgbClr val="21049A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NOME DA SEÇÃO</a:t>
            </a:r>
            <a:br>
              <a:rPr lang="pt-BR" dirty="0"/>
            </a:br>
            <a:r>
              <a:rPr lang="pt-BR" dirty="0"/>
              <a:t>NOME DA SEÇÃO</a:t>
            </a:r>
          </a:p>
        </p:txBody>
      </p:sp>
      <p:sp>
        <p:nvSpPr>
          <p:cNvPr id="16" name="Espaço Reservado para Conteúdo 4">
            <a:extLst>
              <a:ext uri="{FF2B5EF4-FFF2-40B4-BE49-F238E27FC236}">
                <a16:creationId xmlns:a16="http://schemas.microsoft.com/office/drawing/2014/main" id="{7F7E01A6-0BF4-4257-880E-0E0383602A45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58600" y="2503501"/>
            <a:ext cx="4933333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</p:spTree>
    <p:extLst>
      <p:ext uri="{BB962C8B-B14F-4D97-AF65-F5344CB8AC3E}">
        <p14:creationId xmlns:p14="http://schemas.microsoft.com/office/powerpoint/2010/main" val="87768387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 descr="Uma imagem contendo Interface gráfica do usuário&#10;&#10;O conteúdo gerado por IA pode estar incorreto.">
            <a:extLst>
              <a:ext uri="{FF2B5EF4-FFF2-40B4-BE49-F238E27FC236}">
                <a16:creationId xmlns:a16="http://schemas.microsoft.com/office/drawing/2014/main" id="{1BBAE76A-589A-1DC7-1848-FBCD1ED5F99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8EDDECBF-2EF9-4580-826D-41A2BE4FF0F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094594" y="1287772"/>
            <a:ext cx="6098785" cy="1670102"/>
          </a:xfrm>
          <a:prstGeom prst="rect">
            <a:avLst/>
          </a:prstGeom>
        </p:spPr>
        <p:txBody>
          <a:bodyPr numCol="2" spcCol="180000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1895628F-1505-42BC-8AAC-324418E11977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094594" y="3900126"/>
            <a:ext cx="5708389" cy="1869743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Proin</a:t>
            </a:r>
            <a:r>
              <a:rPr lang="pt-BR" dirty="0"/>
              <a:t> </a:t>
            </a:r>
            <a:r>
              <a:rPr lang="pt-BR" dirty="0" err="1"/>
              <a:t>felis</a:t>
            </a:r>
            <a:r>
              <a:rPr lang="pt-BR" dirty="0"/>
              <a:t> </a:t>
            </a:r>
            <a:r>
              <a:rPr lang="pt-BR" dirty="0" err="1"/>
              <a:t>elit</a:t>
            </a:r>
            <a:r>
              <a:rPr lang="pt-BR" dirty="0"/>
              <a:t>, </a:t>
            </a:r>
            <a:r>
              <a:rPr lang="pt-BR" dirty="0" err="1"/>
              <a:t>pretium</a:t>
            </a:r>
            <a:r>
              <a:rPr lang="pt-BR" dirty="0"/>
              <a:t> </a:t>
            </a:r>
            <a:r>
              <a:rPr lang="pt-BR" dirty="0" err="1"/>
              <a:t>at</a:t>
            </a:r>
            <a:r>
              <a:rPr lang="pt-BR" dirty="0"/>
              <a:t> </a:t>
            </a:r>
            <a:r>
              <a:rPr lang="pt-BR" dirty="0" err="1"/>
              <a:t>ligula</a:t>
            </a:r>
            <a:r>
              <a:rPr lang="pt-BR" dirty="0"/>
              <a:t> et, </a:t>
            </a:r>
            <a:r>
              <a:rPr lang="pt-BR" dirty="0" err="1"/>
              <a:t>venenatis</a:t>
            </a:r>
            <a:r>
              <a:rPr lang="pt-BR" dirty="0"/>
              <a:t> </a:t>
            </a:r>
            <a:r>
              <a:rPr lang="pt-BR" dirty="0" err="1"/>
              <a:t>sollicitudin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pulvinar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762676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Diagrama, Desenho técnico&#10;&#10;O conteúdo gerado por IA pode estar incorreto.">
            <a:extLst>
              <a:ext uri="{FF2B5EF4-FFF2-40B4-BE49-F238E27FC236}">
                <a16:creationId xmlns:a16="http://schemas.microsoft.com/office/drawing/2014/main" id="{04016A07-62CC-4FF1-A3F1-174AA423544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Gráfico 7">
            <a:extLst>
              <a:ext uri="{FF2B5EF4-FFF2-40B4-BE49-F238E27FC236}">
                <a16:creationId xmlns:a16="http://schemas.microsoft.com/office/drawing/2014/main" id="{55A34FD8-10C0-48D2-935C-1995B1CAA55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-8418" t="-46144" b="-40859"/>
          <a:stretch>
            <a:fillRect/>
          </a:stretch>
        </p:blipFill>
        <p:spPr>
          <a:xfrm>
            <a:off x="8223477" y="4675844"/>
            <a:ext cx="3279336" cy="1945427"/>
          </a:xfrm>
          <a:prstGeom prst="rect">
            <a:avLst/>
          </a:prstGeom>
        </p:spPr>
      </p:pic>
      <p:sp>
        <p:nvSpPr>
          <p:cNvPr id="13" name="Espaço Reservado para Conteúdo 4">
            <a:extLst>
              <a:ext uri="{FF2B5EF4-FFF2-40B4-BE49-F238E27FC236}">
                <a16:creationId xmlns:a16="http://schemas.microsoft.com/office/drawing/2014/main" id="{4951D684-8E9D-4D85-AFF1-60D706CBB3CE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198962" y="1561342"/>
            <a:ext cx="9794071" cy="111804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7200">
                <a:ln>
                  <a:solidFill>
                    <a:schemeClr val="bg1"/>
                  </a:solidFill>
                </a:ln>
                <a:noFill/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TEXTO FINAL</a:t>
            </a:r>
          </a:p>
        </p:txBody>
      </p:sp>
    </p:spTree>
    <p:extLst>
      <p:ext uri="{BB962C8B-B14F-4D97-AF65-F5344CB8AC3E}">
        <p14:creationId xmlns:p14="http://schemas.microsoft.com/office/powerpoint/2010/main" val="234837349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720810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301875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49" r:id="rId12"/>
    <p:sldLayoutId id="2147483672" r:id="rId13"/>
    <p:sldLayoutId id="2147483673" r:id="rId14"/>
    <p:sldLayoutId id="2147483674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ckup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552450"/>
            <a:ext cx="2038350" cy="70106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1905000"/>
            <a:ext cx="6667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SEMINÁRIO T1 · TECNOLOGIAS EMERGENTES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133600"/>
            <a:ext cx="7429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5250" b="1" i="0">
                <a:solidFill>
                  <a:srgbClr val="FFFFFF"/>
                </a:solidFill>
                <a:latin typeface="Roboto"/>
              </a:rPr>
              <a:t>Docker e</a:t>
            </a:r>
          </a:p>
          <a:p>
            <a:pPr>
              <a:lnSpc>
                <a:spcPct val="102000"/>
              </a:lnSpc>
            </a:pPr>
            <a:r>
              <a:rPr sz="5250" b="1" i="0">
                <a:solidFill>
                  <a:srgbClr val="FFFFFF"/>
                </a:solidFill>
                <a:latin typeface="Roboto"/>
              </a:rPr>
              <a:t>conteinerização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3848100"/>
            <a:ext cx="609600" cy="47625"/>
          </a:xfrm>
          <a:prstGeom prst="roundRect">
            <a:avLst>
              <a:gd name="adj" fmla="val 4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4114800"/>
            <a:ext cx="76200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80" b="0" i="0">
                <a:solidFill>
                  <a:srgbClr val="D6CFF0"/>
                </a:solidFill>
                <a:latin typeface="Roboto"/>
              </a:rPr>
              <a:t>Como o empacotamento em containers se aplica ao projeto Invite People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EQUIPE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Tiago Passos · Guilherme Toebe</a:t>
            </a:r>
          </a:p>
          <a:p>
            <a:pPr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Andreas Grings · Gabriel Tomasi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53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DISCIPLINA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053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Arquitetura de Software</a:t>
            </a:r>
          </a:p>
          <a:p>
            <a:pPr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Prof. Kleinner Farias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48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248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08 de setembro</a:t>
            </a:r>
          </a:p>
          <a:p>
            <a:pPr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O PROJETO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Invite People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65020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1550" y="2055495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App web de convites virtuais, com confirmação de presença e consolidação de restrições alimentares.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903982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2894457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Duas superfícies sobre o mesmo Model: o convite público sem login e o painel do anfitrião.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742944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3733419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Arquitetura registrada no Guia da Arquitetura: MVC no front e três camadas no back.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581906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1550" y="4572381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Questão Norteadora da Sprint 2: como os componentes serão distribuídos e implantados no ambiente de execução?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5420868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1550" y="5411343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 implementação do produto começa na Sprint 4, em 06/10. A demonstração do final é do ambiente, não do produto.</a:t>
            </a:r>
          </a:p>
        </p:txBody>
      </p:sp>
      <p:sp>
        <p:nvSpPr>
          <p:cNvPr id="15" name="Donut 14"/>
          <p:cNvSpPr/>
          <p:nvPr/>
        </p:nvSpPr>
        <p:spPr>
          <a:xfrm>
            <a:off x="9124950" y="2055495"/>
            <a:ext cx="142875" cy="142875"/>
          </a:xfrm>
          <a:prstGeom prst="donu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72600" y="2065020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ONDE ESTAMOS HOJE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24950" y="2341245"/>
            <a:ext cx="38100" cy="832104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34500" y="2341245"/>
            <a:ext cx="2171700" cy="14036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Três camadas lógicas decididas.</a:t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/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Nenhuma separação física decidida.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A · Introdução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3" name="Picture 2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953500" y="3448050"/>
            <a:ext cx="1676400" cy="247650"/>
          </a:xfrm>
          <a:prstGeom prst="roundRect">
            <a:avLst/>
          </a:prstGeom>
          <a:solidFill>
            <a:srgbClr val="8A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953500" y="3143250"/>
            <a:ext cx="1676400" cy="247650"/>
          </a:xfrm>
          <a:prstGeom prst="roundRect">
            <a:avLst/>
          </a:prstGeom>
          <a:solidFill>
            <a:srgbClr val="C044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953500" y="2838450"/>
            <a:ext cx="1676400" cy="247650"/>
          </a:xfrm>
          <a:prstGeom prst="round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6300" y="1219200"/>
            <a:ext cx="3810000" cy="198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750" b="1" i="0">
                <a:solidFill>
                  <a:srgbClr val="6E59D2"/>
                </a:solidFill>
                <a:latin typeface="Roboto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895600"/>
            <a:ext cx="38100" cy="1714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6800" y="285750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1" i="0" spc="160">
                <a:solidFill>
                  <a:srgbClr val="FFFFFF"/>
                </a:solidFill>
                <a:latin typeface="Roboto"/>
              </a:rPr>
              <a:t>TIAGO · 6 MINUTOS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05150"/>
            <a:ext cx="8191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50" b="1" i="0">
                <a:solidFill>
                  <a:srgbClr val="FFFFFF"/>
                </a:solidFill>
                <a:latin typeface="Roboto"/>
              </a:rPr>
              <a:t>Definições e arquitetura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476750"/>
            <a:ext cx="6858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O que o kernel faz quando alguém digita docker run, e por que a imagem é em camadas.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Bloco 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LINHA DO TEMPO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Do chroot à padronização OCI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3028950"/>
            <a:ext cx="10820400" cy="2857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382486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1979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2950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chroot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28257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31571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8721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primeiro namespace no kernel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74029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77343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2008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34493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cgroups no mainline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19800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23114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2013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80264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Docker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65571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68886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2015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26036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OCI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11343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4657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2017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71807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containerd na CNCF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657114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960429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7579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Kubernetes remove o dockershim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5800" y="4629150"/>
            <a:ext cx="28575" cy="477774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6300" y="4610100"/>
            <a:ext cx="104775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O isolamento de processos existe desde 1979. O que é recente é a padronização da cadeia de execução, a partir de 2015.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B · Definições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DUAS DEFINIÇÕES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Container e imagem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253359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CONTAINER · SÍNTESE DOS MECANISMOS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3462909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758184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374865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 ou mais processos executados com visão isolada por namespaces, consumo limitado por cgroups e privilégio reduzido por capabilities e seccomp, sobre um sistema de arquivos raiz próprio.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62700" y="3253359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IMAGEM · OCI IMAGE SPEC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62700" y="3462909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62700" y="3758184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48450" y="374865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Conjunto ordenado de camadas de sistema de arquivos mais a configuração de execução, identificado por digest.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B · Definições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O QUE O KERNEL ENXERGA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Um container é um processo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com a visão restringida por namespaces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083118"/>
            <a:ext cx="10820400" cy="3286125"/>
          </a:xfrm>
          <a:prstGeom prst="roundRect">
            <a:avLst>
              <a:gd name="adj" fmla="val 2318"/>
            </a:avLst>
          </a:prstGeom>
          <a:solidFill>
            <a:srgbClr val="12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52500" y="2292668"/>
            <a:ext cx="323850" cy="28575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2235518"/>
            <a:ext cx="1905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0" i="0" spc="140">
                <a:solidFill>
                  <a:srgbClr val="8A8A9A"/>
                </a:solidFill>
                <a:latin typeface="Roboto"/>
              </a:rPr>
              <a:t>TERMINAL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2500" y="2578418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run -d --name web nginx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2500" y="2816542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ps -eo pid,comm | grep nginx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500" y="3054668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  4821 nginx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2500" y="3292792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" y="3530918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lsns -p 4821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500" y="3769042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       NS TYPE   NPROCS   PID USER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2500" y="4007168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4026532191 mnt         3  4821 root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500" y="4245292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4026532192 uts         3  4821 root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2500" y="4483418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4026532193 ipc         3  4821 root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2500" y="4721542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4026532194 pid         3  4821 root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2500" y="4959668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4026532196 net         3  4821 root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5597842"/>
            <a:ext cx="28575" cy="37719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6300" y="5578792"/>
            <a:ext cx="106299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Saída da distro docker-desktop do WSL. No Docker Desktop em Windows o daemon e os containers rodam numa distro própria, com namespace de PID separado, então ps na distro de trabalho não mostraria container nenhum.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B · Arquitetura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NAMESPACES E CGROUPS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Namespaces isolam a visão.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Cgroups limitam o consumo.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589276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NAMESPACES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798826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094101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308457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mnt dá árvore de montagem própria.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624834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361530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pid faz o processo virar PID 1 lá dentro.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155567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1550" y="414604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net dá pilha de rede própria, por isso dois containers escutam na mesma porta.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950333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1550" y="494080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clone e unshare criam um namespace. setns entra num que já existe.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2700" y="2589276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CGROUPS V2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62700" y="2798826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62700" y="3094101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48450" y="308457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Não isolam. Contabilizam e limitam.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2700" y="3624834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48450" y="361530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Estourar memory.max não deixa lento: o kernel mata e o Docker reporta 137.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62700" y="4419600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48450" y="4410075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Limite de CPU é throttling. Degrada latência de cauda, não a média, e por isso é mais difícil de diagnosticar.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B · Arquitetura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ESTRUTURA DA IMAGEM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Camadas somente leitura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e a camada de escrita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7250" y="2343150"/>
            <a:ext cx="4381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60">
                <a:solidFill>
                  <a:srgbClr val="6B6B78"/>
                </a:solidFill>
                <a:latin typeface="Roboto"/>
              </a:rPr>
              <a:t>CAMADAS DE UMA IMAGEM E DO CONTAINER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7250" y="4057650"/>
            <a:ext cx="3429000" cy="438150"/>
          </a:xfrm>
          <a:prstGeom prst="roundRect">
            <a:avLst>
              <a:gd name="adj" fmla="val 8695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7750" y="4191000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"/>
              </a:rPr>
              <a:t>camada base (debian, alpine)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7250" y="3562350"/>
            <a:ext cx="3429000" cy="438150"/>
          </a:xfrm>
          <a:prstGeom prst="roundRect">
            <a:avLst>
              <a:gd name="adj" fmla="val 8695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3695700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"/>
              </a:rPr>
              <a:t>dependências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7250" y="3067050"/>
            <a:ext cx="3429000" cy="438150"/>
          </a:xfrm>
          <a:prstGeom prst="roundRect">
            <a:avLst>
              <a:gd name="adj" fmla="val 8695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7750" y="3200400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"/>
              </a:rPr>
              <a:t>código da aplicação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00550" y="3067050"/>
            <a:ext cx="28575" cy="14287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2950" y="4629150"/>
            <a:ext cx="36576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as três de baixo são somente leitura, endereçadas por digest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7250" y="2514600"/>
            <a:ext cx="3429000" cy="495300"/>
          </a:xfrm>
          <a:prstGeom prst="roundRect">
            <a:avLst>
              <a:gd name="adj" fmla="val 7692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7750" y="2609850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>
                <a:solidFill>
                  <a:srgbClr val="E94D1C"/>
                </a:solidFill>
                <a:latin typeface="Roboto"/>
              </a:rPr>
              <a:t>camada de escrita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7750" y="2790825"/>
            <a:ext cx="3048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criada pelo container, morre com ele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857750" y="2457450"/>
            <a:ext cx="0" cy="215265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257800" y="2914650"/>
            <a:ext cx="361950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1049A"/>
                </a:solidFill>
                <a:latin typeface="Roboto"/>
              </a:rPr>
              <a:t>copy-up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57800" y="3181350"/>
            <a:ext cx="3810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alterar um byte de um arquivo grande copia o arquivo inteiro para cima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57800" y="3752850"/>
            <a:ext cx="361950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1049A"/>
                </a:solidFill>
                <a:latin typeface="Roboto"/>
              </a:rPr>
              <a:t>whiteout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57800" y="4019550"/>
            <a:ext cx="3810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apagar cria uma marcação, o arquivo continua na camada de baixo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5638800"/>
            <a:ext cx="28575" cy="427482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6300" y="5619750"/>
            <a:ext cx="106299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Um Dockerfile que copia um .env e faz RUN rm na instrução seguinte produz uma imagem em que o segredo continua legível. No nosso caso o segredo seria a senha do banco e o segredo de sessão do UC001.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B · Arquitetura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A PILHA DE EXECUÇÃO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CLI, dockerd, containerd,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shim e runc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7250" y="3333750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7250" y="3448050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docker CLI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657600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cliente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52750" y="3333750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52750" y="3448050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dockerd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09900" y="3657600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daemon, roda como root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628900" y="3648075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048250" y="3333750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48250" y="3448050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containerd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05400" y="3657600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ciclo de vida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724400" y="3648075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143750" y="3333750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43750" y="3448050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shim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00900" y="3657600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um por container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19900" y="3648075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9239250" y="3333750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39250" y="3448050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runc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96400" y="3657600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cria e sai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915400" y="3648075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667250" y="3086100"/>
            <a:ext cx="8572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>
                <a:solidFill>
                  <a:srgbClr val="21049A"/>
                </a:solidFill>
                <a:latin typeface="Roboto"/>
              </a:rPr>
              <a:t>gRPC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7250" y="4352925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" y="4343400"/>
            <a:ext cx="96202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O shim é pai do container e não filho do daemon. Foi esse desenho que fez reiniciar o daemon deixar de matar os containers em execução.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7250" y="4970907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4961382"/>
            <a:ext cx="96202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O runc cria os namespaces, configura cgroups, aplica capabilities e seccomp, faz pivot_root, dá execve e sai.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B · Arquitetura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RESTRIÇÃO DE PRIVILÉGIO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Capabilities, seccomp e LSM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042285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1550" y="3032760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 i="0">
                <a:solidFill>
                  <a:srgbClr val="1A1A1E"/>
                </a:solidFill>
                <a:latin typeface="Roboto"/>
              </a:rPr>
              <a:t>Capabilities.</a:t>
            </a:r>
            <a:r>
              <a:rPr sz="1650" b="0" i="0">
                <a:solidFill>
                  <a:srgbClr val="1A1A1E"/>
                </a:solidFill>
                <a:latin typeface="Roboto"/>
              </a:rPr>
              <a:t> O root do POSIX fatiado em cerca de quarenta bits independentes, derrubados e devolvidos um a um.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881247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3871722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 i="0">
                <a:solidFill>
                  <a:srgbClr val="1A1A1E"/>
                </a:solidFill>
                <a:latin typeface="Roboto"/>
              </a:rPr>
              <a:t>Seccomp-bpf.</a:t>
            </a:r>
            <a:r>
              <a:rPr sz="1650" b="0" i="0">
                <a:solidFill>
                  <a:srgbClr val="1A1A1E"/>
                </a:solidFill>
                <a:latin typeface="Roboto"/>
              </a:rPr>
              <a:t> O perfil padrão bloqueia cerca de 44 chamadas de sistema de mais de trezentas.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720209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4710684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 i="0">
                <a:solidFill>
                  <a:srgbClr val="1A1A1E"/>
                </a:solidFill>
                <a:latin typeface="Roboto"/>
              </a:rPr>
              <a:t>LSM.</a:t>
            </a:r>
            <a:r>
              <a:rPr sz="1650" b="0" i="0">
                <a:solidFill>
                  <a:srgbClr val="1A1A1E"/>
                </a:solidFill>
                <a:latin typeface="Roboto"/>
              </a:rPr>
              <a:t> AppArmor ou SELinux por cima de tudo.</a:t>
            </a:r>
          </a:p>
        </p:txBody>
      </p:sp>
      <p:sp>
        <p:nvSpPr>
          <p:cNvPr id="11" name="Isosceles Triangle 10"/>
          <p:cNvSpPr/>
          <p:nvPr/>
        </p:nvSpPr>
        <p:spPr>
          <a:xfrm>
            <a:off x="9124950" y="3032760"/>
            <a:ext cx="152400" cy="133350"/>
          </a:xfrm>
          <a:prstGeom prst="triangle">
            <a:avLst/>
          </a:prstGeom>
          <a:noFill/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93530" y="3089910"/>
            <a:ext cx="15240" cy="381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72600" y="3042285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CUIDADO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24950" y="3318510"/>
            <a:ext cx="38100" cy="603504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34500" y="3318510"/>
            <a:ext cx="2171700" cy="11750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A opção --privileged devolve tudo de uma vez e ainda desliga o seccomp.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B · Arquitetura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914400" y="1638300"/>
            <a:ext cx="38100" cy="1714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66800" y="1600200"/>
            <a:ext cx="8572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1" i="0" spc="160">
                <a:solidFill>
                  <a:srgbClr val="FFFFFF"/>
                </a:solidFill>
                <a:latin typeface="Roboto"/>
              </a:rPr>
              <a:t>OCI, FUNDADA EM 2015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66900"/>
            <a:ext cx="9715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450" b="1" i="0">
                <a:solidFill>
                  <a:srgbClr val="FFFFFF"/>
                </a:solidFill>
                <a:latin typeface="Roboto"/>
              </a:rPr>
              <a:t>Docker implementa as</a:t>
            </a:r>
          </a:p>
          <a:p>
            <a:pPr>
              <a:lnSpc>
                <a:spcPct val="106000"/>
              </a:lnSpc>
            </a:pPr>
            <a:r>
              <a:rPr sz="3450" b="1" i="0">
                <a:solidFill>
                  <a:srgbClr val="FFFFFF"/>
                </a:solidFill>
                <a:latin typeface="Roboto"/>
              </a:rPr>
              <a:t>especificações da OCI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095750"/>
            <a:ext cx="8572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Fundada em 2015 sob a Linux Foundation, com a Runtime Spec, a Image Spec e a Distribution Spec. O runc é trocável por crun, gVisor ou Kata. O engine é trocável por Podman. É um exemplo da substituibilidade por compatibilidade de interface da Aula 05.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Bloco B · Arquitetura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3" name="Picture 2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953500" y="3048000"/>
            <a:ext cx="590550" cy="590550"/>
          </a:xfrm>
          <a:prstGeom prst="roundRect">
            <a:avLst/>
          </a:prstGeom>
          <a:solidFill>
            <a:srgbClr val="8A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ight Arrow 4"/>
          <p:cNvSpPr/>
          <p:nvPr/>
        </p:nvSpPr>
        <p:spPr>
          <a:xfrm>
            <a:off x="9658350" y="3219450"/>
            <a:ext cx="419100" cy="247650"/>
          </a:xfrm>
          <a:prstGeom prst="rightArrow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191750" y="3048000"/>
            <a:ext cx="590550" cy="590550"/>
          </a:xfrm>
          <a:prstGeom prst="round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6300" y="1219200"/>
            <a:ext cx="3810000" cy="198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750" b="1" i="0">
                <a:solidFill>
                  <a:srgbClr val="6E59D2"/>
                </a:solidFill>
                <a:latin typeface="Roboto"/>
              </a:rPr>
              <a:t>02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895600"/>
            <a:ext cx="38100" cy="1714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6800" y="285750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1" i="0" spc="160">
                <a:solidFill>
                  <a:srgbClr val="FFFFFF"/>
                </a:solidFill>
                <a:latin typeface="Roboto"/>
              </a:rPr>
              <a:t>GABRIEL · 6 MINUTOS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05150"/>
            <a:ext cx="8191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50" b="1" i="0">
                <a:solidFill>
                  <a:srgbClr val="FFFFFF"/>
                </a:solidFill>
                <a:latin typeface="Roboto"/>
              </a:rPr>
              <a:t>Aplicação no Invite People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476750"/>
            <a:ext cx="6858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Mapeamento entre os diagramas da Sprint 2 e o arquivo de compose, com o número de cada task.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Bloco 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CAMADA LÓGICA E TIER, AULA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Layer é camada lógica.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Tier é separação física.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7250" y="2562225"/>
            <a:ext cx="100012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40">
                <a:solidFill>
                  <a:srgbClr val="6B6B78"/>
                </a:solidFill>
                <a:latin typeface="Roboto"/>
              </a:rPr>
              <a:t>AS TRÊS CAMADAS LÓGICAS FICAM SEMPRE NA MESMA IMAGEM. O QUE MUDA É ONDE FRONT E BANCO RODAM.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7250" y="2809875"/>
            <a:ext cx="2724150" cy="1504950"/>
          </a:xfrm>
          <a:prstGeom prst="roundRect">
            <a:avLst>
              <a:gd name="adj" fmla="val 3164"/>
            </a:avLst>
          </a:prstGeom>
          <a:solidFill>
            <a:srgbClr val="EEEBF7"/>
          </a:solidFill>
          <a:ln w="12700">
            <a:solidFill>
              <a:srgbClr val="2104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9650" y="2886075"/>
            <a:ext cx="241935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9650" y="2943225"/>
            <a:ext cx="24193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front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9650" y="3171825"/>
            <a:ext cx="2419350" cy="781050"/>
          </a:xfrm>
          <a:prstGeom prst="roundRect">
            <a:avLst>
              <a:gd name="adj" fmla="val 3658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8225" y="3286125"/>
            <a:ext cx="2362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Apresentação e API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8225" y="3514725"/>
            <a:ext cx="2362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Domínio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8225" y="3743325"/>
            <a:ext cx="2362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Dados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9650" y="3990975"/>
            <a:ext cx="241935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9650" y="4048125"/>
            <a:ext cx="24193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" y="4429125"/>
            <a:ext cx="27241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21049A"/>
                </a:solidFill>
                <a:latin typeface="Roboto"/>
              </a:rPr>
              <a:t>1 tier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7250" y="4638675"/>
            <a:ext cx="27241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tudo num processo só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62425" y="2809875"/>
            <a:ext cx="1143000" cy="1504950"/>
          </a:xfrm>
          <a:prstGeom prst="roundRect">
            <a:avLst>
              <a:gd name="adj" fmla="val 4166"/>
            </a:avLst>
          </a:prstGeom>
          <a:solidFill>
            <a:srgbClr val="EEEBF7"/>
          </a:solidFill>
          <a:ln w="12700">
            <a:solidFill>
              <a:srgbClr val="2104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295775" y="3476625"/>
            <a:ext cx="87630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95775" y="3533775"/>
            <a:ext cx="8763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front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95925" y="2809875"/>
            <a:ext cx="1390650" cy="1504950"/>
          </a:xfrm>
          <a:prstGeom prst="roundRect">
            <a:avLst>
              <a:gd name="adj" fmla="val 3424"/>
            </a:avLst>
          </a:prstGeom>
          <a:solidFill>
            <a:srgbClr val="EEEBF7"/>
          </a:solidFill>
          <a:ln w="12700">
            <a:solidFill>
              <a:srgbClr val="2104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562600" y="3028950"/>
            <a:ext cx="1257300" cy="781050"/>
          </a:xfrm>
          <a:prstGeom prst="roundRect">
            <a:avLst>
              <a:gd name="adj" fmla="val 3658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91175" y="3143250"/>
            <a:ext cx="12001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Apresentação e API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91175" y="3371850"/>
            <a:ext cx="12001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Domínio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91175" y="3600450"/>
            <a:ext cx="12001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Dados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29275" y="3867150"/>
            <a:ext cx="112395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29275" y="3924300"/>
            <a:ext cx="11239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62425" y="4429125"/>
            <a:ext cx="27241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21049A"/>
                </a:solidFill>
                <a:latin typeface="Roboto"/>
              </a:rPr>
              <a:t>2 tiers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62425" y="4638675"/>
            <a:ext cx="27241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front separado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239000" y="2809875"/>
            <a:ext cx="838200" cy="1504950"/>
          </a:xfrm>
          <a:prstGeom prst="roundRect">
            <a:avLst>
              <a:gd name="adj" fmla="val 5681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353300" y="3476625"/>
            <a:ext cx="60960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53300" y="3533775"/>
            <a:ext cx="609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1A1A1E"/>
                </a:solidFill>
                <a:latin typeface="Roboto"/>
              </a:rPr>
              <a:t>front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305800" y="2809875"/>
            <a:ext cx="1619250" cy="1504950"/>
          </a:xfrm>
          <a:prstGeom prst="roundRect">
            <a:avLst>
              <a:gd name="adj" fmla="val 3164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8420100" y="3171825"/>
            <a:ext cx="1390650" cy="781050"/>
          </a:xfrm>
          <a:prstGeom prst="roundRect">
            <a:avLst>
              <a:gd name="adj" fmla="val 3658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48675" y="3286125"/>
            <a:ext cx="133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Apresentação e API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48675" y="3514725"/>
            <a:ext cx="133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Domínio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48675" y="3743325"/>
            <a:ext cx="133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Dados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153650" y="2809875"/>
            <a:ext cx="838200" cy="1504950"/>
          </a:xfrm>
          <a:prstGeom prst="roundRect">
            <a:avLst>
              <a:gd name="adj" fmla="val 5681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0267950" y="3476625"/>
            <a:ext cx="60960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267950" y="3533775"/>
            <a:ext cx="609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39000" y="4429125"/>
            <a:ext cx="37528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21049A"/>
                </a:solidFill>
                <a:latin typeface="Roboto"/>
              </a:rPr>
              <a:t>3 tiers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39000" y="4638675"/>
            <a:ext cx="37528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banco isolado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85800" y="5638800"/>
            <a:ext cx="28575" cy="641223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76300" y="5619750"/>
            <a:ext cx="106299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Nenhuma das três muda uma linha do projeto lógico. Todas mudam o empacotamento, e essa escolha é entrada do ADR #63. Cuidado com o vocabulário: Docker usa </a:t>
            </a:r>
            <a:r>
              <a:rPr sz="1280" b="0" i="1">
                <a:solidFill>
                  <a:srgbClr val="3A3A44"/>
                </a:solidFill>
                <a:latin typeface="Roboto"/>
              </a:rPr>
              <a:t>layer</a:t>
            </a:r>
            <a:r>
              <a:rPr sz="1280" b="0" i="0">
                <a:solidFill>
                  <a:srgbClr val="3A3A44"/>
                </a:solidFill>
                <a:latin typeface="Roboto"/>
              </a:rPr>
              <a:t> para o empilhamento do sistema de arquivos da imagem, que não tem relação com a camada lógica da Aula 03.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C · Aplicação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MODELAGEM UML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Container é ambiente de execução,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imagem é artefato</a:t>
            </a:r>
          </a:p>
        </p:txBody>
      </p:sp>
      <p:sp>
        <p:nvSpPr>
          <p:cNvPr id="5" name="Rectangle 4"/>
          <p:cNvSpPr/>
          <p:nvPr/>
        </p:nvSpPr>
        <p:spPr>
          <a:xfrm>
            <a:off x="857250" y="2771775"/>
            <a:ext cx="3810000" cy="2286000"/>
          </a:xfrm>
          <a:prstGeom prst="rect">
            <a:avLst/>
          </a:prstGeom>
          <a:noFill/>
          <a:ln w="317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7750" y="2924175"/>
            <a:ext cx="3429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40">
                <a:solidFill>
                  <a:srgbClr val="21049A"/>
                </a:solidFill>
                <a:latin typeface="Roboto"/>
              </a:rPr>
              <a:t>«device»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7750" y="3114675"/>
            <a:ext cx="3429000" cy="289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20" b="1" i="0">
                <a:solidFill>
                  <a:srgbClr val="21049A"/>
                </a:solidFill>
                <a:latin typeface="Roboto"/>
              </a:rPr>
              <a:t>Host de desenvolvimento</a:t>
            </a:r>
          </a:p>
        </p:txBody>
      </p:sp>
      <p:sp>
        <p:nvSpPr>
          <p:cNvPr id="8" name="Rectangle 7"/>
          <p:cNvSpPr/>
          <p:nvPr/>
        </p:nvSpPr>
        <p:spPr>
          <a:xfrm>
            <a:off x="1162050" y="3476625"/>
            <a:ext cx="3200400" cy="1390650"/>
          </a:xfrm>
          <a:prstGeom prst="rect">
            <a:avLst/>
          </a:prstGeom>
          <a:noFill/>
          <a:ln w="2540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52550" y="3609975"/>
            <a:ext cx="285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«executionEnvironment»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52550" y="3819525"/>
            <a:ext cx="2857500" cy="259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80" b="1" i="0">
                <a:solidFill>
                  <a:srgbClr val="E94D1C"/>
                </a:solidFill>
                <a:latin typeface="Roboto"/>
              </a:rPr>
              <a:t>Container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66850" y="4143375"/>
            <a:ext cx="2590800" cy="552450"/>
          </a:xfrm>
          <a:prstGeom prst="roundRect">
            <a:avLst>
              <a:gd name="adj" fmla="val 5172"/>
            </a:avLst>
          </a:prstGeom>
          <a:solidFill>
            <a:srgbClr val="F2F2F5"/>
          </a:solidFill>
          <a:ln w="12700">
            <a:solidFill>
              <a:srgbClr val="6B6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57350" y="4257675"/>
            <a:ext cx="22860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60" b="1" i="0" spc="120">
                <a:solidFill>
                  <a:srgbClr val="6B6B78"/>
                </a:solidFill>
                <a:latin typeface="Roboto"/>
              </a:rPr>
              <a:t>«artifact»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57350" y="4448175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1A1A1E"/>
                </a:solidFill>
                <a:latin typeface="Roboto"/>
              </a:rPr>
              <a:t>imagem (tag + digest)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43500" y="2962275"/>
            <a:ext cx="4000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80" b="1" i="0">
                <a:solidFill>
                  <a:srgbClr val="21049A"/>
                </a:solidFill>
                <a:latin typeface="Roboto"/>
              </a:rPr>
              <a:t>Ambiente de execução é</a:t>
            </a:r>
          </a:p>
          <a:p>
            <a:pPr>
              <a:lnSpc>
                <a:spcPct val="128000"/>
              </a:lnSpc>
            </a:pPr>
            <a:r>
              <a:rPr sz="1280" b="1" i="0">
                <a:solidFill>
                  <a:srgbClr val="21049A"/>
                </a:solidFill>
                <a:latin typeface="Roboto"/>
              </a:rPr>
              <a:t>uma especialização de nó.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43500" y="3629025"/>
            <a:ext cx="4095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90" b="0" i="0">
                <a:solidFill>
                  <a:srgbClr val="1A1A1E"/>
                </a:solidFill>
                <a:latin typeface="Roboto"/>
              </a:rPr>
              <a:t>Por isso nunca dizer que container não é nó. O modelo fiel é o container aninhado no host, com a imagem implantada dentro dele.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143500" y="4410075"/>
            <a:ext cx="4095750" cy="0"/>
          </a:xfrm>
          <a:prstGeom prst="line">
            <a:avLst/>
          </a:prstGeom>
          <a:ln w="254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143500" y="4562475"/>
            <a:ext cx="4095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90" b="0" i="0">
                <a:solidFill>
                  <a:srgbClr val="1A1A1E"/>
                </a:solidFill>
                <a:latin typeface="Roboto"/>
              </a:rPr>
              <a:t>Máquina virtual, essa sim, é um nó novo, com sistema operacional próprio.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C · Aplicação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RASCUNHOS DOS ITENS #59 E #60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Mapeamento dos componentes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para os nós do diagrama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7250" y="3028950"/>
            <a:ext cx="3810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40">
                <a:solidFill>
                  <a:srgbClr val="21049A"/>
                </a:solidFill>
                <a:latin typeface="Roboto"/>
              </a:rPr>
              <a:t>RASCUNHO #59, DIAGRAMA DE COMPONENTES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857250" y="3200400"/>
            <a:ext cx="3810000" cy="1866900"/>
          </a:xfrm>
          <a:prstGeom prst="rect">
            <a:avLst/>
          </a:prstGeom>
          <a:noFill/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23950" y="3448050"/>
            <a:ext cx="1428750" cy="457200"/>
          </a:xfrm>
          <a:prstGeom prst="roundRect">
            <a:avLst>
              <a:gd name="adj" fmla="val 625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3950" y="3600450"/>
            <a:ext cx="14287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FFFFFF"/>
                </a:solidFill>
                <a:latin typeface="Roboto"/>
              </a:rPr>
              <a:t>Convite público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71800" y="3448050"/>
            <a:ext cx="1428750" cy="457200"/>
          </a:xfrm>
          <a:prstGeom prst="roundRect">
            <a:avLst>
              <a:gd name="adj" fmla="val 625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71800" y="3600450"/>
            <a:ext cx="14287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FFFFFF"/>
                </a:solidFill>
                <a:latin typeface="Roboto"/>
              </a:rPr>
              <a:t>Painel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47875" y="4114800"/>
            <a:ext cx="1428750" cy="419100"/>
          </a:xfrm>
          <a:prstGeom prst="roundRect">
            <a:avLst>
              <a:gd name="adj" fmla="val 6818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47875" y="4248150"/>
            <a:ext cx="14287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FFFFFF"/>
                </a:solidFill>
                <a:latin typeface="Roboto"/>
              </a:rPr>
              <a:t>API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47875" y="4667250"/>
            <a:ext cx="1428750" cy="285750"/>
          </a:xfrm>
          <a:prstGeom prst="roundRect">
            <a:avLst>
              <a:gd name="adj" fmla="val 10000"/>
            </a:avLst>
          </a:prstGeom>
          <a:solidFill>
            <a:srgbClr val="6B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47875" y="4733925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Dados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838325" y="3905250"/>
            <a:ext cx="733425" cy="20955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2952750" y="3905250"/>
            <a:ext cx="733425" cy="20955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2762250" y="4533900"/>
            <a:ext cx="0" cy="13335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4667250" y="4133850"/>
            <a:ext cx="1524000" cy="0"/>
          </a:xfrm>
          <a:prstGeom prst="line">
            <a:avLst/>
          </a:prstGeom>
          <a:ln w="38100">
            <a:solidFill>
              <a:srgbClr val="E94D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953000" y="3886200"/>
            <a:ext cx="952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1" i="0">
                <a:solidFill>
                  <a:srgbClr val="E94D1C"/>
                </a:solidFill>
                <a:latin typeface="Roboto"/>
              </a:rPr>
              <a:t>#72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91250" y="3028950"/>
            <a:ext cx="4000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40">
                <a:solidFill>
                  <a:srgbClr val="E94D1C"/>
                </a:solidFill>
                <a:latin typeface="Roboto"/>
              </a:rPr>
              <a:t>RASCUNHO #60, DIAGRAMA DE IMPLANTAÇÃO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91250" y="3200400"/>
            <a:ext cx="3810000" cy="1866900"/>
          </a:xfrm>
          <a:prstGeom prst="rect">
            <a:avLst/>
          </a:prstGeom>
          <a:noFill/>
          <a:ln w="2540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81750" y="3314700"/>
            <a:ext cx="1905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>
                <a:solidFill>
                  <a:srgbClr val="E94D1C"/>
                </a:solidFill>
                <a:latin typeface="Roboto"/>
              </a:rPr>
              <a:t>«device» host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81750" y="3543300"/>
            <a:ext cx="1066800" cy="495300"/>
          </a:xfrm>
          <a:prstGeom prst="rect">
            <a:avLst/>
          </a:prstGeom>
          <a:noFill/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3619500"/>
            <a:ext cx="10287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1" i="0">
                <a:solidFill>
                  <a:srgbClr val="21049A"/>
                </a:solidFill>
                <a:latin typeface="Roboto"/>
              </a:rPr>
              <a:t>«executionEnv»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3790950"/>
            <a:ext cx="1028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1A1A1E"/>
                </a:solidFill>
                <a:latin typeface="Roboto"/>
              </a:rPr>
              <a:t>front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562850" y="3543300"/>
            <a:ext cx="1066800" cy="495300"/>
          </a:xfrm>
          <a:prstGeom prst="rect">
            <a:avLst/>
          </a:prstGeom>
          <a:noFill/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81900" y="3619500"/>
            <a:ext cx="10287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1" i="0">
                <a:solidFill>
                  <a:srgbClr val="21049A"/>
                </a:solidFill>
                <a:latin typeface="Roboto"/>
              </a:rPr>
              <a:t>«executionEnv»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1900" y="3790950"/>
            <a:ext cx="1028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1A1A1E"/>
                </a:solidFill>
                <a:latin typeface="Roboto"/>
              </a:rPr>
              <a:t>API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448550" y="3790950"/>
            <a:ext cx="114300" cy="0"/>
          </a:xfrm>
          <a:prstGeom prst="line">
            <a:avLst/>
          </a:prstGeom>
          <a:ln w="20320">
            <a:solidFill>
              <a:srgbClr val="E94D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8743950" y="3543300"/>
            <a:ext cx="1066800" cy="495300"/>
          </a:xfrm>
          <a:prstGeom prst="rect">
            <a:avLst/>
          </a:prstGeom>
          <a:noFill/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63000" y="3619500"/>
            <a:ext cx="10287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1" i="0">
                <a:solidFill>
                  <a:srgbClr val="21049A"/>
                </a:solidFill>
                <a:latin typeface="Roboto"/>
              </a:rPr>
              <a:t>«executionEnv»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63000" y="3790950"/>
            <a:ext cx="1028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629650" y="3790950"/>
            <a:ext cx="114300" cy="0"/>
          </a:xfrm>
          <a:prstGeom prst="line">
            <a:avLst/>
          </a:prstGeom>
          <a:ln w="20320">
            <a:solidFill>
              <a:srgbClr val="E94D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6381750" y="4267200"/>
            <a:ext cx="3429000" cy="323850"/>
          </a:xfrm>
          <a:prstGeom prst="roundRect">
            <a:avLst>
              <a:gd name="adj" fmla="val 8823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81750" y="4362450"/>
            <a:ext cx="3429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E94D1C"/>
                </a:solidFill>
                <a:latin typeface="Roboto"/>
              </a:rPr>
              <a:t>rede nomeada, resolução por nome de serviço  ·  #75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81750" y="4762500"/>
            <a:ext cx="36195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60" b="0" i="0">
                <a:solidFill>
                  <a:srgbClr val="6B6B78"/>
                </a:solidFill>
                <a:latin typeface="Roboto"/>
              </a:rPr>
              <a:t>#71 nós  ·  #73 imagem por tag e digest  ·  #74, #76 e #77 são passos de processo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C · Aplicação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INTERFACES NO ARQUIVO DE COMPOSE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Onde ficam a interface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provida e a requerida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505075"/>
            <a:ext cx="5905500" cy="2895600"/>
          </a:xfrm>
          <a:prstGeom prst="roundRect">
            <a:avLst>
              <a:gd name="adj" fmla="val 2631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3450" y="271462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services: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3450" y="296227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api: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3450" y="320992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image: node:22-alpine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3450" y="345757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ports: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3450" y="370522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  - "3000:3000"        # interface provida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3450" y="395287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environment: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3450" y="420052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  DATABASE_URL: ...    # interface requerida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450" y="444817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depends_on: [db]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3450" y="469582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db: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450" y="494347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image: postgres:16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8500" y="2514600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34250" y="2505075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porta publicada mais o contrato HTTP é a </a:t>
            </a:r>
            <a:r>
              <a:rPr sz="1280" b="1" i="0">
                <a:solidFill>
                  <a:srgbClr val="1A1A1E"/>
                </a:solidFill>
                <a:latin typeface="Roboto"/>
              </a:rPr>
              <a:t>interface provida</a:t>
            </a:r>
            <a:r>
              <a:rPr sz="1280" b="0" i="0">
                <a:solidFill>
                  <a:srgbClr val="1A1A1E"/>
                </a:solidFill>
                <a:latin typeface="Roboto"/>
              </a:rPr>
              <a:t>, o pirulito da UML.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8500" y="3094482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34250" y="3084957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variável de conexão mais a dependência declarada é a </a:t>
            </a:r>
            <a:r>
              <a:rPr sz="1280" b="1" i="0">
                <a:solidFill>
                  <a:srgbClr val="1A1A1E"/>
                </a:solidFill>
                <a:latin typeface="Roboto"/>
              </a:rPr>
              <a:t>interface requerida</a:t>
            </a:r>
            <a:r>
              <a:rPr sz="1280" b="0" i="0">
                <a:solidFill>
                  <a:srgbClr val="1A1A1E"/>
                </a:solidFill>
                <a:latin typeface="Roboto"/>
              </a:rPr>
              <a:t>, o soquete.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8500" y="3674364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34250" y="3664839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porta da UML é literalmente a porta do container, com o mesmo desenho e o mesmo nome.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8500" y="4254246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34250" y="4244721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1" i="0">
                <a:solidFill>
                  <a:srgbClr val="1A1A1E"/>
                </a:solidFill>
                <a:latin typeface="Roboto"/>
              </a:rPr>
              <a:t>As imagens são exemplo.</a:t>
            </a:r>
            <a:r>
              <a:rPr sz="1280" b="0" i="0">
                <a:solidFill>
                  <a:srgbClr val="1A1A1E"/>
                </a:solidFill>
                <a:latin typeface="Roboto"/>
              </a:rPr>
              <a:t> A stack ainda não foi decidida, é assunto do ADR #63.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C · Aplicação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COESÃO E ACOPLAMENTO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que a fronteira garante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e o que ela não garante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193226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GARANTE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402776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698052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268852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Mais coesão: uma responsabilidade por imagem.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228784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321926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código do front não está na imagem da API, então a API não depende dele nem por acidente.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023550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1550" y="401402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Só o serviço de fronteira publica porta. O banco fica na rede interna sem mapeamento.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818316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1550" y="48087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Uma regra escrita na wiki depende de alguém revisar. A mesma regra na topologia é verificada pela estrutura, o que reduz a degradação arquitetural da Aula 02.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2700" y="2193226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NÃO GARANTE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62700" y="2402776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62700" y="2698052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48450" y="268852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A regra entre as nossas três camadas. Elas ficam na mesma imagem do back-end.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2700" y="3492818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48450" y="34832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Redução de acoplamento. Ele muda de forma e passa a ter latência, falha parcial e ordem de subida.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C · Aplicação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CONSEQUÊNCIA PARA O PROJETO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Duas views sobre o mesmo Model,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dois perfis de carga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042285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1550" y="3032760"/>
            <a:ext cx="75819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 jornada da Marina descreve o link caindo no grupo da família. Pico no convite público (UC005), uma pessoa no painel (UC007).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881247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3871722"/>
            <a:ext cx="75819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Replicar só o serviço público faz sentido. Replicar o painel não.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443603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4434078"/>
            <a:ext cx="75819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Para isso valer, o convite público não pode guardar sessão em memória nem gravar upload em disco local.</a:t>
            </a:r>
          </a:p>
        </p:txBody>
      </p:sp>
      <p:sp>
        <p:nvSpPr>
          <p:cNvPr id="11" name="Donut 10"/>
          <p:cNvSpPr/>
          <p:nvPr/>
        </p:nvSpPr>
        <p:spPr>
          <a:xfrm>
            <a:off x="9124950" y="3032760"/>
            <a:ext cx="142875" cy="142875"/>
          </a:xfrm>
          <a:prstGeom prst="donu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72600" y="3042285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EM ABERTO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24950" y="3318510"/>
            <a:ext cx="38100" cy="1033272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34500" y="3318510"/>
            <a:ext cx="2171700" cy="1604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Mesma imagem de front ou imagens separadas?</a:t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/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Entrada direta para o #59 e o #60. Ainda não decidida.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C · Aplicação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3" name="Picture 2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953500" y="2876550"/>
            <a:ext cx="704850" cy="762000"/>
          </a:xfrm>
          <a:prstGeom prst="round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829800" y="3219450"/>
            <a:ext cx="704850" cy="419100"/>
          </a:xfrm>
          <a:prstGeom prst="roundRect">
            <a:avLst/>
          </a:prstGeom>
          <a:solidFill>
            <a:srgbClr val="8A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953500" y="3714750"/>
            <a:ext cx="1581150" cy="381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6300" y="1219200"/>
            <a:ext cx="3810000" cy="198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750" b="1" i="0">
                <a:solidFill>
                  <a:srgbClr val="6E59D2"/>
                </a:solidFill>
                <a:latin typeface="Roboto"/>
              </a:rPr>
              <a:t>03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895600"/>
            <a:ext cx="38100" cy="1714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6800" y="285750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1" i="0" spc="160">
                <a:solidFill>
                  <a:srgbClr val="FFFFFF"/>
                </a:solidFill>
                <a:latin typeface="Roboto"/>
              </a:rPr>
              <a:t>ANDREAS, COM TIAGO NA SEGURANÇA · 7 MINUTOS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05150"/>
            <a:ext cx="8191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50" b="1" i="0">
                <a:solidFill>
                  <a:srgbClr val="FFFFFF"/>
                </a:solidFill>
                <a:latin typeface="Roboto"/>
              </a:rPr>
              <a:t>Vantagens, desvantagens e demonstração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476750"/>
            <a:ext cx="6858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A demonstração é do ambiente e da topologia, não do produto. A implementação começa na Sprint 4.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Bloco 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DEMONSTRAÇÃO, 90 SEGUNDOS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Volume nomeado e persistência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entre execuções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964055"/>
            <a:ext cx="10820400" cy="3524250"/>
          </a:xfrm>
          <a:prstGeom prst="roundRect">
            <a:avLst>
              <a:gd name="adj" fmla="val 2162"/>
            </a:avLst>
          </a:prstGeom>
          <a:solidFill>
            <a:srgbClr val="12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52500" y="2173605"/>
            <a:ext cx="323850" cy="28575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2116455"/>
            <a:ext cx="1905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0" i="0" spc="140">
                <a:solidFill>
                  <a:srgbClr val="8A8A9A"/>
                </a:solidFill>
                <a:latin typeface="Roboto"/>
              </a:rPr>
              <a:t>TERMINAL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2500" y="245935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up -d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2500" y="269748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500" y="293560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NAME   IMAGE          STATUS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2500" y="317373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web    nginx:alpine   Up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" y="341185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db     postgres:16    Up (healthy)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500" y="364998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2500" y="388810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run --rm client psql -h db -c "create table t(); "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500" y="412623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down &amp;&amp; docker compose up -d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2500" y="436435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8A8A9A"/>
                </a:solidFill>
                <a:latin typeface="Roboto Mono"/>
              </a:rPr>
              <a:t># a tabela continua lá, o volume sobreviveu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2500" y="460248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2500" y="484060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down -v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2500" y="507873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8A8A9A"/>
                </a:solidFill>
                <a:latin typeface="Roboto Mono"/>
              </a:rPr>
              <a:t># agora o dado some junto com o volume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5716905"/>
            <a:ext cx="28575" cy="37719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6300" y="5697855"/>
            <a:ext cx="106299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A imagem de fundo do UC003 e o CSV do UC008 não podem morrer junto com o container. A decisão de implantação volta como restrição de projeto para as camadas de cima.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D · Demonstração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914400" y="1638300"/>
            <a:ext cx="38100" cy="1714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66800" y="1600200"/>
            <a:ext cx="8572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1" i="0" spc="160">
                <a:solidFill>
                  <a:srgbClr val="FFFFFF"/>
                </a:solidFill>
                <a:latin typeface="Roboto"/>
              </a:rPr>
              <a:t>KUBERNETES 1.24, 2022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66900"/>
            <a:ext cx="9715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600" b="1" i="0">
                <a:solidFill>
                  <a:srgbClr val="FFFFFF"/>
                </a:solidFill>
                <a:latin typeface="Roboto"/>
              </a:rPr>
              <a:t>A remoção do dockershim</a:t>
            </a:r>
          </a:p>
          <a:p>
            <a:pPr>
              <a:lnSpc>
                <a:spcPct val="106000"/>
              </a:lnSpc>
            </a:pPr>
            <a:r>
              <a:rPr sz="3600" b="1" i="0">
                <a:solidFill>
                  <a:srgbClr val="FFFFFF"/>
                </a:solidFill>
                <a:latin typeface="Roboto"/>
              </a:rPr>
              <a:t>no Kubernetes 1.24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095750"/>
            <a:ext cx="8572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O que saiu foi o adaptador embutido que falava com o Docker Engine, não o formato das imagens. Como imagem é OCI, nada quebrou. É um caso real de substituição por compatibilidade de interface, no vocabulário da Aula 05.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Bloco D · Estudo de caso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VANTAGENS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Vantagens no vocabulário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da Aula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325243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O QUE ELE CREDITA A CAMADAS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534793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830068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2820543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1" i="0">
                <a:solidFill>
                  <a:srgbClr val="1A1A1E"/>
                </a:solidFill>
                <a:latin typeface="Roboto"/>
              </a:rPr>
              <a:t>Modularidade.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360801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335127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1" i="0">
                <a:solidFill>
                  <a:srgbClr val="1A1A1E"/>
                </a:solidFill>
                <a:latin typeface="Roboto"/>
              </a:rPr>
              <a:t>Reusabilidade.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891534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1550" y="388200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1" i="0">
                <a:solidFill>
                  <a:srgbClr val="1A1A1E"/>
                </a:solidFill>
                <a:latin typeface="Roboto"/>
              </a:rPr>
              <a:t>Compreensibilidade.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422267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1550" y="441274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1" i="0">
                <a:solidFill>
                  <a:srgbClr val="1A1A1E"/>
                </a:solidFill>
                <a:latin typeface="Roboto"/>
              </a:rPr>
              <a:t>Extensibilidade.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2700" y="2325243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O QUE CADA UMA VIRA AQUI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62700" y="2534793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62700" y="2830068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48450" y="2820543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Uma responsabilidade por imagem, com fronteira declarada.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2700" y="3624834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48450" y="361530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A mesma imagem atravessa notebook, pipeline e a demonstração funcional do T3.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62700" y="4419600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48450" y="4410075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ambiente vira arquivo legível, versionado junto com o código.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62700" y="5214366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48450" y="5204841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Trocar runtime ou banco é editar uma linha, não reinstalar quatro notebooks.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D · Vantagens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LIMITAÇÕES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Limitações e custos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479929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1550" y="2470404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daemon roda como root. Estar no grupo docker equivale a root no host, sem sudo e sem trilha de auditoria.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318891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3309366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Docker escreve a regra de DNAT antes das regras do administrador, então um deny de firewall na porta publicada não bloqueia nada.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157853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4148328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I/O de bind mount atravessando a fronteira da máquina virtual no WSL2.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720209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1550" y="4710684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Estado, que traz junto backup e upgrade de versão maior do banco.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5282565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1550" y="5273040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Licenciamento do Docker Desktop.</a:t>
            </a:r>
          </a:p>
        </p:txBody>
      </p:sp>
      <p:sp>
        <p:nvSpPr>
          <p:cNvPr id="15" name="Isosceles Triangle 14"/>
          <p:cNvSpPr/>
          <p:nvPr/>
        </p:nvSpPr>
        <p:spPr>
          <a:xfrm>
            <a:off x="9124950" y="2470404"/>
            <a:ext cx="152400" cy="133350"/>
          </a:xfrm>
          <a:prstGeom prst="triangle">
            <a:avLst/>
          </a:prstGeom>
          <a:noFill/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193530" y="2527554"/>
            <a:ext cx="15240" cy="381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72600" y="2479929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REGRA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24950" y="2756154"/>
            <a:ext cx="38100" cy="804672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34500" y="2756154"/>
            <a:ext cx="2171700" cy="1376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Nenhum número entra neste slide sem medição feita pelo time, com o modelo da máquina e a data.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D · Limitações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CONTAINER E MÁQUINA VIRTUAL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400" b="1" i="0">
                <a:solidFill>
                  <a:srgbClr val="21049A"/>
                </a:solidFill>
                <a:latin typeface="Roboto"/>
              </a:rPr>
              <a:t>Comparação pela</a:t>
            </a:r>
          </a:p>
          <a:p>
            <a:pPr>
              <a:lnSpc>
                <a:spcPct val="104000"/>
              </a:lnSpc>
            </a:pPr>
            <a:r>
              <a:rPr sz="2400" b="1" i="0">
                <a:solidFill>
                  <a:srgbClr val="21049A"/>
                </a:solidFill>
                <a:latin typeface="Roboto"/>
              </a:rPr>
              <a:t>superfície de ataque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722626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MÁQUINA VIRTUAL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932176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227451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321792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Kernel próprio.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758184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374865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Fronteira imposta em hardware.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288917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1550" y="42793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Superfície relativamente estreita.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2700" y="2722626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CONTAINER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62700" y="2932176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2700" y="3227451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8450" y="321792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Compartilha o kernel do host.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62700" y="3758184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48450" y="374865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A fronteira é a interface de chamadas de sistema, mais de trezentas, mais /proc, /sys e ioctl.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2700" y="4552950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48450" y="4543425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CVE-2019-5736 no runc: o processo de dentro sobrescrevia o binário do runtime pelo /proc/self/exe.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D · Segurança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ALTERNATIVAS CONSIDERADAS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Comparação com as outras opções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864739"/>
            <a:ext cx="219075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OPÇÃO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48000" y="2864739"/>
            <a:ext cx="3429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A FAVOR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67500" y="2864739"/>
            <a:ext cx="4762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CONTRA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3093339"/>
            <a:ext cx="10820400" cy="19050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3245739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README nativo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48000" y="3245739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Custo zero para começar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67500" y="3245739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Quebra na primeira divergência de versão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3570732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3694557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VM compartilhada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48000" y="3694557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Isola de verdade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67500" y="3694557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Pesada e difícil de versionar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4019550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4143375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Podman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48000" y="4143375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Mesmo modelo, sem daemon root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67500" y="4143375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Menos material e menos gente do time conhece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4468368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71500" y="4535043"/>
            <a:ext cx="28575" cy="3238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4592193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E94D1C"/>
                </a:solidFill>
                <a:latin typeface="Roboto"/>
              </a:rPr>
              <a:t>Compose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48000" y="4592193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Escolhido, com o custo declarado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67500" y="4592193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Move complexidade em vez de apagá-la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5800" y="4917186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D · Alternativas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QUANDO NÃO COMPENSA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550" b="1" i="0">
                <a:solidFill>
                  <a:srgbClr val="21049A"/>
                </a:solidFill>
                <a:latin typeface="Roboto"/>
              </a:rPr>
              <a:t>Critérios de contraindicação</a:t>
            </a:r>
          </a:p>
          <a:p>
            <a:pPr>
              <a:lnSpc>
                <a:spcPct val="104000"/>
              </a:lnSpc>
            </a:pPr>
            <a:r>
              <a:rPr sz="2550" b="1" i="0">
                <a:solidFill>
                  <a:srgbClr val="21049A"/>
                </a:solidFill>
                <a:latin typeface="Roboto"/>
              </a:rPr>
              <a:t>e a nossa situação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19456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QUANDO NÃO COMPENSA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404110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699385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268986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Monolito num servidor que nunca escala.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230118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3220593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Time sem integração contínua, que só ganha um passo de build a mais.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024884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1550" y="401535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Aplicação sensível a latência de cauda.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555617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1550" y="45460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Sistema dominado por estado.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2700" y="219456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ONDE NÓS ESTAMOS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62700" y="2404110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62700" y="2699385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48450" y="268986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Não temos integração contínua definida nem hospedagem decidida, então dois dos critérios ao lado se aplicam a nós.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2700" y="3758184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48450" y="374865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motivo que resta é o ambiente igual para quatro integrantes com stacks diferentes, com o banco rodando sem instalação local, antes de escrever a primeira linha.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62700" y="5081016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48450" y="5071491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Compose é de host único. O MVP cabe num host. Kubernetes entraria com múltiplos nós, e é tema de outro grupo.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D · Honestidade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O BALANÇO DO TIME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550" b="1" i="0">
                <a:solidFill>
                  <a:srgbClr val="21049A"/>
                </a:solidFill>
                <a:latin typeface="Roboto"/>
              </a:rPr>
              <a:t>Ganho e custo, nos quatro atributos</a:t>
            </a:r>
          </a:p>
          <a:p>
            <a:pPr>
              <a:lnSpc>
                <a:spcPct val="104000"/>
              </a:lnSpc>
            </a:pPr>
            <a:r>
              <a:rPr sz="2550" b="1" i="0">
                <a:solidFill>
                  <a:srgbClr val="21049A"/>
                </a:solidFill>
                <a:latin typeface="Roboto"/>
              </a:rPr>
              <a:t>das Questões Norteadoras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854642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GANHA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3064192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359468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334994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1" i="0">
                <a:solidFill>
                  <a:srgbClr val="1A1A1E"/>
                </a:solidFill>
                <a:latin typeface="Roboto"/>
              </a:rPr>
              <a:t>Manutenibilidade.</a:t>
            </a:r>
            <a:r>
              <a:rPr sz="1580" b="0" i="0">
                <a:solidFill>
                  <a:srgbClr val="1A1A1E"/>
                </a:solidFill>
                <a:latin typeface="Roboto"/>
              </a:rPr>
              <a:t> O ambiente passa a ser versionado junto com o código.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154234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414470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1" i="0">
                <a:solidFill>
                  <a:srgbClr val="1A1A1E"/>
                </a:solidFill>
                <a:latin typeface="Roboto"/>
              </a:rPr>
              <a:t>Escalabilidade,</a:t>
            </a:r>
            <a:r>
              <a:rPr sz="1580" b="0" i="0">
                <a:solidFill>
                  <a:srgbClr val="1A1A1E"/>
                </a:solidFill>
                <a:latin typeface="Roboto"/>
              </a:rPr>
              <a:t> de forma seletiva, e isso impõe que a aplicação seja mesmo sem estado.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948999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1550" y="4939474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1" i="0">
                <a:solidFill>
                  <a:srgbClr val="1A1A1E"/>
                </a:solidFill>
                <a:latin typeface="Roboto"/>
              </a:rPr>
              <a:t>Segurança.</a:t>
            </a:r>
            <a:r>
              <a:rPr sz="1580" b="0" i="0">
                <a:solidFill>
                  <a:srgbClr val="1A1A1E"/>
                </a:solidFill>
                <a:latin typeface="Roboto"/>
              </a:rPr>
              <a:t> Ganha isolamento.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2700" y="2854642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CUSTA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62700" y="3064192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2700" y="3359468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8450" y="334994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1" i="0">
                <a:solidFill>
                  <a:srgbClr val="1A1A1E"/>
                </a:solidFill>
                <a:latin typeface="Roboto"/>
              </a:rPr>
              <a:t>Segurança.</a:t>
            </a:r>
            <a:r>
              <a:rPr sz="1580" b="0" i="0">
                <a:solidFill>
                  <a:srgbClr val="1A1A1E"/>
                </a:solidFill>
                <a:latin typeface="Roboto"/>
              </a:rPr>
              <a:t> Herda uma superfície nova: imagem base e privilégio de execução.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62700" y="4154234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48450" y="414470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1" i="0">
                <a:solidFill>
                  <a:srgbClr val="1A1A1E"/>
                </a:solidFill>
                <a:latin typeface="Roboto"/>
              </a:rPr>
              <a:t>Desempenho.</a:t>
            </a:r>
            <a:r>
              <a:rPr sz="1580" b="0" i="0">
                <a:solidFill>
                  <a:srgbClr val="1A1A1E"/>
                </a:solidFill>
                <a:latin typeface="Roboto"/>
              </a:rPr>
              <a:t> Principalmente I/O nas máquinas Windows. A Aula 03 já avisa que camada extra prejudica desempenho.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D · Considerações finais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RECOMENDAÇÃO PARA O ADR #63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Recomendação do grupo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903982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1550" y="2894457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Adotamos conteinerização como estratégia de empacotamento e de ambiente de desenvolvimento, registrada como troca.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742944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3733419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#60 deixa de ser caixa genérica e passa a ter um arquivo correspondente que roda, e esse arquivo vira artefato do repositório.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581906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4572381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 stack ainda não está decidida. Com Dockerfile, trocar runtime ou banco é editar uma linha de arquivo em vez de reinstalar em quatro notebooks.</a:t>
            </a:r>
          </a:p>
        </p:txBody>
      </p:sp>
      <p:sp>
        <p:nvSpPr>
          <p:cNvPr id="11" name="Chevron 10"/>
          <p:cNvSpPr/>
          <p:nvPr/>
        </p:nvSpPr>
        <p:spPr>
          <a:xfrm>
            <a:off x="9124950" y="2903982"/>
            <a:ext cx="142875" cy="123825"/>
          </a:xfrm>
          <a:prstGeom prst="chevron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72600" y="2903982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PRÓXIMO PASSO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24950" y="3180207"/>
            <a:ext cx="38100" cy="100584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34500" y="3180207"/>
            <a:ext cx="2171700" cy="15773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Insumo direto da Sprint 3, que começa no dia 15 e tem como objetivo declarado definir as tecnologias e os mecanismos da implementação.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D · Considerações finais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RETOMANDO A EVIDÊNCIA INICIAL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Do problema de ambiente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ao arquivo de compose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120009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NO COMEÇO DO PROJETO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3329559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624834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361530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Uma linha de .gitattributes forçando LF nos scripts, porque o Git Bash quebra no Windows.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419600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4410075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Os ambientes do time já divergem antes de existir a primeira linha de código do produto.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62700" y="3120009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AGORA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62700" y="3329559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62700" y="3624834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8450" y="361530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 arquivo que descreve o ambiente inteiro e que qualquer um dos quatro sobe com um comando.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2700" y="4419600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8450" y="4410075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E que vira o diagrama de implantação do item #60.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D · Fecho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O QUE NÃO ESTAMOS AFIRMANDO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Pendências, com número de item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899410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1550" y="2889885"/>
            <a:ext cx="74866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Os itens #58 a #63 da Sprint 2 estão em To Do. Isto é insumo desses itens, não relato de item concluído.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738372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3728847"/>
            <a:ext cx="74866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#63, onde a stack será decidida, ainda não foi escrito.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300728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4291203"/>
            <a:ext cx="74866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Os itens #56 e #57 da Sprint 1 seguem em Doing.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863084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1550" y="4853559"/>
            <a:ext cx="74866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 Sprint 2 fecha no dia 14.</a:t>
            </a:r>
          </a:p>
        </p:txBody>
      </p:sp>
      <p:sp>
        <p:nvSpPr>
          <p:cNvPr id="13" name="Document 12"/>
          <p:cNvSpPr/>
          <p:nvPr/>
        </p:nvSpPr>
        <p:spPr>
          <a:xfrm>
            <a:off x="9124950" y="2889885"/>
            <a:ext cx="142875" cy="133350"/>
          </a:xfrm>
          <a:prstGeom prst="flowChartDocument">
            <a:avLst/>
          </a:prstGeom>
          <a:noFill/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72600" y="2899410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PARA LEVAR PARA A P1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24950" y="3175635"/>
            <a:ext cx="38100" cy="1664208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34500" y="3175635"/>
            <a:ext cx="2171700" cy="22357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Container é processo isolado por mecanismo de kernel.</a:t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/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Imagem é artefato, container é ambiente de execução.</a:t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/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A decisão arquitetural é a granularidade de tier.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D · Fecho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PARA CONSULTAR DEPOIS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Referências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267712"/>
            <a:ext cx="247650" cy="252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4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1550" y="2258187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Open Container Initiative. Runtime Spec, Image Spec e Distribution Spec. Linux Foundation, fundada em 2015.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703576"/>
            <a:ext cx="247650" cy="252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4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2694051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WIGGINS, A. The Twelve-Factor App, 2011.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139440"/>
            <a:ext cx="247650" cy="252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4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3129915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FELTER, W. et al. An updated performance comparison of virtual machines and Linux containers. IBM Research Report, 2015.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801618"/>
            <a:ext cx="247650" cy="252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4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1550" y="3792093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MERKEL, D. Docker: lightweight Linux containers for consistent development and deployment. Linux Journal, 2014.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237482"/>
            <a:ext cx="247650" cy="252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4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1550" y="4227957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NIST SP 800-190. Application Container Security Guide.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673346"/>
            <a:ext cx="247650" cy="252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4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1550" y="4663821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SOMMERVILLE, I. Engenharia de Software. 6. ed. Addison Wesley, 2004.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5109210"/>
            <a:ext cx="247650" cy="252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4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1550" y="5099685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FOWLER, M. Patterns of Enterprise Application Architecture. Addison Wesley, 2002.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545074"/>
            <a:ext cx="247650" cy="252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4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1550" y="5535549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FARIAS, K. Aula 03, Arquiteturas em Camadas. Aula 05, Arquiteturas Baseadas em Componentes.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D · Fecho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31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unisinos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Escritório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tema unisinos" id="{0EDEEB91-0736-441F-A7F5-4FA5717EFDDE}" vid="{6FB48B3F-96BA-4BC3-92BE-A09E0B32FF42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585AD953FC666642937FCE52CC8B4A6A" ma:contentTypeVersion="21" ma:contentTypeDescription="Crie um novo documento." ma:contentTypeScope="" ma:versionID="a0f0a53631578753e0de4c39d7473101">
  <xsd:schema xmlns:xsd="http://www.w3.org/2001/XMLSchema" xmlns:xs="http://www.w3.org/2001/XMLSchema" xmlns:p="http://schemas.microsoft.com/office/2006/metadata/properties" xmlns:ns2="5fb5f026-dc7b-485f-82fe-577aafb4abaa" xmlns:ns3="9970e0e6-68bd-454a-b013-2dc3f312d27d" targetNamespace="http://schemas.microsoft.com/office/2006/metadata/properties" ma:root="true" ma:fieldsID="1cb42779a8c523c71ef9e1ae6bb42114" ns2:_="" ns3:_="">
    <xsd:import namespace="5fb5f026-dc7b-485f-82fe-577aafb4abaa"/>
    <xsd:import namespace="9970e0e6-68bd-454a-b013-2dc3f312d27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SearchProperties" minOccurs="0"/>
                <xsd:element ref="ns2:MediaServiceObjectDetectorVersions" minOccurs="0"/>
                <xsd:element ref="ns2:MediaServiceBillingMetadata" minOccurs="0"/>
                <xsd:element ref="ns2:Na_x0020_sua_x0020_vis_x00e3_o_x002c__x0020_qual_x0020__x00e9__x0020_o_x0020_principal_x0020_diferencial_x0020_dos_x0020_cursos_x0020_em_x0020_rela_x00e7__x00e3_o_x0020_a_x0020_outras_x0020_especializa_x00e7__x00f5_es_x0020_semelhantes_x0020_no_x0020_Brasil_x003f_"/>
                <xsd:element ref="ns2: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fb5f026-dc7b-485f-82fe-577aafb4aba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1" nillable="true" ma:displayName="MediaServiceDateTaken" ma:hidden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4" nillable="true" ma:displayName="Location" ma:internalName="MediaServiceLocation" ma:readOnly="true">
      <xsd:simpleType>
        <xsd:restriction base="dms:Text"/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1" nillable="true" ma:taxonomy="true" ma:internalName="lcf76f155ced4ddcb4097134ff3c332f" ma:taxonomyFieldName="MediaServiceImageTags" ma:displayName="Marcações de imagem" ma:readOnly="false" ma:fieldId="{5cf76f15-5ced-4ddc-b409-7134ff3c332f}" ma:taxonomyMulti="true" ma:sspId="aac08c5c-6fe0-4712-b828-e958a9361e2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BillingMetadata" ma:index="25" nillable="true" ma:displayName="MediaServiceBillingMetadata" ma:hidden="true" ma:internalName="MediaServiceBillingMetadata" ma:readOnly="true">
      <xsd:simpleType>
        <xsd:restriction base="dms:Note"/>
      </xsd:simpleType>
    </xsd:element>
    <xsd:element name="Na_x0020_sua_x0020_vis_x00e3_o_x002c__x0020_qual_x0020__x00e9__x0020_o_x0020_principal_x0020_diferencial_x0020_dos_x0020_cursos_x0020_em_x0020_rela_x00e7__x00e3_o_x0020_a_x0020_outras_x0020_especializa_x00e7__x00f5_es_x0020_semelhantes_x0020_no_x0020_Brasil_x003f_" ma:index="26" ma:displayName="Na sua visão, qual é o principal diferencial dos cursos em relação a outras especializações semelhantes no Brasil?" ma:internalName="Na_x0020_sua_x0020_vis_x00e3_o_x002c__x0020_qual_x0020__x00e9__x0020_o_x0020_principal_x0020_diferencial_x0020_dos_x0020_cursos_x0020_em_x0020_rela_x00e7__x00e3_o_x0020_a_x0020_outras_x0020_especializa_x00e7__x00f5_es_x0020_semelhantes_x0020_no_x0020_Brasil_x003f_">
      <xsd:simpleType>
        <xsd:restriction base="dms:Note">
          <xsd:maxLength value="255"/>
        </xsd:restriction>
      </xsd:simpleType>
    </xsd:element>
    <xsd:element name="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 ma:index="27" ma:displayName="Que tipo de profissional você acredita que mais se beneficia deste curso hoje (perfil técnico, momento de carreira, lacunas que o curso supre)?" ma:internalName="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970e0e6-68bd-454a-b013-2dc3f312d27d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f04e90fd-b40d-4e8a-9052-aed8cdd6606b}" ma:internalName="TaxCatchAll" ma:showField="CatchAllData" ma:web="9970e0e6-68bd-454a-b013-2dc3f312d27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5fb5f026-dc7b-485f-82fe-577aafb4abaa">
      <Terms xmlns="http://schemas.microsoft.com/office/infopath/2007/PartnerControls"/>
    </lcf76f155ced4ddcb4097134ff3c332f>
    <TaxCatchAll xmlns="9970e0e6-68bd-454a-b013-2dc3f312d27d" xsi:nil="true"/>
    <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 xmlns="5fb5f026-dc7b-485f-82fe-577aafb4abaa">a</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>
    <Na_x0020_sua_x0020_vis_x00e3_o_x002c__x0020_qual_x0020__x00e9__x0020_o_x0020_principal_x0020_diferencial_x0020_dos_x0020_cursos_x0020_em_x0020_rela_x00e7__x00e3_o_x0020_a_x0020_outras_x0020_especializa_x00e7__x00f5_es_x0020_semelhantes_x0020_no_x0020_Brasil_x003f_ xmlns="5fb5f026-dc7b-485f-82fe-577aafb4abaa">a</Na_x0020_sua_x0020_vis_x00e3_o_x002c__x0020_qual_x0020__x00e9__x0020_o_x0020_principal_x0020_diferencial_x0020_dos_x0020_cursos_x0020_em_x0020_rela_x00e7__x00e3_o_x0020_a_x0020_outras_x0020_especializa_x00e7__x00f5_es_x0020_semelhantes_x0020_no_x0020_Brasil_x003f_>
  </documentManagement>
</p:properties>
</file>

<file path=customXml/itemProps1.xml><?xml version="1.0" encoding="utf-8"?>
<ds:datastoreItem xmlns:ds="http://schemas.openxmlformats.org/officeDocument/2006/customXml" ds:itemID="{8EFE6DF0-C827-427D-A5C4-577D5E296F4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fb5f026-dc7b-485f-82fe-577aafb4abaa"/>
    <ds:schemaRef ds:uri="9970e0e6-68bd-454a-b013-2dc3f312d27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5504F551-2F4B-4ED5-8A86-9AF9523DAD55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D329F00-2A8C-46E7-9764-248AFFF1202A}">
  <ds:schemaRefs>
    <ds:schemaRef ds:uri="http://purl.org/dc/elements/1.1/"/>
    <ds:schemaRef ds:uri="http://schemas.openxmlformats.org/package/2006/metadata/core-properties"/>
    <ds:schemaRef ds:uri="http://purl.org/dc/terms/"/>
    <ds:schemaRef ds:uri="5fb5f026-dc7b-485f-82fe-577aafb4abaa"/>
    <ds:schemaRef ds:uri="http://schemas.microsoft.com/office/2006/documentManagement/types"/>
    <ds:schemaRef ds:uri="http://schemas.microsoft.com/office/infopath/2007/PartnerControls"/>
    <ds:schemaRef ds:uri="http://schemas.microsoft.com/office/2006/metadata/properties"/>
    <ds:schemaRef ds:uri="9970e0e6-68bd-454a-b013-2dc3f312d27d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tema unisinos</Template>
  <TotalTime>60</TotalTime>
  <Words>1142</Words>
  <Application>Microsoft Office PowerPoint</Application>
  <PresentationFormat>Widescreen</PresentationFormat>
  <Paragraphs>120</Paragraphs>
  <Slides>15</Slides>
  <Notes>2</Notes>
  <HiddenSlides>1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slides</vt:lpstr>
      </vt:variant>
      <vt:variant>
        <vt:i4>15</vt:i4>
      </vt:variant>
    </vt:vector>
  </HeadingPairs>
  <TitlesOfParts>
    <vt:vector size="16" baseType="lpstr">
      <vt:lpstr>tema unisinos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TÍTULO TÍTULO</vt:lpstr>
      <vt:lpstr>Apresentação do PowerPoint</vt:lpstr>
      <vt:lpstr>Apresentação do PowerPoint</vt:lpstr>
      <vt:lpstr>TÍTULO TÍTULO TÍTULO TÍTULO TÍTULO TÍTULO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Marcelo Krause de Verney</dc:creator>
  <cp:lastModifiedBy>Roberto Ferrari</cp:lastModifiedBy>
  <cp:revision>15</cp:revision>
  <dcterms:created xsi:type="dcterms:W3CDTF">2012-07-30T23:50:35Z</dcterms:created>
  <dcterms:modified xsi:type="dcterms:W3CDTF">2026-03-06T20:44:32Z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0x010100585AD953FC666642937FCE52CC8B4A6A</vt:lpwstr>
  </property>
  <property fmtid="{D5CDD505-2E9C-101B-9397-08002B2CF9AE}" pid="3" name="MediaServiceImageTags">
    <vt:lpwstr/>
  </property>
</Properties>
</file>