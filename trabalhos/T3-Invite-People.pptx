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9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10"/>
    <p:sldId id="266" r:id="rId9"/>
    <p:sldId id="267" r:id="rId8"/>
    <p:sldId id="268" r:id="rId7"/>
    <p:sldId id="269" r:id="rId6"/>
    <p:sldId id="270" r:id="rId5"/>
    <p:sldId id="271" r:id="rId26"/>
    <p:sldId id="272" r:id="rId27"/>
    <p:sldId id="273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716C1-5024-8CCE-3203-86B75C2C8617}" v="3" dt="2026-03-04T18:26:21.527"/>
    <p1510:client id="{15EE4E26-2F7C-A8A7-F640-351793DF4648}" v="51" dt="2026-03-04T14:37:16.632"/>
    <p1510:client id="{1A042CCA-B3F5-4F3A-A55B-20F5A0164B7D}" v="24" dt="2026-03-04T14:05:53.570"/>
    <p1510:client id="{474E71F2-6943-508A-29C8-0B58041B59EA}" v="24" dt="2026-03-04T13:40:41.656"/>
    <p1510:client id="{610FBFFC-C927-4559-84E4-21F8025EFCC9}" v="4" dt="2026-03-04T18:41:12.929"/>
    <p1510:client id="{6B13FC13-F49B-3BCF-DC56-120CE7AD128B}" v="3" dt="2026-03-04T14:27:44.521"/>
    <p1510:client id="{6B418F69-DA30-9EA3-9484-1B1B7022BB9A}" v="26" dt="2026-03-04T18:46:59.600"/>
    <p1510:client id="{A6C34AF3-2CB0-9917-C57B-32A817E4D2F0}" v="15" dt="2026-03-04T19:28:10.596"/>
    <p1510:client id="{B4BCC3D1-ADA6-AE73-AB10-F1FD9D46F8AE}" v="1" dt="2026-03-04T18:45:27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06/03/2026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Somos o Time 04, do Invite People. Vamos apresentar o problema e o escopo, a arquitetura implementada, o front-end, o back-end, uma demonstração e o planejamento até 17/11. Cada um responde pelo próprio bloco na arguição.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As personas foram levantadas pelo time na Sprint 1: a anfitriã e o convidado como usuários primários, e o buffet como interessado secundário, que é quem recebe 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São seis grupos com as doze histórias de usuário, H01 a H12. Os códigos são os mesmos do quadro do Azure Boards que vamos mostrar depois da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No Grau A o projeto tinha doze histórias, o Guia da Arquitetura e um protótipo de telas. Na Sprint 4 foi feita a base: o repositório, o pacote de tipos compartilhado entre front e back, a integração contínua e o compose. Na Sprint 5 o front e o back foram integrados nessa base, e o que precisou mudar na arquitetura foi registrado com o motivo. As doze histórias estão implementadas. Passagem: o Tiago apresenta a arquitetura implementada.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Três tiers no compose: front em Next.js, API em NestJS e PostgreSQL. As três camadas lógicas ficam dentro da API: Apresentação, Domínio e Dados. O front segue MVC. O contract é o pacote de tipos compartilhado entre os dois lados. Camada é divisão lógica, tier é processo separado. As três camadas ficam no mesmo container da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Um PR que quebra a regra de camadas fica vermelho na integração contínua. Sobre o compose: no T1 apresentamos o Docker como forma de cada integrante subir o ambiente com um comando. É esse compose que roda na demonstração. Se perguntarem das migrations: elas rodam quando o volume do banco está vazio.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Tiago. Fala final: a regra do teto de vagas o Gabriel mostra no bloco dele. Dificuldade do bloco: juntar o front e o back, que foram escritos em paralelo, fora da main. A integração foi em duas etapas. Primeiro o front, com um mock que responde às rotas com os tipos do contract. Depois o back. Em cada etapa, o que não cabia na arquitetura foi adequado, registrado com o motivo nos Ajustes da Sprint 5, e só entrou na main com a CI verde. O contract permitiu juntar as duas partes sem reescrever tudo. Ele deveria ter sido feito antes das telas. Passagem: o Guilherme apresenta o front-end, que partiu do protótipo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Guilherme. O protótipo foi meu: [o fluxo, as telas, os três templates e as cores; ajustar ao que for verdade]. Ele foi gerado numa ferramenta de prototipação, e por isso trazia muita coisa que a nossa stack não usa. Na integração, o Tiago adequou o protótipo à arquitetura: o visual ficou, reescrito em CSS puro, e o que era regra de negócio saiu da tela e foi para 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Guilherme. A tela ainda limita os campos, para ajudar quem preenche, mas a validação que vale é a da API. Dificuldade do bloco: o protótipo nasceu antes de a arquitetura estar no código, e algumas regras de negócio ficaram na tela. O que eu aprendi vendo a adequação: prototipar com ferramenta é rápido para validar o visual, mas o protótipo precisa ser lido contra o Guia antes de virar código. Se eu fizesse de novo, desenharia as telas em cima do contract desde o começo. Passagem: quem recebe essas chamadas é a API. A primeira versão das rotas e das regras dela foi escrita pelo Gabriel.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Gabriel. As regras que vou mostrar são as que estão hoje no código. A primeira versão das rotas e dessas regras foi minha, inclusive a transação com a trava na linha do convite. Na integração, algumas regras mudaram de camada, e eu conto isso no fim do bloco. Fecho do slide: o Domínio calcula quantas vagas a resposta pede, e a camada de Dados confere o teto dentro da transação.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Gabriel. Os testes de hoje foram reescritos na integração, porque os meus testavam assinaturas antigas. O que vale citar: quatro respostas simultâneas, cada uma pedindo duas vagas, num convite com teto de cinco. Passam exatamente duas. Dificuldade do bloco: uma regra de negócio na camada errada. Na minha primeira versão, a regra de que só a confirmação ocupa vaga estava na consulta da camada de Dados, junto com a conferência do teto. Funcionava, mas a camada de Dados passava a saber o que é uma vaga, e o Guia diz que isso é do Domínio. Na integração, o Tiago subiu o cálculo das vagas que a resposta pede para o Domínio, e a camada de Dados ficou com a soma do que já está gravado e a conferência do teto. Passagem: agora 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fica na tela enquanto o Guilherme assume o compartilhamento. Abrir dizendo: a conta já está criada para poupar tempo; cadastro e entrada estão no apêndice. Depois da demonstração, na mesma tela: o quadro do Azure Boards (Guilherme), o GitHub (Tiago) e a organização do trabalho (Andreas).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Planejamos em sprints de duas semanas no Azure Boards, com cada história quebrada em tarefas de tela e de API. Conversamos pelo WhatsApp e discutimos o projeto no tempo de aula. O que decidimos fica registrado no repositório, no Guia, nos ADRs e nos Ajustes da Sprint 5. Integramos por PR, e a CI verde é a nossa definição de pronto.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Andreas. Dizer quais itens assumiu. Preencher Quem e Até antes do ensaio e criar os itens no quadro da Sprint 6, de 03/11 a 16/11.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Andreas, fechamento: as doze histórias estão implementadas, e as mudanças em relação à arquitetura do Grau A estão registradas com o motivo. Até 17/11 vamos revisar a documentação contra o código e preparar o Pitch. Para perguntas: requisitos e planejamento comigo, arquitetura e Docker com o Tiago, telas e quadro com o Guilherme, API e regras com o Gabriel.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18.png"/><Relationship Id="rId4" Type="http://schemas.openxmlformats.org/officeDocument/2006/relationships/image" Target="../media/image1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ckup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52450"/>
            <a:ext cx="2038350" cy="701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905000"/>
            <a:ext cx="66675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1" i="0" spc="160">
                <a:solidFill>
                  <a:srgbClr val="E94D1C"/>
                </a:solidFill>
                <a:latin typeface="Roboto"/>
              </a:rPr>
              <a:t>TRABALHO 3 · APRESENTAÇÃO INTERMEDIÁRIA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7429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50" b="1" i="0">
                <a:solidFill>
                  <a:srgbClr val="FFFFFF"/>
                </a:solidFill>
                <a:latin typeface="Roboto"/>
              </a:rPr>
              <a:t>Invite 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48100"/>
            <a:ext cx="609600" cy="47625"/>
          </a:xfrm>
          <a:prstGeom prst="roundRect">
            <a:avLst>
              <a:gd name="adj" fmla="val 4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80" b="0" i="0">
                <a:solidFill>
                  <a:srgbClr val="D6CFF0"/>
                </a:solidFill>
                <a:latin typeface="Roboto"/>
              </a:rPr>
              <a:t>Evolução da implementação desde o Grau A</a:t>
            </a:r>
          </a:p>
        </p:txBody>
      </p:sp>
      <p:pic>
        <p:nvPicPr>
          <p:cNvPr id="8" name="Picture 7" descr="c03-conv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0" y="1143000"/>
            <a:ext cx="2112654" cy="4572000"/>
          </a:xfrm>
          <a:prstGeom prst="rect">
            <a:avLst/>
          </a:prstGeom>
          <a:ln w="9525">
            <a:solidFill>
              <a:srgbClr val="6E59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Andreas Grings · Gabriel Tomasi</a:t>
            </a:r>
          </a:p>
          <a:p>
            <a:pPr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Guilherme Toebe · Tiago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Arquitetura de Software</a:t>
            </a:r>
          </a:p>
          <a:p>
            <a:pPr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Prof. Kleinner Farias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5391150"/>
            <a:ext cx="266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 spc="140">
                <a:solidFill>
                  <a:srgbClr val="9C90D4"/>
                </a:solidFill>
                <a:latin typeface="Roboto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5581650"/>
            <a:ext cx="2667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27/10/2026</a:t>
            </a:r>
          </a:p>
          <a:p>
            <a:pPr>
              <a:lnSpc>
                <a:spcPct val="140000"/>
              </a:lnSpc>
            </a:pPr>
            <a:r>
              <a:rPr sz="980" b="0" i="0">
                <a:solidFill>
                  <a:srgbClr val="E0DBF2"/>
                </a:solidFill>
                <a:latin typeface="Roboto"/>
              </a:rPr>
              <a:t>Time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 problema e os usuários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855976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747010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Quem organiza uma festa costuma juntar as confirmações pelo WhatsApp e perde a conta de quantas pessoas vêm, quantos acompanhantes cada uma leva e o que cada uma não pode comer.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694938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585972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A1A1E"/>
                </a:solidFill>
                <a:latin typeface="Roboto"/>
              </a:rPr>
              <a:t>Anfitriã:</a:t>
            </a:r>
            <a:r>
              <a:rPr sz="1650" b="0" i="0">
                <a:solidFill>
                  <a:srgbClr val="1A1A1E"/>
                </a:solidFill>
                <a:latin typeface="Roboto"/>
              </a:rPr>
              <a:t> cria o convite, compartilha o link e acompanha as respostas.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25729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148328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A1A1E"/>
                </a:solidFill>
                <a:latin typeface="Roboto"/>
              </a:rPr>
              <a:t>Convidado:</a:t>
            </a:r>
            <a:r>
              <a:rPr sz="1650" b="0" i="0">
                <a:solidFill>
                  <a:srgbClr val="1A1A1E"/>
                </a:solidFill>
                <a:latin typeface="Roboto"/>
              </a:rPr>
              <a:t> abre o link e responde sem criar conta.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81965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710684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A1A1E"/>
                </a:solidFill>
                <a:latin typeface="Roboto"/>
              </a:rPr>
              <a:t>Buffet:</a:t>
            </a:r>
            <a:r>
              <a:rPr sz="1650" b="0" i="0">
                <a:solidFill>
                  <a:srgbClr val="1A1A1E"/>
                </a:solidFill>
                <a:latin typeface="Roboto"/>
              </a:rPr>
              <a:t> recebe a lista de restrições alimentares para planejar o cardápio.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Problema e escopo · Andreas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Escopo do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90555"/>
            <a:ext cx="3454400" cy="1714500"/>
          </a:xfrm>
          <a:prstGeom prst="roundRect">
            <a:avLst>
              <a:gd name="adj" fmla="val 4444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810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H01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096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Conta do anfitrião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90655"/>
            <a:ext cx="2997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Criar conta e entrar.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1790555"/>
            <a:ext cx="3454400" cy="1714500"/>
          </a:xfrm>
          <a:prstGeom prst="roundRect">
            <a:avLst>
              <a:gd name="adj" fmla="val 4444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400" y="19810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H02 · H03 · H04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2096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Criação do convite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2590655"/>
            <a:ext cx="2997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Criar o convite, escolher template e cores e ver a prévia.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800" y="1790555"/>
            <a:ext cx="3454400" cy="1714500"/>
          </a:xfrm>
          <a:prstGeom prst="roundRect">
            <a:avLst>
              <a:gd name="adj" fmla="val 4444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400" y="19810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H05 · H06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00" y="22096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Compartilhamento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00" y="2590655"/>
            <a:ext cx="2997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Gerar o link, publicar e despublicar.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33655"/>
            <a:ext cx="3454400" cy="1714500"/>
          </a:xfrm>
          <a:prstGeom prst="roundRect">
            <a:avLst>
              <a:gd name="adj" fmla="val 4444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241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H07 · H08 · H09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527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Confirmação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33755"/>
            <a:ext cx="2997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Responder sem conta, informar acompanhantes e alterar pelo link pessoal.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800" y="3733655"/>
            <a:ext cx="3454400" cy="1714500"/>
          </a:xfrm>
          <a:prstGeom prst="roundRect">
            <a:avLst>
              <a:gd name="adj" fmla="val 4444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7400" y="39241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H10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400" y="41527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Restrições alimentares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7400" y="4533755"/>
            <a:ext cx="2997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Informar a restrição. Alergia exige descrição.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1800" y="3733655"/>
            <a:ext cx="3454400" cy="1714500"/>
          </a:xfrm>
          <a:prstGeom prst="roundRect">
            <a:avLst>
              <a:gd name="adj" fmla="val 4444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400" y="39241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H11 · H12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400" y="41527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Painel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533755"/>
            <a:ext cx="2997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Lista de presença e consolidação das restrições, com exportação em CSV.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As doze histórias estão implementadas, integradas e rodando pelo docker compose.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Problema e escopo · Andreas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Linha do tempo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028950"/>
            <a:ext cx="10820400" cy="2857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113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18/08 a 31/08</a:t>
            </a:r>
          </a:p>
          <a:p>
            <a:pPr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Requisitos e casos de uso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47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92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63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01/09 a 14/09</a:t>
            </a:r>
          </a:p>
          <a:p>
            <a:pPr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Arquitetura e decisões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81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26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7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15/09 a 28/09</a:t>
            </a:r>
          </a:p>
          <a:p>
            <a:pPr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Documento de arquitetura e protótipo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215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1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06/10 a 19/10</a:t>
            </a:r>
          </a:p>
          <a:p>
            <a:pPr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Base do projeto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49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94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65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20/10 a 02/11</a:t>
            </a:r>
          </a:p>
          <a:p>
            <a:pPr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Integração do front e do 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28300" y="29622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2800" y="3238500"/>
            <a:ext cx="180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Sprint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9950" y="3505200"/>
            <a:ext cx="16891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03/11 a 16/11</a:t>
            </a:r>
          </a:p>
          <a:p>
            <a:pPr>
              <a:lnSpc>
                <a:spcPct val="135000"/>
              </a:lnSpc>
            </a:pPr>
            <a:r>
              <a:rPr sz="1090" b="0" i="0">
                <a:solidFill>
                  <a:srgbClr val="3A3A44"/>
                </a:solidFill>
                <a:latin typeface="Roboto"/>
              </a:rPr>
              <a:t>Consolidação e Pitch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29150"/>
            <a:ext cx="28575" cy="238887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300" y="46101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0" b="0" i="0">
                <a:solidFill>
                  <a:srgbClr val="1A1A1E"/>
                </a:solidFill>
                <a:latin typeface="Roboto"/>
              </a:rPr>
              <a:t>Sprints 1 a 3, Grau A: documentação e protótipo. Sprints 4 a 6, Grau B: implementação.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Problema e escopo · Andreas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Tiers e camadas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924175"/>
            <a:ext cx="1428750" cy="876300"/>
          </a:xfrm>
          <a:prstGeom prst="roundRect">
            <a:avLst>
              <a:gd name="adj" fmla="val 5434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33725"/>
            <a:ext cx="142875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Roboto"/>
              </a:rPr>
              <a:t>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81375"/>
            <a:ext cx="12763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anfitrião e convidado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7500" y="2009775"/>
            <a:ext cx="2286000" cy="2705100"/>
          </a:xfrm>
          <a:prstGeom prst="roundRect">
            <a:avLst>
              <a:gd name="adj" fmla="val 2500"/>
            </a:avLst>
          </a:prstGeom>
          <a:solidFill>
            <a:srgbClr val="EEEBF7"/>
          </a:solidFill>
          <a:ln w="12700">
            <a:solidFill>
              <a:srgbClr val="2104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8950" y="2143125"/>
            <a:ext cx="19431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049A"/>
                </a:solidFill>
                <a:latin typeface="Roboto"/>
              </a:rPr>
              <a:t>Front · 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8950" y="2371725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B6B78"/>
                </a:solidFill>
                <a:latin typeface="Roboto"/>
              </a:rPr>
              <a:t>container front · porta 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8000" y="2714625"/>
            <a:ext cx="1905000" cy="43815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8000" y="2838450"/>
            <a:ext cx="1905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21049A"/>
                </a:solidFill>
                <a:latin typeface="Roboto"/>
              </a:rPr>
              <a:t>Rotas de tela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0" y="3305175"/>
            <a:ext cx="1905000" cy="43815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8000" y="3429000"/>
            <a:ext cx="1905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21049A"/>
                </a:solidFill>
                <a:latin typeface="Roboto"/>
              </a:rPr>
              <a:t>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48000" y="3895725"/>
            <a:ext cx="1905000" cy="43815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000" y="4019550"/>
            <a:ext cx="1905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21049A"/>
                </a:solidFill>
                <a:latin typeface="Roboto"/>
              </a:rPr>
              <a:t>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4505325"/>
            <a:ext cx="2286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MVC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0" y="2009775"/>
            <a:ext cx="2476500" cy="2705100"/>
          </a:xfrm>
          <a:prstGeom prst="roundRect">
            <a:avLst>
              <a:gd name="adj" fmla="val 2307"/>
            </a:avLst>
          </a:prstGeom>
          <a:solidFill>
            <a:srgbClr val="FDEAE3"/>
          </a:solidFill>
          <a:ln w="12700">
            <a:solidFill>
              <a:srgbClr val="E94D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7450" y="2143125"/>
            <a:ext cx="213360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94D1C"/>
                </a:solidFill>
                <a:latin typeface="Roboto"/>
              </a:rPr>
              <a:t>API · NestJS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7450" y="2371725"/>
            <a:ext cx="2133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B6B78"/>
                </a:solidFill>
                <a:latin typeface="Roboto"/>
              </a:rPr>
              <a:t>container api · porta 3001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2714625"/>
            <a:ext cx="2095500" cy="43815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6500" y="2838450"/>
            <a:ext cx="2095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"/>
              </a:rPr>
              <a:t>Apresentação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0" y="3305175"/>
            <a:ext cx="2095500" cy="43815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6500" y="3429000"/>
            <a:ext cx="2095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"/>
              </a:rPr>
              <a:t>Domínio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34250" y="3152775"/>
            <a:ext cx="0" cy="152400"/>
          </a:xfrm>
          <a:prstGeom prst="line">
            <a:avLst/>
          </a:prstGeom>
          <a:ln w="19050">
            <a:solidFill>
              <a:srgbClr val="E94D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86500" y="3895725"/>
            <a:ext cx="2095500" cy="43815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270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6500" y="4019550"/>
            <a:ext cx="20955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1A1A1E"/>
                </a:solidFill>
                <a:latin typeface="Roboto"/>
              </a:rPr>
              <a:t>Dados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4250" y="3743325"/>
            <a:ext cx="0" cy="152400"/>
          </a:xfrm>
          <a:prstGeom prst="line">
            <a:avLst/>
          </a:prstGeom>
          <a:ln w="19050">
            <a:solidFill>
              <a:srgbClr val="E94D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6000" y="4505325"/>
            <a:ext cx="2476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19" b="1" i="0" spc="120">
                <a:solidFill>
                  <a:srgbClr val="E94D1C"/>
                </a:solidFill>
                <a:latin typeface="Roboto"/>
              </a:rPr>
              <a:t>TRÊS CAMADAS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0250" y="2809875"/>
            <a:ext cx="1809750" cy="1104900"/>
          </a:xfrm>
          <a:prstGeom prst="roundRect">
            <a:avLst>
              <a:gd name="adj" fmla="val 5172"/>
            </a:avLst>
          </a:prstGeom>
          <a:solidFill>
            <a:srgbClr val="F2F2F5"/>
          </a:solidFill>
          <a:ln w="12700">
            <a:solidFill>
              <a:srgbClr val="6B6B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0250" y="3000375"/>
            <a:ext cx="1809750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E"/>
                </a:solidFill>
                <a:latin typeface="Roboto"/>
              </a:rPr>
              <a:t>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5500" y="326707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40" b="0" i="0">
                <a:solidFill>
                  <a:srgbClr val="6B6B78"/>
                </a:solidFill>
                <a:latin typeface="Roboto"/>
              </a:rPr>
              <a:t>container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0" y="3438525"/>
            <a:ext cx="1619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40" b="0" i="0">
                <a:solidFill>
                  <a:srgbClr val="6B6B78"/>
                </a:solidFill>
                <a:latin typeface="Roboto"/>
              </a:rPr>
              <a:t>sem porta publicada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14550" y="3152775"/>
            <a:ext cx="742950" cy="0"/>
          </a:xfrm>
          <a:prstGeom prst="line">
            <a:avLst/>
          </a:prstGeom>
          <a:ln w="25400">
            <a:solidFill>
              <a:srgbClr val="2104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14550" y="3228975"/>
            <a:ext cx="7429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página do</a:t>
            </a:r>
          </a:p>
          <a:p>
            <a:pPr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convite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43500" y="3152775"/>
            <a:ext cx="952500" cy="0"/>
          </a:xfrm>
          <a:prstGeom prst="line">
            <a:avLst/>
          </a:prstGeom>
          <a:ln w="25400">
            <a:solidFill>
              <a:srgbClr val="2104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43500" y="2752725"/>
            <a:ext cx="952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leitura no</a:t>
            </a:r>
          </a:p>
          <a:p>
            <a:pPr>
              <a:lnSpc>
                <a:spcPct val="120000"/>
              </a:lnSpc>
            </a:pPr>
            <a:r>
              <a:rPr sz="900" b="0" i="0">
                <a:solidFill>
                  <a:srgbClr val="21049A"/>
                </a:solidFill>
                <a:latin typeface="Roboto"/>
              </a:rPr>
              <a:t>servidor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72500" y="3362325"/>
            <a:ext cx="1047750" cy="0"/>
          </a:xfrm>
          <a:prstGeom prst="line">
            <a:avLst/>
          </a:prstGeom>
          <a:ln w="2540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72500" y="3133725"/>
            <a:ext cx="1047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SQL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00175" y="3800475"/>
            <a:ext cx="0" cy="1181100"/>
          </a:xfrm>
          <a:prstGeom prst="line">
            <a:avLst/>
          </a:prstGeom>
          <a:ln w="25400"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00175" y="4981575"/>
            <a:ext cx="5934075" cy="0"/>
          </a:xfrm>
          <a:prstGeom prst="line">
            <a:avLst/>
          </a:prstGeom>
          <a:ln w="25400"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34250" y="4714875"/>
            <a:ext cx="0" cy="266700"/>
          </a:xfrm>
          <a:prstGeom prst="line">
            <a:avLst/>
          </a:prstGeom>
          <a:ln w="25400">
            <a:solidFill>
              <a:srgbClr val="E94D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524000" y="5038725"/>
            <a:ext cx="447675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E94D1C"/>
                </a:solidFill>
                <a:latin typeface="Roboto"/>
              </a:rPr>
              <a:t>painel do anfitrião e envio das respostas, direto na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57500" y="5343525"/>
            <a:ext cx="5715000" cy="419100"/>
          </a:xfrm>
          <a:prstGeom prst="roundRect">
            <a:avLst>
              <a:gd name="adj" fmla="val 9090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09900" y="5457825"/>
            <a:ext cx="5410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1" i="0">
                <a:solidFill>
                  <a:srgbClr val="3A3A44"/>
                </a:solidFill>
                <a:latin typeface="Roboto"/>
              </a:rPr>
              <a:t>contract</a:t>
            </a:r>
            <a:r>
              <a:rPr sz="980" b="0" i="0">
                <a:solidFill>
                  <a:srgbClr val="3A3A44"/>
                </a:solidFill>
                <a:latin typeface="Roboto"/>
              </a:rPr>
              <a:t> · tipos de pedido e resposta usados pelo front e pela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 · Tiago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Base do projeto: lint, CI e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31302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21049A"/>
                </a:solidFill>
                <a:latin typeface="Roboto"/>
              </a:rPr>
              <a:t>LINT E INTEGRAÇÃO CONTÍNUA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40852"/>
            <a:ext cx="419100" cy="28575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50" y="26306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252660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lint recusa import que quebra a regra de camadas: o Domínio não importa da Apresentação, e os Dados não importam de nenhuma camada de cima.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36894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35854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Em todo PR, a integração contínua roda lint, formatação, tipos, testes contra um PostgreSQL 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474821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1550" y="4644200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A mesma integração constrói as imagens da API, do front e do mock.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031302"/>
            <a:ext cx="5143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120">
                <a:solidFill>
                  <a:srgbClr val="E94D1C"/>
                </a:solidFill>
                <a:latin typeface="Roboto"/>
              </a:rPr>
              <a:t>DOCKER COMPOSE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2700" y="2240852"/>
            <a:ext cx="419100" cy="28575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1750" y="2630614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8450" y="252660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Três serviços: banco, API e front. O banco não publica porta.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1750" y="34253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321368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O front publica a 3000 e a API a 3001, porque o navegador chama a API direto no painel e no envio da resposta.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1750" y="4484180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8450" y="4380166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A API só sobe depois que o banco responde ao healthcheck.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1750" y="5278945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8450" y="5174932"/>
            <a:ext cx="485775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80" b="0" i="0">
                <a:solidFill>
                  <a:srgbClr val="1A1A1E"/>
                </a:solidFill>
                <a:latin typeface="Roboto"/>
              </a:rPr>
              <a:t>Um segundo arquivo troca a API por um mock, para trabalhar nas telas sem banco.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 · Tiago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Regras da arquitetura no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83108"/>
            <a:ext cx="4381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REGRA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483108"/>
            <a:ext cx="6172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ONDE FICA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11708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64108"/>
            <a:ext cx="4210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Nenhuma rota confirma que um convite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2864108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Na Apresentação. Link inválido e convite despublicado dão o mesmo 404 na página pública, e o convite de outro anfitrião dá o mesmo 404 no painel. Um teste de ponta a ponta compara corpo e cabeçalho.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61218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85043"/>
            <a:ext cx="4210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Sessão do anfitrião em cookie assinado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3785043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Na Apresentação. O front não guarda token.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46497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270322"/>
            <a:ext cx="4210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Link do convite gerado no Domínio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4270322"/>
            <a:ext cx="6000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No Domínio, com gerador seguro, na primeira publicação. Nunca no navegador.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631777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A regra do teto de vagas está no bloco do back-end.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Arquitetura · Tiago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Telas do front-end</a:t>
            </a:r>
          </a:p>
        </p:txBody>
      </p:sp>
      <p:pic>
        <p:nvPicPr>
          <p:cNvPr id="4" name="Picture 3" descr="c02-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497" y="1676400"/>
            <a:ext cx="5302593" cy="33141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608497" y="5085771"/>
            <a:ext cx="5302593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Editor do convite, com a prévia</a:t>
            </a:r>
          </a:p>
        </p:txBody>
      </p:sp>
      <p:pic>
        <p:nvPicPr>
          <p:cNvPr id="6" name="Picture 5" descr="c03-conv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890" y="1676400"/>
            <a:ext cx="1531407" cy="33141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15890" y="5085771"/>
            <a:ext cx="1531407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Convite no celular</a:t>
            </a:r>
          </a:p>
        </p:txBody>
      </p:sp>
      <p:pic>
        <p:nvPicPr>
          <p:cNvPr id="8" name="Picture 7" descr="c04-respo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097" y="1676400"/>
            <a:ext cx="1531407" cy="331412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052097" y="5085771"/>
            <a:ext cx="1531407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Resposta enviada, com o link pessoal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5620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55429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As telas partiram do protótipo e foram adequadas à arquitetura: o visual foi mantido, reescrito em CSS puro, e as regras de negócio saíram da tela.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Front-end · Guilherme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Mudanças no front para seguir 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18664"/>
            <a:ext cx="2286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PONTO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43250" y="2418664"/>
            <a:ext cx="39052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NO PROTÓTIPO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0" y="2418664"/>
            <a:ext cx="426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47264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99664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Vagas na página pública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2799664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Mostrava quantas vagas restavam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2799664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Sem contagem. A lotação aparece só quando a resposta é recusada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7234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96170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CSV para o buffet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250" y="3496170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Montado no navegador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0" y="3496170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Gerado pela API, com proteção contra fórmula de planilha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68851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92676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Sessão do anfitrião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250" y="4192676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Token guardado no navegador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0" y="4192676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Cookie de sessão. O front não guarda token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554131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77956"/>
            <a:ext cx="2114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Limites do formulário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3250" y="4677956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Conferidos só na tela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0" y="4677956"/>
            <a:ext cx="409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tela limita os campos, e a API valida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039411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Front-end · Guilherme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Caminho de uma resposta na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33575"/>
            <a:ext cx="10820400" cy="990600"/>
          </a:xfrm>
          <a:prstGeom prst="roundRect">
            <a:avLst>
              <a:gd name="adj" fmla="val 3846"/>
            </a:avLst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33575"/>
            <a:ext cx="1428750" cy="990600"/>
          </a:xfrm>
          <a:prstGeom prst="roundRect">
            <a:avLst>
              <a:gd name="adj" fmla="val 3846"/>
            </a:avLst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241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Apresentação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000375"/>
            <a:ext cx="10820400" cy="990600"/>
          </a:xfrm>
          <a:prstGeom prst="roundRect">
            <a:avLst>
              <a:gd name="adj" fmla="val 3846"/>
            </a:avLst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000375"/>
            <a:ext cx="1428750" cy="990600"/>
          </a:xfrm>
          <a:prstGeom prst="roundRect">
            <a:avLst>
              <a:gd name="adj" fmla="val 3846"/>
            </a:avLst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909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Domínio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67175"/>
            <a:ext cx="10820400" cy="990600"/>
          </a:xfrm>
          <a:prstGeom prst="roundRect">
            <a:avLst>
              <a:gd name="adj" fmla="val 3846"/>
            </a:avLst>
          </a:prstGeom>
          <a:solidFill>
            <a:srgbClr val="F2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067175"/>
            <a:ext cx="1428750" cy="990600"/>
          </a:xfrm>
          <a:prstGeom prst="roundRect">
            <a:avLst>
              <a:gd name="adj" fmla="val 3846"/>
            </a:avLst>
          </a:prstGeom>
          <a:solidFill>
            <a:srgbClr val="6B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577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0" b="1" i="0">
                <a:solidFill>
                  <a:srgbClr val="FFFFFF"/>
                </a:solidFill>
                <a:latin typeface="Roboto"/>
              </a:rPr>
              <a:t>Dados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0478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81250" y="2124075"/>
            <a:ext cx="1238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10" b="0" i="0">
                <a:solidFill>
                  <a:srgbClr val="3A3A44"/>
                </a:solidFill>
                <a:latin typeface="Roboto"/>
              </a:rPr>
              <a:t>Recebe a resposta e confere o formato e o limite de tráfego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1146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3825" y="3190875"/>
            <a:ext cx="1238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10" b="0" i="0">
                <a:solidFill>
                  <a:srgbClr val="3A3A44"/>
                </a:solidFill>
                <a:latin typeface="Roboto"/>
              </a:rPr>
              <a:t>Aplica as regras da resposta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1150" y="31146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3190875"/>
            <a:ext cx="1238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10" b="0" i="0">
                <a:solidFill>
                  <a:srgbClr val="3A3A44"/>
                </a:solidFill>
                <a:latin typeface="Roboto"/>
              </a:rPr>
              <a:t>Calcula as vagas que a resposta pede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3725" y="41814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8975" y="4257675"/>
            <a:ext cx="1238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10" b="0" i="0">
                <a:solidFill>
                  <a:srgbClr val="3A3A44"/>
                </a:solidFill>
                <a:latin typeface="Roboto"/>
              </a:rPr>
              <a:t>Abre a transação e trava a linha do convite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96300" y="41814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B6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1550" y="4257675"/>
            <a:ext cx="1238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10" b="0" i="0">
                <a:solidFill>
                  <a:srgbClr val="3A3A44"/>
                </a:solidFill>
                <a:latin typeface="Roboto"/>
              </a:rPr>
              <a:t>Soma as vagas ocupadas, confere o teto e grava, ou devolve a recusa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48875" y="20478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10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4125" y="2124075"/>
            <a:ext cx="1238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10" b="0" i="0">
                <a:solidFill>
                  <a:srgbClr val="3A3A44"/>
                </a:solidFill>
                <a:latin typeface="Roboto"/>
              </a:rPr>
              <a:t>Responde com o link pessoal ou com o erro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14750" y="2428875"/>
            <a:ext cx="61912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76662" y="2428875"/>
            <a:ext cx="0" cy="10668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76662" y="3495675"/>
            <a:ext cx="61913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67325" y="3495675"/>
            <a:ext cx="123825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19900" y="3495675"/>
            <a:ext cx="61912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81812" y="3495675"/>
            <a:ext cx="0" cy="10668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81812" y="4562475"/>
            <a:ext cx="61913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72475" y="4562475"/>
            <a:ext cx="123825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25050" y="4562475"/>
            <a:ext cx="61912" cy="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986962" y="2428875"/>
            <a:ext cx="0" cy="2133600"/>
          </a:xfrm>
          <a:prstGeom prst="line">
            <a:avLst/>
          </a:prstGeom>
          <a:ln w="19050">
            <a:solidFill>
              <a:srgbClr val="6B6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986962" y="2428875"/>
            <a:ext cx="61913" cy="0"/>
          </a:xfrm>
          <a:prstGeom prst="line">
            <a:avLst/>
          </a:prstGeom>
          <a:ln w="19050">
            <a:solidFill>
              <a:srgbClr val="6B6B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85800" y="55620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6300" y="55429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Sim ocupa uma vaga mais os acompanhantes. Talvez e não ocupam zero. Não vou zera os acompanhantes e a observação. Alergia exige descrição.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Back-end · Gabriel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Testes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552555"/>
            <a:ext cx="3454400" cy="2133600"/>
          </a:xfrm>
          <a:prstGeom prst="roundRect">
            <a:avLst>
              <a:gd name="adj" fmla="val 3571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0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DOMÍNIO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6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52655"/>
            <a:ext cx="299720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Vagas pedidas por resposta, recusa do não vou, descrição da alergia, comparação por dia no fuso do projeto e publicação.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800" y="2552555"/>
            <a:ext cx="3454400" cy="2133600"/>
          </a:xfrm>
          <a:prstGeom prst="roundRect">
            <a:avLst>
              <a:gd name="adj" fmla="val 3571"/>
            </a:avLst>
          </a:prstGeom>
          <a:solidFill>
            <a:srgbClr val="F2F2F5"/>
          </a:solidFill>
          <a:ln w="19050">
            <a:solidFill>
              <a:srgbClr val="E94D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400" y="27430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400" y="29716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94D1C"/>
                </a:solidFill>
                <a:latin typeface="Roboto"/>
              </a:rPr>
              <a:t>Contra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00" y="3352655"/>
            <a:ext cx="299720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Gravação dentro do teto e concorrência: quatro respostas simultâneas pedindo duas vagas cada, num teto de cinco. Passam duas.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800" y="2552555"/>
            <a:ext cx="3454400" cy="2133600"/>
          </a:xfrm>
          <a:prstGeom prst="roundRect">
            <a:avLst>
              <a:gd name="adj" fmla="val 3571"/>
            </a:avLst>
          </a:prstGeom>
          <a:solidFill>
            <a:srgbClr val="F2F2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400" y="2743055"/>
            <a:ext cx="29972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40">
                <a:solidFill>
                  <a:srgbClr val="E94D1C"/>
                </a:solidFill>
                <a:latin typeface="Roboto"/>
              </a:rPr>
              <a:t>ROTAS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00" y="2971655"/>
            <a:ext cx="299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21049A"/>
                </a:solidFill>
                <a:latin typeface="Roboto"/>
              </a:rPr>
              <a:t>Ponta a ponta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00" y="3352655"/>
            <a:ext cx="299720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20" b="0" i="0">
                <a:solidFill>
                  <a:srgbClr val="3A3A44"/>
                </a:solidFill>
                <a:latin typeface="Roboto"/>
              </a:rPr>
              <a:t>O fluxo completo pelas rotas, e o mesmo 404 para link inválido, convite despublicado e convite de outro anfitrião.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Os testes rodam na integração contínua em todo PR, com um PostgreSQL de serviço.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Back-end · Gabriel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Roteiro da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4611"/>
            <a:ext cx="48577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PASSO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2144611"/>
            <a:ext cx="27622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HISTÓRIAS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2144611"/>
            <a:ext cx="29337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QUEM CONDUZ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3211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25611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Criar, personalizar e publicar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525611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H02 · H03 · H04 · H05 · H06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0" y="2525611"/>
            <a:ext cx="2762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Guilherme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87066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10891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Responder como convidado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010891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H07 · H08 · H10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0" y="3010891"/>
            <a:ext cx="2762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Gabriel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7234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96170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Tentar responder num convite lotado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49617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H07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0" y="3496170"/>
            <a:ext cx="2762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Gabriel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5762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81450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Alterar pelo link pessoal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98145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H09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0" y="3981450"/>
            <a:ext cx="2762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Gabriel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4290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66730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Painel e 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466730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H11 · H12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0" y="4466730"/>
            <a:ext cx="2762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Guilherme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828184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52009"/>
            <a:ext cx="4686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Despublicar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952009"/>
            <a:ext cx="259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H06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0" y="4952009"/>
            <a:ext cx="2762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Guilherme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313464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Demonstração · Guilherme e Gabriel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Organização do trabalho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850" y="2998851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889885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Sprints de duas semanas no Azure Boards. Cada história é quebrada em tarefas de tela e de API, com responsável.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850" y="3837813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550" y="3728847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Conversas pelo WhatsApp e no tempo de aula. As decisões ficam registradas na documentação do repositório.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850" y="4676775"/>
            <a:ext cx="57150" cy="571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1550" y="4567809"/>
            <a:ext cx="10134600" cy="95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1A1A1E"/>
                </a:solidFill>
                <a:latin typeface="Roboto"/>
              </a:rPr>
              <a:t>Integração por PR no GitHub. Um PR só entra na main com a integração contínua aprovada.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Organização · Andreas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Planejamento até 17/11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0231"/>
            <a:ext cx="66675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O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0" y="1730231"/>
            <a:ext cx="19050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QUEM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0" y="1730231"/>
            <a:ext cx="188595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19" b="1" i="0" spc="120">
                <a:solidFill>
                  <a:srgbClr val="21049A"/>
                </a:solidFill>
                <a:latin typeface="Roboto"/>
              </a:rPr>
              <a:t>ATÉ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58831"/>
            <a:ext cx="10820400" cy="19050"/>
          </a:xfrm>
          <a:prstGeom prst="rect">
            <a:avLst/>
          </a:prstGeom>
          <a:solidFill>
            <a:srgbClr val="210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11231"/>
            <a:ext cx="6496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Revisar os artefatos das Sprints 1 a 3 contra o código, ligando cada história ao caso de uso, à rota, à tela e ao teste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2111231"/>
            <a:ext cx="1733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0" y="2111231"/>
            <a:ext cx="171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10316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34141"/>
            <a:ext cx="6496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Diagrama de sequência da lista de presença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2834141"/>
            <a:ext cx="1733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0" y="2834141"/>
            <a:ext cx="171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195596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421"/>
            <a:ext cx="6496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Protótipo de baixa fidelidade com as telas reais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3319421"/>
            <a:ext cx="1733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0" y="3319421"/>
            <a:ext cx="171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68087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04700"/>
            <a:ext cx="6496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Aval do time às decisões novas da arquitetura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0" y="3804700"/>
            <a:ext cx="1733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0" y="3804700"/>
            <a:ext cx="171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16615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89980"/>
            <a:ext cx="6496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Fechar o Team Charter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4289980"/>
            <a:ext cx="1733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0250" y="4289980"/>
            <a:ext cx="171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651435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75260"/>
            <a:ext cx="6496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1049A"/>
                </a:solidFill>
                <a:latin typeface="Roboto"/>
              </a:rPr>
              <a:t>Deck e ensaio do Pitch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4775260"/>
            <a:ext cx="17335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0250" y="4775260"/>
            <a:ext cx="171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80" b="0" i="0">
                <a:solidFill>
                  <a:srgbClr val="1A1A1E"/>
                </a:solidFill>
                <a:latin typeface="Roboto"/>
              </a:rPr>
              <a:t>a definir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136714"/>
            <a:ext cx="10820400" cy="9525"/>
          </a:xfrm>
          <a:prstGeom prst="rect">
            <a:avLst/>
          </a:prstGeom>
          <a:solidFill>
            <a:srgbClr val="ED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5562021"/>
            <a:ext cx="28575" cy="457779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300" y="5542971"/>
            <a:ext cx="10629900" cy="591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Lições: definir os tipos compartilhados antes das telas, integrar front e back antes do fim da sprint, e manter as regras de negócio no Domínio desde a primeira versão.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Planejamento · Andreas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do-se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u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1638300"/>
            <a:ext cx="38100" cy="17145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16002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0" b="1" i="0" spc="160">
                <a:solidFill>
                  <a:srgbClr val="FFFFFF"/>
                </a:solidFill>
                <a:latin typeface="Roboto"/>
              </a:rPr>
              <a:t>TIME 04 · INVITE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66900"/>
            <a:ext cx="9715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95750"/>
            <a:ext cx="8572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Andreas Grings · problema, requisitos e planejamento</a:t>
            </a:r>
          </a:p>
          <a:p>
            <a:pPr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Tiago Passos · arquitetura, Docker e GitHub</a:t>
            </a:r>
          </a:p>
          <a:p>
            <a:pPr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Guilherme Toebe · front-end e Azure Boards</a:t>
            </a:r>
          </a:p>
          <a:p>
            <a:pPr>
              <a:lnSpc>
                <a:spcPct val="150000"/>
              </a:lnSpc>
            </a:pPr>
            <a:r>
              <a:rPr sz="1420" b="0" i="0">
                <a:solidFill>
                  <a:srgbClr val="E2DEF5"/>
                </a:solidFill>
                <a:latin typeface="Roboto"/>
              </a:rPr>
              <a:t>Gabriel Tomasi · back-end, regras e testes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Roboto"/>
              </a:rPr>
              <a:t>Perguntas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Telas do anfitrião</a:t>
            </a:r>
          </a:p>
        </p:txBody>
      </p:sp>
      <p:pic>
        <p:nvPicPr>
          <p:cNvPr id="4" name="Picture 3" descr="c01-ent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14368"/>
            <a:ext cx="5257800" cy="328612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5800" y="5195743"/>
            <a:ext cx="52578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Entrada e cadastro</a:t>
            </a:r>
          </a:p>
        </p:txBody>
      </p:sp>
      <p:pic>
        <p:nvPicPr>
          <p:cNvPr id="6" name="Picture 5" descr="c08-li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14368"/>
            <a:ext cx="5257800" cy="3286125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48400" y="5195743"/>
            <a:ext cx="52578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Lista de convites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Capturas da aplicação rodando localmente em 26/10/2026.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Apêndice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Telas do convidado</a:t>
            </a:r>
          </a:p>
        </p:txBody>
      </p:sp>
      <p:pic>
        <p:nvPicPr>
          <p:cNvPr id="4" name="Picture 3" descr="c03-conv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848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346848" y="5333710"/>
            <a:ext cx="164597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Convite</a:t>
            </a:r>
          </a:p>
        </p:txBody>
      </p:sp>
      <p:pic>
        <p:nvPicPr>
          <p:cNvPr id="6" name="Picture 5" descr="c04-respos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24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297624" y="5333710"/>
            <a:ext cx="164597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Resposta enviada</a:t>
            </a:r>
          </a:p>
        </p:txBody>
      </p:sp>
      <p:pic>
        <p:nvPicPr>
          <p:cNvPr id="8" name="Picture 7" descr="c05-lot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48400" y="5333710"/>
            <a:ext cx="164597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Convite lotado</a:t>
            </a:r>
          </a:p>
        </p:txBody>
      </p:sp>
      <p:pic>
        <p:nvPicPr>
          <p:cNvPr id="10" name="Picture 9" descr="c06-link-pesso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176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199176" y="5333710"/>
            <a:ext cx="164597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Link pessoal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Capturas da aplicação rodando localmente em 26/10/2026.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Apêndice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57200"/>
            <a:ext cx="342900" cy="34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9620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21049A"/>
                </a:solidFill>
                <a:latin typeface="Roboto"/>
              </a:rPr>
              <a:t>Painel e convite despublicado</a:t>
            </a:r>
          </a:p>
        </p:txBody>
      </p:sp>
      <p:pic>
        <p:nvPicPr>
          <p:cNvPr id="4" name="Picture 3" descr="c07-pai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964" y="1676400"/>
            <a:ext cx="5699297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270964" y="5333710"/>
            <a:ext cx="5699297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Painel de respostas</a:t>
            </a:r>
          </a:p>
        </p:txBody>
      </p:sp>
      <p:pic>
        <p:nvPicPr>
          <p:cNvPr id="6" name="Picture 5" descr="c09-nao-encontr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060" y="1676400"/>
            <a:ext cx="1645976" cy="356206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75060" y="5333710"/>
            <a:ext cx="164597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80" b="0" i="0">
                <a:solidFill>
                  <a:srgbClr val="6B6B78"/>
                </a:solidFill>
                <a:latin typeface="Roboto"/>
              </a:rPr>
              <a:t>Link do convite depois de despublicar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809960"/>
            <a:ext cx="28575" cy="209840"/>
          </a:xfrm>
          <a:prstGeom prst="rect">
            <a:avLst/>
          </a:prstGeom>
          <a:solidFill>
            <a:srgbClr val="E94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5790910"/>
            <a:ext cx="10629900" cy="343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 i="0">
                <a:solidFill>
                  <a:srgbClr val="3A3A44"/>
                </a:solidFill>
                <a:latin typeface="Roboto"/>
              </a:rPr>
              <a:t>Capturas da aplicação rodando localmente em 26/10/2026.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4600"/>
            <a:ext cx="66675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B78"/>
                </a:solidFill>
                <a:latin typeface="Roboto"/>
              </a:rPr>
              <a:t>Apêndice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324600"/>
            <a:ext cx="10287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21049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Props1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329F00-2A8C-46E7-9764-248AFFF1202A}">
  <ds:schemaRefs>
    <ds:schemaRef ds:uri="http://purl.org/dc/elements/1.1/"/>
    <ds:schemaRef ds:uri="http://schemas.openxmlformats.org/package/2006/metadata/core-properties"/>
    <ds:schemaRef ds:uri="http://purl.org/dc/terms/"/>
    <ds:schemaRef ds:uri="5fb5f026-dc7b-485f-82fe-577aafb4aba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970e0e6-68bd-454a-b013-2dc3f312d27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60</TotalTime>
  <Words>1142</Words>
  <Application>Microsoft Office PowerPoint</Application>
  <PresentationFormat>Widescreen</PresentationFormat>
  <Paragraphs>120</Paragraphs>
  <Slides>15</Slides>
  <Notes>2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unisinos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TÍTULO TÍTULO</vt:lpstr>
      <vt:lpstr>Apresentação do PowerPoint</vt:lpstr>
      <vt:lpstr>Apresentação do PowerPoint</vt:lpstr>
      <vt:lpstr>TÍTULO TÍTULO TÍTULO TÍTULO TÍTULO TÍTULO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Roberto Ferrari</cp:lastModifiedBy>
  <cp:revision>15</cp:revision>
  <dcterms:created xsi:type="dcterms:W3CDTF">2012-07-30T23:50:35Z</dcterms:created>
  <dcterms:modified xsi:type="dcterms:W3CDTF">2026-03-06T20:44:32Z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